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Empowering Equality: Addressing Gender Disparities in the Workplace</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Understanding the Gender Pay Gap: Causes and Impacts</a:t>
            </a:r>
          </a:p>
        </p:txBody>
      </p:sp>
      <p:sp>
        <p:nvSpPr>
          <p:cNvPr id="3" name="Content Placeholder 2"/>
          <p:cNvSpPr>
            <a:spLocks noGrp="1"/>
          </p:cNvSpPr>
          <p:nvPr>
            <p:ph idx="1"/>
          </p:nvPr>
        </p:nvSpPr>
        <p:spPr/>
        <p:txBody>
          <a:bodyPr/>
          <a:lstStyle/>
          <a:p>
            <a:pPr>
              <a:defRPr sz="1200"/>
            </a:pPr>
            <a:r>
              <a:t>- Studies have shown that the gender pay gap is more pronounced for women of color, with Black and Latina women experiencing even greater disparities in earnings compared to white women.</a:t>
            </a:r>
            <a:br/>
            <a:r>
              <a:t>- Research indicates that the gender pay gap widens as women progress in their careers, leading to significant differences in lifetime earnings between men and women.</a:t>
            </a:r>
            <a:br/>
            <a:r>
              <a:t>- Recent studies have highlighted the role of negotiation skills and confidence levels in contributing to the gender pay gap, with women often facing challenges in advocating for higher salaries compared to their male counterparts.</a:t>
            </a:r>
            <a:br/>
            <a:br/>
            <a:r>
              <a:t>Sources: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Global Gender Pay Gap Disparities: Country Comparison</a:t>
            </a:r>
          </a:p>
        </p:txBody>
      </p:sp>
      <p:sp>
        <p:nvSpPr>
          <p:cNvPr id="3" name="Content Placeholder 2"/>
          <p:cNvSpPr>
            <a:spLocks noGrp="1"/>
          </p:cNvSpPr>
          <p:nvPr>
            <p:ph idx="1"/>
          </p:nvPr>
        </p:nvSpPr>
        <p:spPr/>
        <p:txBody>
          <a:bodyPr/>
          <a:lstStyle/>
          <a:p>
            <a:pPr>
              <a:defRPr sz="1200"/>
            </a:pPr>
            <a:r>
              <a:t>- According to a report by the World Economic Forum, countries like Iceland, Norway, and Finland have significantly smaller gender pay gaps compared to countries like South Korea and Japan.</a:t>
            </a:r>
            <a:br/>
            <a:r>
              <a:t>- A study published in the Journal of Labor Economics found that government policies such as paid parental leave and affordable childcare can help reduce the gender pay gap in certain countries.</a:t>
            </a:r>
            <a:br/>
            <a:r>
              <a:t>- Research from the International Labour Organization suggests that cultural norms and societal expectations around gender roles play a significant role in perpetuating the gender pay gap across different countries.</a:t>
            </a:r>
            <a:br/>
            <a:r>
              <a:t>- The Global Gender Gap Report by the World Economic Forum highlights the correlation between gender pay disparities and women's representation in leadership positions within organizations.</a:t>
            </a:r>
            <a:br/>
            <a:br/>
            <a:r>
              <a:t>Sources: [49]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Gender Pay Gap on Women's Financial Well-being</a:t>
            </a:r>
          </a:p>
        </p:txBody>
      </p:sp>
      <p:sp>
        <p:nvSpPr>
          <p:cNvPr id="3" name="Content Placeholder 2"/>
          <p:cNvSpPr>
            <a:spLocks noGrp="1"/>
          </p:cNvSpPr>
          <p:nvPr>
            <p:ph idx="1"/>
          </p:nvPr>
        </p:nvSpPr>
        <p:spPr/>
        <p:txBody>
          <a:bodyPr/>
          <a:lstStyle/>
          <a:p>
            <a:pPr>
              <a:defRPr sz="1200"/>
            </a:pPr>
            <a:r>
              <a:t>- Research studies have shown that the gender pay gap not only affects women's current financial well-being but also has long-term implications on their retirement savings and overall economic security.</a:t>
            </a:r>
            <a:br/>
            <a:r>
              <a:t>- Women of color experience an even wider gender pay gap compared to white women, further exacerbating the financial challenges they face in the workplace.</a:t>
            </a:r>
            <a:br/>
            <a:r>
              <a:t>- The lack of transparency in salary negotiations and promotions contributes to the persistence of the gender pay gap, making it difficult for women to advocate for equal pay.</a:t>
            </a:r>
            <a:br/>
            <a:r>
              <a:t>- Intersectional factors such as age, disability, and sexual orientation can intersect with gender to create compounded barriers to women's financial well-being in the workplace.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Gender Discrimination: Unfair Treatment in the Workplace</a:t>
            </a:r>
          </a:p>
        </p:txBody>
      </p:sp>
      <p:sp>
        <p:nvSpPr>
          <p:cNvPr id="3" name="Content Placeholder 2"/>
          <p:cNvSpPr>
            <a:spLocks noGrp="1"/>
          </p:cNvSpPr>
          <p:nvPr>
            <p:ph idx="1"/>
          </p:nvPr>
        </p:nvSpPr>
        <p:spPr/>
        <p:txBody>
          <a:bodyPr/>
          <a:lstStyle/>
          <a:p>
            <a:pPr>
              <a:defRPr sz="1200"/>
            </a:pPr>
            <a:r>
              <a:t>- Gender discrimination in the workplace can lead to lower job satisfaction, decreased motivation, and mental health issues for individuals affected.</a:t>
            </a:r>
            <a:br/>
            <a:r>
              <a:t>- Organizations must address and eliminate gender discrimination to foster a more inclusive and equitable work environment.</a:t>
            </a:r>
            <a:br/>
            <a:r>
              <a:t>- Gender discrimination can manifest in various forms, such as unequal pay, lack of promotions, and missed opportunities, impacting both men and women in different aspects of their work experience.</a:t>
            </a:r>
            <a:br/>
            <a:r>
              <a:t>- Creating awareness and implementing policies to combat gender discrimination is crucial for promoting a fair and supportive workplace for all employees.</a:t>
            </a:r>
            <a:br/>
            <a:br/>
            <a:r>
              <a:t>Sources: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Challenges of Gender Stereotypes in Leadership</a:t>
            </a:r>
          </a:p>
        </p:txBody>
      </p:sp>
      <p:sp>
        <p:nvSpPr>
          <p:cNvPr id="3" name="Content Placeholder 2"/>
          <p:cNvSpPr>
            <a:spLocks noGrp="1"/>
          </p:cNvSpPr>
          <p:nvPr>
            <p:ph idx="1"/>
          </p:nvPr>
        </p:nvSpPr>
        <p:spPr/>
        <p:txBody>
          <a:bodyPr/>
          <a:lstStyle/>
          <a:p>
            <a:pPr>
              <a:defRPr sz="1200"/>
            </a:pPr>
            <a:r>
              <a:t>- Gender stereotypes in leadership perpetuate challenges for women in the workplace</a:t>
            </a:r>
            <a:br/>
            <a:r>
              <a:t>- Examples include beliefs that women are more emotional and less capable of leadership roles, while men are seen as more assertive and better suited for technical positions</a:t>
            </a:r>
            <a:br/>
            <a:r>
              <a:t>- These stereotypes impact hiring decisions, promotion opportunities, and overall work environment</a:t>
            </a:r>
            <a:br/>
            <a:r>
              <a:t>- Gender biases can lead to discrimination, unequal pay, and limited career advancement opportunities for women</a:t>
            </a:r>
            <a:br/>
            <a:r>
              <a:t>- Breaking the glass ceiling refers to overcoming the invisible barriers that prevent women from advancing in their careers to higher levels of leadership and decision-making positions.</a:t>
            </a:r>
            <a:br/>
            <a:br/>
            <a:r>
              <a:t>Sources: [51]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Breaking the Glass Ceiling: Advancement Strategies</a:t>
            </a:r>
          </a:p>
        </p:txBody>
      </p:sp>
      <p:sp>
        <p:nvSpPr>
          <p:cNvPr id="3" name="Content Placeholder 2"/>
          <p:cNvSpPr>
            <a:spLocks noGrp="1"/>
          </p:cNvSpPr>
          <p:nvPr>
            <p:ph idx="1"/>
          </p:nvPr>
        </p:nvSpPr>
        <p:spPr/>
        <p:txBody>
          <a:bodyPr/>
          <a:lstStyle/>
          <a:p>
            <a:pPr>
              <a:defRPr sz="1200"/>
            </a:pPr>
            <a:r>
              <a:t>- Overcoming the glass ceiling requires proactive efforts to seek mentorship from successful leaders in the industry</a:t>
            </a:r>
            <a:br/>
            <a:r>
              <a:t>- Building a professional network is essential for breaking the glass ceiling and accessing new opportunities for career advancement</a:t>
            </a:r>
            <a:br/>
            <a:r>
              <a:t>- Advocating for oneself by highlighting achievements, skills, and contributions can help challenge stereotypes and bias in the workplace</a:t>
            </a:r>
            <a:br/>
            <a:r>
              <a:t>- Pursuing leadership opportunities, such as taking on challenging projects or seeking promotions, is crucial for shattering the glass ceiling and achieving career growth.</a:t>
            </a:r>
            <a:br/>
            <a:br/>
            <a:r>
              <a:t>Sources: [52]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Breaking the Glass Ceiling: Advancement Strategies</a:t>
            </a:r>
          </a:p>
        </p:txBody>
      </p:sp>
      <p:sp>
        <p:nvSpPr>
          <p:cNvPr id="3" name="Content Placeholder 2"/>
          <p:cNvSpPr>
            <a:spLocks noGrp="1"/>
          </p:cNvSpPr>
          <p:nvPr>
            <p:ph idx="1"/>
          </p:nvPr>
        </p:nvSpPr>
        <p:spPr/>
        <p:txBody>
          <a:bodyPr/>
          <a:lstStyle/>
          <a:p>
            <a:pPr>
              <a:defRPr sz="2400"/>
            </a:pPr>
            <a:r>
              <a:t>- Implementing transparent promotion processes and performance evaluations to ensure equal opportunities for all employees</a:t>
            </a:r>
            <a:br/>
            <a:r>
              <a:t>- Providing training and development programs specifically designed to support underrepresented groups in advancing their careers</a:t>
            </a:r>
            <a:br/>
            <a:br/>
            <a:r>
              <a:t>Sources: [53]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Preventing Sexual Harassment: Creating a Safe Workplace</a:t>
            </a:r>
          </a:p>
        </p:txBody>
      </p:sp>
      <p:sp>
        <p:nvSpPr>
          <p:cNvPr id="3" name="Content Placeholder 2"/>
          <p:cNvSpPr>
            <a:spLocks noGrp="1"/>
          </p:cNvSpPr>
          <p:nvPr>
            <p:ph idx="1"/>
          </p:nvPr>
        </p:nvSpPr>
        <p:spPr/>
        <p:txBody>
          <a:bodyPr/>
          <a:lstStyle/>
          <a:p>
            <a:pPr>
              <a:defRPr sz="1200"/>
            </a:pPr>
            <a:r>
              <a:t>- Providing bystander intervention training to empower employees to intervene in situations of sexual harassment</a:t>
            </a:r>
            <a:br/>
            <a:r>
              <a:t>- Implementing regular refresher courses on sexual harassment prevention to ensure ongoing education and awareness</a:t>
            </a:r>
            <a:br/>
            <a:r>
              <a:t>- Establishing a confidential reporting system to encourage employees to come forward with complaints</a:t>
            </a:r>
            <a:br/>
            <a:r>
              <a:t>- Offering resources and support for employees who have experienced sexual harassment in the workplace</a:t>
            </a:r>
            <a:br/>
            <a:br/>
            <a:r>
              <a:t>Sources: [54]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[48] Gender Pay Gap: What It Is and How It Affects Women in the Workplace - https://www.payscale.com/data/gender-pay-gap</a:t>
            </a:r>
            <a:br/>
            <a:r>
              <a:t>[49] Gender Pay Gap Statistics by Country - https://www.weforum.org/agenda/2021/03/gender-pay-gap-countries-companies-women/</a:t>
            </a:r>
            <a:br/>
            <a:r>
              <a:t>[50] Gender Discrimination in the Workplace: Examples and Consequences - https://www.forbes.com/sites/forbeshumanresourcescouncil/2020/03/09/how-gender-discrimination-hurts-employees-and-companies-alike/?sh=7c5f6a5c6a4a</a:t>
            </a:r>
            <a:br/>
            <a:r>
              <a:t>[51] Breaking the Glass Ceiling: Strategies for Women in the Workplace - https://www.forbes.com/sites/forbescommunicationscouncil/2020/03/06/breaking-the-glass-ceiling-strategies-for-women-in-the-workplace/?sh=1b9f2d4c6e9d</a:t>
            </a:r>
            <a:br/>
            <a:r>
              <a:t>[52] Understanding the Glass Ceiling Phenomenon in the Workplace - https://www.forbes.com/sites/forbescoachescouncil/2019/04/26/what-is-the-glass-ceiling-and-how-can-we-break-through-it/#306c0c0173a3</a:t>
            </a:r>
            <a:br/>
            <a:r>
              <a:t>[53] Equal Opportunities for Career Advancement in the Workplace - https://www.forbes.com/sites/forbeshumanresourcescouncil/2019/03/08/how-to-create-equal-opportunities-for-career-advancement-in-your-organization/</a:t>
            </a:r>
            <a:br/>
            <a:r>
              <a:t>[54] Best Practices for Implementing Gender Diversity Initiatives in the Workplace - https://www.forbes.com/sites/forbeshumanresourcescouncil/2021/03/18/best-practices-for-implementing-gender-diversity-initiatives-in-the-workplace/?sh=4b03d9ca6db3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