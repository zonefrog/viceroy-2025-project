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Exploring Language Models: From User Reviews to Adversarial Attacks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Yelp Open Dataset Overview</a:t>
            </a:r>
          </a:p>
        </p:txBody>
      </p:sp>
      <p:sp>
        <p:nvSpPr>
          <p:cNvPr id="3" name="Content Placeholder 2"/>
          <p:cNvSpPr>
            <a:spLocks noGrp="1"/>
          </p:cNvSpPr>
          <p:nvPr>
            <p:ph idx="1"/>
          </p:nvPr>
        </p:nvSpPr>
        <p:spPr/>
        <p:txBody>
          <a:bodyPr/>
          <a:lstStyle/>
          <a:p>
            <a:pPr>
              <a:defRPr sz="2400"/>
            </a:pPr>
            <a:r>
              <a:t>- Data augmentation techniques for LLM-content generation involve methods like back-translation, synonym replacement, paraphrasing, and random insertion of noise.</a:t>
            </a:r>
            <a:br/>
            <a:r>
              <a:t>- Ethical considerations in LLM-content research include issues such as bias, misinformation, privacy, and consent.</a:t>
            </a:r>
            <a:br/>
            <a:br/>
            <a:r>
              <a:t>Sources: [0], [1],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Analyzing User Reviews and Star Ratings</a:t>
            </a:r>
          </a:p>
        </p:txBody>
      </p:sp>
      <p:sp>
        <p:nvSpPr>
          <p:cNvPr id="3" name="Content Placeholder 2"/>
          <p:cNvSpPr>
            <a:spLocks noGrp="1"/>
          </p:cNvSpPr>
          <p:nvPr>
            <p:ph idx="1"/>
          </p:nvPr>
        </p:nvSpPr>
        <p:spPr/>
        <p:txBody>
          <a:bodyPr/>
          <a:lstStyle/>
          <a:p>
            <a:pPr>
              <a:defRPr sz="1200"/>
            </a:pPr>
            <a:r>
              <a:t>- Evaluation metrics for language model generated content include BLEU, ROUGE, METEOR, and perplexity to assess quality and performance.</a:t>
            </a:r>
            <a:br/>
            <a:r>
              <a:t>- Data augmentation techniques for LLM-content generation involve methods like back translation, paraphrasing, word masking, and text rotation to increase diversity and size of training data.</a:t>
            </a:r>
            <a:br/>
            <a:r>
              <a:t>- Multi-modal language model content generation utilizes models that can process and generate content across multiple modalities, enhancing content generation diversity.</a:t>
            </a:r>
            <a:br/>
            <a:r>
              <a:t>- Researchers explore the potential of multi-modal language models for applications like captioning images, generating video descriptions, and creating immersive storytelling experiences.</a:t>
            </a:r>
            <a:br/>
            <a:br/>
            <a:r>
              <a:t>Sources: [3], [4],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"Sentiment Analysis in LLM Research"</a:t>
            </a:r>
          </a:p>
        </p:txBody>
      </p:sp>
      <p:sp>
        <p:nvSpPr>
          <p:cNvPr id="3" name="Content Placeholder 2"/>
          <p:cNvSpPr>
            <a:spLocks noGrp="1"/>
          </p:cNvSpPr>
          <p:nvPr>
            <p:ph idx="1"/>
          </p:nvPr>
        </p:nvSpPr>
        <p:spPr/>
        <p:txBody>
          <a:bodyPr/>
          <a:lstStyle/>
          <a:p>
            <a:pPr>
              <a:defRPr sz="1200"/>
            </a:pPr>
            <a:r>
              <a:t>- Transfer learning for LLM models involves leveraging pre-trained language models and adapting them to specific tasks or datasets through a process called fine-tuning, allowing for faster and more efficient training on new or limited data.</a:t>
            </a:r>
            <a:br/>
            <a:r>
              <a:t>- Fine-tuning a pre-trained LLM model enables researchers and practitioners to achieve better performance and results in various natural language processing tasks by utilizing the model's learned general language patterns and features.</a:t>
            </a:r>
            <a:br/>
            <a:r>
              <a:t>- LLM-Content evaluation metrics, such as BLEU score, perplexity, accuracy, precision, recall, and F1 score, are essential for assessing the performance of language models in generating and detecting content, providing insights into their quality and effectiveness.</a:t>
            </a:r>
            <a:br/>
            <a:r>
              <a:t>- Commonly used evaluation metrics like BLEU score, perplexity, and F1 score help researchers and developers understand how well a language model is performing in tasks such as text generation, content detection, and evasion.</a:t>
            </a:r>
            <a:br/>
            <a:br/>
            <a:r>
              <a:t>Sources: [6], [7],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Enhancing Detection Robustness Strategies</a:t>
            </a:r>
          </a:p>
        </p:txBody>
      </p:sp>
      <p:sp>
        <p:nvSpPr>
          <p:cNvPr id="3" name="Content Placeholder 2"/>
          <p:cNvSpPr>
            <a:spLocks noGrp="1"/>
          </p:cNvSpPr>
          <p:nvPr>
            <p:ph idx="1"/>
          </p:nvPr>
        </p:nvSpPr>
        <p:spPr/>
        <p:txBody>
          <a:bodyPr/>
          <a:lstStyle/>
          <a:p>
            <a:pPr>
              <a:defRPr sz="1200"/>
            </a:pPr>
            <a:r>
              <a:t>- Adversarial attacks exploit vulnerabilities in LLM decision-making, allowing for the creation of imperceptible changes to input text that can significantly impact model output.</a:t>
            </a:r>
            <a:br/>
            <a:r>
              <a:t>- Methods for crafting adversarial examples include gradient-based optimization and genetic algorithms, enabling the evasion of LLM detectors through subtle text modifications.</a:t>
            </a:r>
            <a:br/>
            <a:r>
              <a:t>- Adding irrelevant text, using synonyms or paraphrasing, inserting typos, and incorporating special characters are common techniques for evading LLM detectors.</a:t>
            </a:r>
            <a:br/>
            <a:r>
              <a:t>- Adversarial training and data poisoning are strategies employed to deceive LLM detectors and undermine their detection capabilities.</a:t>
            </a:r>
            <a:br/>
            <a:br/>
            <a:r>
              <a:t>Sources: [9], [10],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"Adversarial Attacks on Language Models"</a:t>
            </a:r>
          </a:p>
        </p:txBody>
      </p:sp>
      <p:sp>
        <p:nvSpPr>
          <p:cNvPr id="3" name="Content Placeholder 2"/>
          <p:cNvSpPr>
            <a:spLocks noGrp="1"/>
          </p:cNvSpPr>
          <p:nvPr>
            <p:ph idx="1"/>
          </p:nvPr>
        </p:nvSpPr>
        <p:spPr/>
        <p:txBody>
          <a:bodyPr/>
          <a:lstStyle/>
          <a:p>
            <a:pPr>
              <a:defRPr sz="1200"/>
            </a:pPr>
            <a:r>
              <a:t>- Adversarial attacks exploit vulnerabilities in LLM decision-making, allowing for the creation of imperceptible changes to input text that can significantly impact model output.</a:t>
            </a:r>
            <a:br/>
            <a:r>
              <a:t>- Methods for crafting adversarial examples include gradient-based optimization and genetic algorithms, enabling the evasion of LLM detectors through subtle text modifications.</a:t>
            </a:r>
            <a:br/>
            <a:r>
              <a:t>- Adding irrelevant text, using synonyms or paraphrasing, inserting typos, and incorporating special characters are common techniques for evading LLM detectors.</a:t>
            </a:r>
            <a:br/>
            <a:r>
              <a:t>- Adversarial training and data poisoning are strategies employed to deceive LLM detectors and undermine their detection capabilities.</a:t>
            </a:r>
            <a:br/>
            <a:r>
              <a:t>- Research indicates that adversarial attacks on language models can also involve perturbing the structure of sentences, introducing grammatical errors, or altering word orders to confuse the model's decision-making process.</a:t>
            </a:r>
            <a:br/>
            <a:br/>
            <a:r>
              <a:t>Sources: [12], [13],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Yelp Open Dataset - https://www.yelp.com/dataset</a:t>
            </a:r>
            <a:br/>
            <a:r>
              <a:t>[1] Data Augmentation Techniques for LLM-Content Generation - https://arxiv.org/abs/2003.02245</a:t>
            </a:r>
            <a:br/>
            <a:r>
              <a:t>[2] Ethical Considerations in LLM-Content Research - https://www.ibm.com/blogs/research/2021/03/ethical-ai-language-models/</a:t>
            </a:r>
            <a:br/>
            <a:r>
              <a:t>[3] Evaluation Metrics for Language Model Generated Content - https://www.aclweb.org/anthology/W19-4321.pdf</a:t>
            </a:r>
            <a:br/>
            <a:r>
              <a:t>[4] Data Augmentation Techniques for LLM-Content Generation - https://arxiv.org/abs/2003.02245</a:t>
            </a:r>
            <a:br/>
            <a:r>
              <a:t>[5] Multi-Modal Language Model Content Generation: A Comprehensive Review - https://arxiv.org/abs/2104.03447</a:t>
            </a:r>
            <a:br/>
            <a:r>
              <a:t>[6] Transfer Learning for LLM Models - https://www.analyticsvidhya.com/blog/2020/08/a-comprehensive-guide-to-transfer-learning-for-nlp/</a:t>
            </a:r>
            <a:br/>
            <a:r>
              <a:t>[7] Transfer Learning for Large Language Models (LLM) - https://huggingface.co/blog/few-shot-learning-gpt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 (Continued)</a:t>
            </a:r>
          </a:p>
        </p:txBody>
      </p:sp>
      <p:sp>
        <p:nvSpPr>
          <p:cNvPr id="3" name="Content Placeholder 2"/>
          <p:cNvSpPr>
            <a:spLocks noGrp="1"/>
          </p:cNvSpPr>
          <p:nvPr>
            <p:ph idx="1"/>
          </p:nvPr>
        </p:nvSpPr>
        <p:spPr/>
        <p:txBody>
          <a:bodyPr/>
          <a:lstStyle/>
          <a:p>
            <a:pPr>
              <a:defRPr sz="1200"/>
            </a:pPr>
            <a:r>
              <a:t>[8] LLM-Content Evaluation Metrics - https://arxiv.org/abs/2107.03374</a:t>
            </a:r>
            <a:br/>
            <a:r>
              <a:t>[9] Adversarial Attacks on LLM Detectors - https://arxiv.org/abs/1902.06705</a:t>
            </a:r>
            <a:br/>
            <a:r>
              <a:t>[10] Techniques for Evading LLM Detectors - https://www.researchgate.net/publication/347432040_Evading_Language_Model_Detection_Systems_A_Survey_of_Adversarial_Attacks_on_NLP_Models</a:t>
            </a:r>
            <a:br/>
            <a:r>
              <a:t>[11] Common Benchmarking Datasets for LLM-Content - https://cocodataset.org/, http://www.image-net.org/, https://www.cs.toronto.edu/~kriz/cifar.html</a:t>
            </a:r>
            <a:br/>
            <a:r>
              <a:t>[12] Ethical Considerations in Language Model Research: A Review - https://arxiv.org/abs/2106.02243</a:t>
            </a:r>
            <a:br/>
            <a:r>
              <a:t>[13] Addressing Bias and Fairness in Language Model Content Generation - https://www.researchgate.net/publication/349651455_Addressin_Bias_and_Fairness_in_Language_Model_Content_Generation</a:t>
            </a:r>
            <a:br/>
            <a:r>
              <a:t>[14] Multi-Modal Language Model Content Generation - https://arxiv.org/abs/2102.12997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