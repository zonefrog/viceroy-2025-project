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Enhancing LLM Performance and Protection: Benchmarking Datasets, Detection Techniques, and Watermarking Strategies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"Introduction to Benchmarking Datasets"</a:t>
            </a:r>
          </a:p>
        </p:txBody>
      </p:sp>
      <p:sp>
        <p:nvSpPr>
          <p:cNvPr id="3" name="Content Placeholder 2"/>
          <p:cNvSpPr>
            <a:spLocks noGrp="1"/>
          </p:cNvSpPr>
          <p:nvPr>
            <p:ph idx="1"/>
          </p:nvPr>
        </p:nvSpPr>
        <p:spPr/>
        <p:txBody>
          <a:bodyPr/>
          <a:lstStyle/>
          <a:p>
            <a:pPr>
              <a:defRPr sz="2400"/>
            </a:pPr>
            <a:r>
              <a:t>- The Open Images Dataset contains over 9 million images annotated with labels from a diverse range of categories, providing a rich source of data for evaluating LLM performance.</a:t>
            </a:r>
            <a:br/>
            <a:r>
              <a:t>- Tasks such as image segmentation and visual relationship detection can also be performed using the annotations available in the Open Images Dataset, expanding its utility beyond traditional image recognition tasks.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Overview of COCO Dataset</a:t>
            </a:r>
          </a:p>
        </p:txBody>
      </p:sp>
      <p:sp>
        <p:nvSpPr>
          <p:cNvPr id="3" name="Content Placeholder 2"/>
          <p:cNvSpPr>
            <a:spLocks noGrp="1"/>
          </p:cNvSpPr>
          <p:nvPr>
            <p:ph idx="1"/>
          </p:nvPr>
        </p:nvSpPr>
        <p:spPr/>
        <p:txBody>
          <a:bodyPr/>
          <a:lstStyle/>
          <a:p>
            <a:pPr>
              <a:defRPr sz="1200"/>
            </a:pPr>
            <a:r>
              <a:t>- The Visual Genome dataset includes annotations for object recognition and relationship detection tasks, providing a comprehensive understanding of scenes in images.</a:t>
            </a:r>
            <a:br/>
            <a:r>
              <a:t>- It offers a diverse range of images that can be used to evaluate the performance of Large Language Models in tasks related to scene understanding.</a:t>
            </a:r>
            <a:br/>
            <a:r>
              <a:t>- The dataset's detailed annotations enable the assessment of visual reasoning capabilities of models beyond traditional image recognition tasks.</a:t>
            </a:r>
            <a:br/>
            <a:r>
              <a:t>- The Visual Genome dataset serves as a valuable resource for benchmarking LLM-content generation and detection algorithms, contributing to advancements in the field of computer vision and natural language processing.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Importance of Benchmarking Datasets</a:t>
            </a:r>
          </a:p>
        </p:txBody>
      </p:sp>
      <p:sp>
        <p:nvSpPr>
          <p:cNvPr id="3" name="Content Placeholder 2"/>
          <p:cNvSpPr>
            <a:spLocks noGrp="1"/>
          </p:cNvSpPr>
          <p:nvPr>
            <p:ph idx="1"/>
          </p:nvPr>
        </p:nvSpPr>
        <p:spPr/>
        <p:txBody>
          <a:bodyPr/>
          <a:lstStyle/>
          <a:p>
            <a:pPr>
              <a:defRPr sz="1200"/>
            </a:pPr>
            <a:r>
              <a:t>- The Microsoft Common Objects in Context (MS COCO) dataset is a widely used benchmarking dataset for LLM-content evaluation, containing over 328,000 images and 2.5 million labeled instances across 91 object categories.</a:t>
            </a:r>
            <a:br/>
            <a:r>
              <a:t>- MS COCO dataset includes images with associated captions and annotations that are crucial for tasks like image captioning, object detection, and scene recognition.</a:t>
            </a:r>
            <a:br/>
            <a:r>
              <a:t>- This dataset serves as a standardized example for testing LLM capabilities and plays a vital role in evaluating performance in various applications.</a:t>
            </a:r>
            <a:br/>
            <a:r>
              <a:t>- MS COCO dataset is instrumental in assessing the effectiveness of LLM models in tasks related to image understanding and natural language processing.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Open Images Dataset Overview</a:t>
            </a:r>
          </a:p>
        </p:txBody>
      </p:sp>
      <p:sp>
        <p:nvSpPr>
          <p:cNvPr id="3" name="Content Placeholder 2"/>
          <p:cNvSpPr>
            <a:spLocks noGrp="1"/>
          </p:cNvSpPr>
          <p:nvPr>
            <p:ph idx="1"/>
          </p:nvPr>
        </p:nvSpPr>
        <p:spPr/>
        <p:txBody>
          <a:bodyPr/>
          <a:lstStyle/>
          <a:p>
            <a:pPr>
              <a:defRPr sz="1200"/>
            </a:pPr>
            <a:r>
              <a:t>- The PASCAL Visual Object Classes (VOC) dataset is a widely used benchmarking dataset in computer vision, featuring annotated images with object class labels for tasks like object detection and image classification.</a:t>
            </a:r>
            <a:br/>
            <a:r>
              <a:t>- The VOC dataset offers a diverse range of object categories and has been extensively utilized in research to evaluate algorithm and model performance in various applications.</a:t>
            </a:r>
            <a:br/>
            <a:r>
              <a:t>- This dataset serves as a valuable resource for benchmarking LLM capabilities, providing a standardized benchmark for assessing performance in tasks related to visual understanding.</a:t>
            </a:r>
            <a:br/>
            <a:r>
              <a:t>- Researchers often rely on the VOC dataset to benchmark and compare LLM models in tasks involving image analysis and classification.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Dataset Size on LLM Performance</a:t>
            </a:r>
          </a:p>
        </p:txBody>
      </p:sp>
      <p:sp>
        <p:nvSpPr>
          <p:cNvPr id="3" name="Content Placeholder 2"/>
          <p:cNvSpPr>
            <a:spLocks noGrp="1"/>
          </p:cNvSpPr>
          <p:nvPr>
            <p:ph idx="1"/>
          </p:nvPr>
        </p:nvSpPr>
        <p:spPr/>
        <p:txBody>
          <a:bodyPr/>
          <a:lstStyle/>
          <a:p>
            <a:pPr>
              <a:defRPr sz="2400"/>
            </a:pPr>
            <a:r>
              <a:t>- Larger datasets provide a wider range of language patterns and nuances for LLM training, enhancing language generation and understanding capabilities.</a:t>
            </a:r>
            <a:br/>
            <a:r>
              <a:t>- However, training on extremely large datasets can pose challenges such as increased computational resources and longer training times.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Benchmarking Datasets for LLM Models"</a:t>
            </a:r>
          </a:p>
        </p:txBody>
      </p:sp>
      <p:sp>
        <p:nvSpPr>
          <p:cNvPr id="3" name="Content Placeholder 2"/>
          <p:cNvSpPr>
            <a:spLocks noGrp="1"/>
          </p:cNvSpPr>
          <p:nvPr>
            <p:ph idx="1"/>
          </p:nvPr>
        </p:nvSpPr>
        <p:spPr/>
        <p:txBody>
          <a:bodyPr/>
          <a:lstStyle/>
          <a:p>
            <a:pPr>
              <a:defRPr sz="1200"/>
            </a:pPr>
            <a:r>
              <a:t>- Benchmarking datasets play a crucial role in evaluating the performance of Large Language Models (LLMs) by providing standardized tasks and metrics for comparison.</a:t>
            </a:r>
            <a:br/>
            <a:r>
              <a:t>- The COCO dataset, ImageNet dataset, and Open Images Dataset are commonly used benchmarking datasets that offer diverse and annotated data for training and evaluating LLMs.</a:t>
            </a:r>
            <a:br/>
            <a:r>
              <a:t>- Researchers often leverage benchmarking datasets like COCO and ImageNet to benchmark the capabilities of LLMs in tasks such as image captioning, object detection, and language generation.</a:t>
            </a:r>
            <a:br/>
            <a:r>
              <a:t>- Understanding the characteristics and nuances of different benchmarking datasets is essential for selecting the most suitable dataset for training and evaluating LLM models.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COCO Annotations: Enhancing LLM Performance</a:t>
            </a:r>
          </a:p>
        </p:txBody>
      </p:sp>
      <p:sp>
        <p:nvSpPr>
          <p:cNvPr id="3" name="Content Placeholder 2"/>
          <p:cNvSpPr>
            <a:spLocks noGrp="1"/>
          </p:cNvSpPr>
          <p:nvPr>
            <p:ph idx="1"/>
          </p:nvPr>
        </p:nvSpPr>
        <p:spPr/>
        <p:txBody>
          <a:bodyPr/>
          <a:lstStyle/>
          <a:p>
            <a:pPr>
              <a:defRPr sz="1200"/>
            </a:pPr>
            <a:r>
              <a:t>- The CLEVR dataset is commonly used to evaluate LLM performance in tasks requiring visual reasoning</a:t>
            </a:r>
            <a:br/>
            <a:r>
              <a:t>- Synthetic images and questions in the CLEVR dataset assess the model's ability in understanding object relationships and attributes</a:t>
            </a:r>
            <a:br/>
            <a:r>
              <a:t>- Evaluating LLMs on the CLEVR dataset helps in assessing complex reasoning tasks involving language understanding and visual comprehension</a:t>
            </a:r>
            <a:br/>
            <a:r>
              <a:t>- The CLEVR dataset provides a standardized platform for researchers to benchmark LLM capabilities in tasks beyond traditional language processing 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"Importance of VOC Dataset in LLM Evaluation"</a:t>
            </a:r>
          </a:p>
        </p:txBody>
      </p:sp>
      <p:sp>
        <p:nvSpPr>
          <p:cNvPr id="3" name="Content Placeholder 2"/>
          <p:cNvSpPr>
            <a:spLocks noGrp="1"/>
          </p:cNvSpPr>
          <p:nvPr>
            <p:ph idx="1"/>
          </p:nvPr>
        </p:nvSpPr>
        <p:spPr/>
        <p:txBody>
          <a:bodyPr/>
          <a:lstStyle/>
          <a:p>
            <a:pPr>
              <a:defRPr sz="1200"/>
            </a:pPr>
            <a:r>
              <a:t>- The PASCAL Visual Object Classes (VOC) dataset is widely utilized in computer vision for object detection and image classification tasks</a:t>
            </a:r>
            <a:br/>
            <a:r>
              <a:t>- Annotated images within the VOC dataset are labeled with object class information, facilitating algorithm and model evaluation</a:t>
            </a:r>
            <a:br/>
            <a:r>
              <a:t>- The VOC dataset serves as a valuable resource for assessing the performance of LLM-content generation and detection algorithms</a:t>
            </a:r>
            <a:br/>
            <a:r>
              <a:t>- Researchers can access the PASCAL VOC dataset at http://host.robots.ox.ac.uk/pascal/VOC/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Visual Genome Dataset for Scene Understanding"</a:t>
            </a:r>
          </a:p>
        </p:txBody>
      </p:sp>
      <p:sp>
        <p:nvSpPr>
          <p:cNvPr id="3" name="Content Placeholder 2"/>
          <p:cNvSpPr>
            <a:spLocks noGrp="1"/>
          </p:cNvSpPr>
          <p:nvPr>
            <p:ph idx="1"/>
          </p:nvPr>
        </p:nvSpPr>
        <p:spPr/>
        <p:txBody>
          <a:bodyPr/>
          <a:lstStyle/>
          <a:p>
            <a:pPr>
              <a:defRPr sz="1200"/>
            </a:pPr>
            <a:r>
              <a:t>- The Visual Genome dataset offers detailed scene understanding through object recognition and relationship detection, encompassing over 100,000 images with annotations crucial for benchmarking LLM-content generation and detection algorithms</a:t>
            </a:r>
            <a:br/>
            <a:r>
              <a:t>- Researchers can leverage the Visual Genome dataset to enhance the evaluation of LLM performance in scene understanding tasks</a:t>
            </a:r>
            <a:br/>
            <a:r>
              <a:t>- The dataset's annotations provide valuable insights into object relationships and attributes, enriching the training and testing of LLM models for scene analysis</a:t>
            </a:r>
            <a:br/>
            <a:r>
              <a:t>- Access to the Visual Genome dataset can be obtained through the official website at https://visualgenome.org/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"Role of Benchmarking Datasets in LLM Evaluation"</a:t>
            </a:r>
          </a:p>
        </p:txBody>
      </p:sp>
      <p:sp>
        <p:nvSpPr>
          <p:cNvPr id="3" name="Content Placeholder 2"/>
          <p:cNvSpPr>
            <a:spLocks noGrp="1"/>
          </p:cNvSpPr>
          <p:nvPr>
            <p:ph idx="1"/>
          </p:nvPr>
        </p:nvSpPr>
        <p:spPr/>
        <p:txBody>
          <a:bodyPr/>
          <a:lstStyle/>
          <a:p>
            <a:pPr>
              <a:defRPr sz="1200"/>
            </a:pPr>
            <a:r>
              <a:t>- The MS COCO Dataset is widely recognized as a benchmarking dataset for evaluating Large Language Models (LLMs) in various tasks such as image captioning, object detection, and scene recognition.</a:t>
            </a:r>
            <a:br/>
            <a:r>
              <a:t>- With over 328,000 images and 2.5 million labeled instances spanning 91 object categories, the MS COCO Dataset provides a diverse and extensive collection of data for LLM evaluation.</a:t>
            </a:r>
            <a:br/>
            <a:r>
              <a:t>- The annotations within the MS COCO Dataset offer valuable insights into the relationships between objects and attributes, enhancing the training and testing of LLM models for tasks related to scene analysis.</a:t>
            </a:r>
            <a:br/>
            <a:r>
              <a:t>- Researchers and practitioners can access the MS COCO Dataset through the official website at http://cocodataset.org/.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ImageNet Categories: Enhancing LLM Performance</a:t>
            </a:r>
          </a:p>
        </p:txBody>
      </p:sp>
      <p:sp>
        <p:nvSpPr>
          <p:cNvPr id="3" name="Content Placeholder 2"/>
          <p:cNvSpPr>
            <a:spLocks noGrp="1"/>
          </p:cNvSpPr>
          <p:nvPr>
            <p:ph idx="1"/>
          </p:nvPr>
        </p:nvSpPr>
        <p:spPr/>
        <p:txBody>
          <a:bodyPr/>
          <a:lstStyle/>
          <a:p>
            <a:pPr>
              <a:defRPr sz="1200"/>
            </a:pPr>
            <a:r>
              <a:t>- Evaluating Large Language Models (LLMs) involves using metrics like perplexity, BLEU score, ROUGE score, and F1 score to assess their content generation performance.</a:t>
            </a:r>
            <a:br/>
            <a:r>
              <a:t>- Perplexity measures the predictive capability of a language model, with lower values indicating better performance in generating text.</a:t>
            </a:r>
            <a:br/>
            <a:r>
              <a:t>- BLEU and ROUGE scores compare the quality of generated text to reference texts, providing insights into the accuracy and fluency of LLM-generated content.</a:t>
            </a:r>
            <a:br/>
            <a:r>
              <a:t>- F1 score evaluates the precision and recall of a model in generating content, offering a comprehensive view of its performance in language tasks.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Benchmarking Datasets for LLM Evaluation</a:t>
            </a:r>
          </a:p>
        </p:txBody>
      </p:sp>
      <p:sp>
        <p:nvSpPr>
          <p:cNvPr id="3" name="Content Placeholder 2"/>
          <p:cNvSpPr>
            <a:spLocks noGrp="1"/>
          </p:cNvSpPr>
          <p:nvPr>
            <p:ph idx="1"/>
          </p:nvPr>
        </p:nvSpPr>
        <p:spPr/>
        <p:txBody>
          <a:bodyPr/>
          <a:lstStyle/>
          <a:p>
            <a:pPr>
              <a:defRPr sz="2400"/>
            </a:pPr>
            <a:r>
              <a:t>- Fine-tuning LLMs on benchmarking datasets like GLUE or SQuAD enhances their performance on specific NLP tasks without extensive training data.</a:t>
            </a:r>
            <a:br/>
            <a:r>
              <a:t>- This process allows LLMs to leverage pre-trained knowledge while adapting to task-specific information from the benchmarking dataset.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Coherence Analysis for Text Detection</a:t>
            </a:r>
          </a:p>
        </p:txBody>
      </p:sp>
      <p:sp>
        <p:nvSpPr>
          <p:cNvPr id="3" name="Content Placeholder 2"/>
          <p:cNvSpPr>
            <a:spLocks noGrp="1"/>
          </p:cNvSpPr>
          <p:nvPr>
            <p:ph idx="1"/>
          </p:nvPr>
        </p:nvSpPr>
        <p:spPr/>
        <p:txBody>
          <a:bodyPr/>
          <a:lstStyle/>
          <a:p>
            <a:pPr>
              <a:defRPr sz="1200"/>
            </a:pPr>
            <a:r>
              <a:t>- Analyzing coherence and consistency in text can help detect anomalies in language patterns and vocabulary indicative of generated content</a:t>
            </a:r>
            <a:br/>
            <a:r>
              <a:t>- Utilizing comparison with known datasets aids in identifying inconsistencies and deviations in LLM-generated text</a:t>
            </a:r>
            <a:br/>
            <a:r>
              <a:t>- Evading LLM detectors involves crafting text that closely mimics human-like patterns to evade detection</a:t>
            </a:r>
            <a:br/>
            <a:r>
              <a:t>- Examining language patterns and vocabulary in LLM-generated text is crucial for differentiating between genuine and generated content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Text Consistency for LLM Detection"</a:t>
            </a:r>
          </a:p>
        </p:txBody>
      </p:sp>
      <p:sp>
        <p:nvSpPr>
          <p:cNvPr id="3" name="Content Placeholder 2"/>
          <p:cNvSpPr>
            <a:spLocks noGrp="1"/>
          </p:cNvSpPr>
          <p:nvPr>
            <p:ph idx="1"/>
          </p:nvPr>
        </p:nvSpPr>
        <p:spPr/>
        <p:txBody>
          <a:bodyPr/>
          <a:lstStyle/>
          <a:p>
            <a:pPr>
              <a:defRPr sz="2400"/>
            </a:pPr>
            <a:r>
              <a:t>- Adding random noise to input data is a common technique to manipulate content and evade LLM detectors</a:t>
            </a:r>
            <a:br/>
            <a:r>
              <a:t>- Using adversarial examples can deceive detectors by introducing subtle changes that alter the output without being noticeable to humans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"Language Patterns Examination for Content Detection"</a:t>
            </a:r>
          </a:p>
        </p:txBody>
      </p:sp>
      <p:sp>
        <p:nvSpPr>
          <p:cNvPr id="3" name="Content Placeholder 2"/>
          <p:cNvSpPr>
            <a:spLocks noGrp="1"/>
          </p:cNvSpPr>
          <p:nvPr>
            <p:ph idx="1"/>
          </p:nvPr>
        </p:nvSpPr>
        <p:spPr/>
        <p:txBody>
          <a:bodyPr/>
          <a:lstStyle/>
          <a:p>
            <a:pPr>
              <a:defRPr sz="2400"/>
            </a:pPr>
            <a:r>
              <a:t>- Digital watermarking can embed invisible markers within LLM-generated content to deter unauthorized use or distribution</a:t>
            </a:r>
            <a:br/>
            <a:r>
              <a:t>- Visible and invisible watermarking techniques serve different purposes in protecting LLM content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"Vocabulary Analysis for Content Detection"</a:t>
            </a:r>
          </a:p>
        </p:txBody>
      </p:sp>
      <p:sp>
        <p:nvSpPr>
          <p:cNvPr id="3" name="Content Placeholder 2"/>
          <p:cNvSpPr>
            <a:spLocks noGrp="1"/>
          </p:cNvSpPr>
          <p:nvPr>
            <p:ph idx="1"/>
          </p:nvPr>
        </p:nvSpPr>
        <p:spPr/>
        <p:txBody>
          <a:bodyPr/>
          <a:lstStyle/>
          <a:p>
            <a:pPr>
              <a:defRPr sz="1200"/>
            </a:pPr>
            <a:r>
              <a:t>- Vocabulary analysis examines the language patterns and word choices in generated content</a:t>
            </a:r>
            <a:br/>
            <a:r>
              <a:t>- Anomalies in vocabulary can indicate content generated by LLMs</a:t>
            </a:r>
            <a:br/>
            <a:r>
              <a:t>- Comparing vocabulary to known datasets helps identify inconsistencies and deviations</a:t>
            </a:r>
            <a:br/>
            <a:r>
              <a:t>- Understanding vocabulary usage aids in detecting artificially generated text</a:t>
            </a:r>
            <a:br/>
            <a:r>
              <a:t>- Analyzing vocabulary diversity and uniqueness can also assist in content detection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Generation with Attention Mechanisms</a:t>
            </a:r>
          </a:p>
        </p:txBody>
      </p:sp>
      <p:sp>
        <p:nvSpPr>
          <p:cNvPr id="3" name="Content Placeholder 2"/>
          <p:cNvSpPr>
            <a:spLocks noGrp="1"/>
          </p:cNvSpPr>
          <p:nvPr>
            <p:ph idx="1"/>
          </p:nvPr>
        </p:nvSpPr>
        <p:spPr/>
        <p:txBody>
          <a:bodyPr/>
          <a:lstStyle/>
          <a:p>
            <a:pPr>
              <a:defRPr sz="1200"/>
            </a:pPr>
            <a:r>
              <a:t>- Attention mechanisms in LLM content generation can dynamically weigh input tokens to enhance accuracy and fluency</a:t>
            </a:r>
            <a:br/>
            <a:r>
              <a:t>- Optimizing attention mechanisms is crucial for improving LLM performance in capturing long-range dependencies and context</a:t>
            </a:r>
            <a:br/>
            <a:r>
              <a:t>- Attention mechanisms help LLMs focus on specific parts of input sequences for more coherent text generation</a:t>
            </a:r>
            <a:br/>
            <a:r>
              <a:t>- Dynamic weighting of input tokens through attention mechanisms improves the overall quality of LLM-generated content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Generated Content: Evaluating LLM Performance</a:t>
            </a:r>
          </a:p>
        </p:txBody>
      </p:sp>
      <p:sp>
        <p:nvSpPr>
          <p:cNvPr id="3" name="Content Placeholder 2"/>
          <p:cNvSpPr>
            <a:spLocks noGrp="1"/>
          </p:cNvSpPr>
          <p:nvPr>
            <p:ph idx="1"/>
          </p:nvPr>
        </p:nvSpPr>
        <p:spPr/>
        <p:txBody>
          <a:bodyPr/>
          <a:lstStyle/>
          <a:p>
            <a:pPr>
              <a:defRPr sz="1200"/>
            </a:pPr>
            <a:r>
              <a:t>- Benchmarking datasets provide a standardized way to evaluate LLMs' performance in various tasks, such as image captioning and object detection, using examples like COCO, ImageNet, CLEVR, and VQA.</a:t>
            </a:r>
            <a:br/>
            <a:r>
              <a:t>- These datasets are essential for assessing the capabilities of LLMs in understanding and generating content, offering a common ground for comparing different models in the field.</a:t>
            </a:r>
            <a:br/>
            <a:r>
              <a:t>- Common benchmarking datasets like COCO, ImageNet, and Open Images Dataset play a crucial role in evaluating the performance of LLMs and establishing a baseline for model comparison.</a:t>
            </a:r>
            <a:br/>
            <a:r>
              <a:t>- Evaluating LLM performance on benchmarking datasets involves analyzing factors like accuracy, diversity, and task-specific applications to determine the model's effectiveness in generating content.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Benchmarking Datasets for LLM Evaluation</a:t>
            </a:r>
          </a:p>
        </p:txBody>
      </p:sp>
      <p:sp>
        <p:nvSpPr>
          <p:cNvPr id="3" name="Content Placeholder 2"/>
          <p:cNvSpPr>
            <a:spLocks noGrp="1"/>
          </p:cNvSpPr>
          <p:nvPr>
            <p:ph idx="1"/>
          </p:nvPr>
        </p:nvSpPr>
        <p:spPr/>
        <p:txBody>
          <a:bodyPr/>
          <a:lstStyle/>
          <a:p>
            <a:pPr>
              <a:defRPr sz="1200"/>
            </a:pPr>
            <a:r>
              <a:t>- The CLEVR dataset is a valuable resource for evaluating LLMs in visual reasoning tasks, consisting of synthetic images with associated questions that test the model's comprehension and reasoning abilities.</a:t>
            </a:r>
            <a:br/>
            <a:r>
              <a:t>- Assessing LLM performance on the CLEVR dataset provides insights into the model's understanding of visual concepts and its capability to perform complex reasoning tasks beyond traditional text-based evaluations.</a:t>
            </a:r>
            <a:br/>
            <a:r>
              <a:t>- The dataset's focus on compositional language and elementary visual reasoning challenges LLMs to demonstrate their ability to reason about objects and their relationships within a scene, offering a comprehensive assessment of their cognitive capabilities.</a:t>
            </a:r>
            <a:br/>
            <a:r>
              <a:t>- Evaluating LLMs on the CLEVR dataset helps researchers and practitioners understand the model's strengths and limitations in processing visual information and generating accurate responses in a structured visual reasoning context.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Visual Reasoning Assessment for LLM Performance</a:t>
            </a:r>
          </a:p>
        </p:txBody>
      </p:sp>
      <p:sp>
        <p:nvSpPr>
          <p:cNvPr id="3" name="Content Placeholder 2"/>
          <p:cNvSpPr>
            <a:spLocks noGrp="1"/>
          </p:cNvSpPr>
          <p:nvPr>
            <p:ph idx="1"/>
          </p:nvPr>
        </p:nvSpPr>
        <p:spPr/>
        <p:txBody>
          <a:bodyPr/>
          <a:lstStyle/>
          <a:p>
            <a:pPr>
              <a:defRPr sz="1200"/>
            </a:pPr>
            <a:r>
              <a:t>- Utilizing visual reasoning assessments for LLM performance evaluation enhances the understanding of the model's ability to comprehend and reason about visual information beyond traditional text-based assessments.</a:t>
            </a:r>
            <a:br/>
            <a:r>
              <a:t>- Visual reasoning assessments challenge LLMs to demonstrate their reasoning capabilities by analyzing relationships between objects in images and generating accurate responses, providing a holistic evaluation of their cognitive functions.</a:t>
            </a:r>
            <a:br/>
            <a:r>
              <a:t>- Evaluating LLM performance on visual reasoning tasks like those in the CLEVR dataset offers valuable insights into the model's capacity to handle complex visual concepts and perform reasoning tasks in a structured visual context.</a:t>
            </a:r>
            <a:br/>
            <a:r>
              <a:t>- Incorporating visual reasoning assessments in LLM evaluation methodologies expands the scope of performance metrics beyond traditional accuracy measures, enabling a more comprehensive analysis of the model's cognitive and reasoning abilities.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 Content Detection Techniques Overview"</a:t>
            </a:r>
          </a:p>
        </p:txBody>
      </p:sp>
      <p:sp>
        <p:nvSpPr>
          <p:cNvPr id="3" name="Content Placeholder 2"/>
          <p:cNvSpPr>
            <a:spLocks noGrp="1"/>
          </p:cNvSpPr>
          <p:nvPr>
            <p:ph idx="1"/>
          </p:nvPr>
        </p:nvSpPr>
        <p:spPr/>
        <p:txBody>
          <a:bodyPr/>
          <a:lstStyle/>
          <a:p>
            <a:pPr>
              <a:defRPr sz="1200"/>
            </a:pPr>
            <a:r>
              <a:t>- Leveraging benchmarking datasets like COCO, ImageNet, CLEVR, and VQA enables a comprehensive evaluation of LLM capabilities in tasks such as image captioning and object detection, providing a diverse range of evaluation scenarios.</a:t>
            </a:r>
            <a:br/>
            <a:r>
              <a:t>- Benchmarking datasets serve as a standardized reference point for comparing the performance of different LLM models, facilitating a detailed analysis of their strengths and weaknesses in handling various tasks and datasets effectively.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Defending Against LLM Adversarial Attacks</a:t>
            </a:r>
          </a:p>
        </p:txBody>
      </p:sp>
      <p:sp>
        <p:nvSpPr>
          <p:cNvPr id="3" name="Content Placeholder 2"/>
          <p:cNvSpPr>
            <a:spLocks noGrp="1"/>
          </p:cNvSpPr>
          <p:nvPr>
            <p:ph idx="1"/>
          </p:nvPr>
        </p:nvSpPr>
        <p:spPr/>
        <p:txBody>
          <a:bodyPr/>
          <a:lstStyle/>
          <a:p>
            <a:pPr>
              <a:defRPr sz="1200"/>
            </a:pPr>
            <a:r>
              <a:t>- Adversarial attacks on LLM detectors can be categorized into gradient-based, optimization-based, and transfer-based techniques, each aiming to exploit vulnerabilities in the model's training process or architecture.</a:t>
            </a:r>
            <a:br/>
            <a:r>
              <a:t>- Techniques like adversarial attacks can compromise the performance of LLM models by generating misleading or harmful content, highlighting the need for robust defense mechanisms to counteract such threats.</a:t>
            </a:r>
            <a:br/>
            <a:r>
              <a:t>- Defending against adversarial attacks on LLM detectors requires a multi-faceted approach, including robust detection algorithms, adversarial training strategies, and continuous monitoring for potential vulnerabilities.</a:t>
            </a:r>
            <a:br/>
            <a:r>
              <a:t>- Understanding the implications of adversarial attacks on LLM detectors is essential for mitigating the risks of misinformation dissemination and maintaining the integrity of AI systems.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Evading LLM Detectors: Strategic Evasion Techniques</a:t>
            </a:r>
          </a:p>
        </p:txBody>
      </p:sp>
      <p:sp>
        <p:nvSpPr>
          <p:cNvPr id="3" name="Content Placeholder 2"/>
          <p:cNvSpPr>
            <a:spLocks noGrp="1"/>
          </p:cNvSpPr>
          <p:nvPr>
            <p:ph idx="1"/>
          </p:nvPr>
        </p:nvSpPr>
        <p:spPr/>
        <p:txBody>
          <a:bodyPr/>
          <a:lstStyle/>
          <a:p>
            <a:pPr>
              <a:defRPr sz="1200"/>
            </a:pPr>
            <a:r>
              <a:t>- Adversarial attacks on LLM detectors can exploit vulnerabilities in the model's decision-making process by adding imperceptible perturbations to input data, leading to misclassifications.</a:t>
            </a:r>
            <a:br/>
            <a:r>
              <a:t>- Crafting input data to deceive detectors into making incorrect predictions is a common strategy in evading LLM detectors.</a:t>
            </a:r>
            <a:br/>
            <a:r>
              <a:t>- Adversarial attacks aim to compromise the performance of LLM models by generating misleading or harmful content, emphasizing the need for robust defense mechanisms.</a:t>
            </a:r>
            <a:br/>
            <a:r>
              <a:t>- Recognizing the implications of adversarial attacks on LLM detectors is crucial for mitigating the risks of misinformation dissemination and ensuring the integrity of AI systems.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Strategic Evasion Techniques for LLM Detection</a:t>
            </a:r>
          </a:p>
        </p:txBody>
      </p:sp>
      <p:sp>
        <p:nvSpPr>
          <p:cNvPr id="3" name="Content Placeholder 2"/>
          <p:cNvSpPr>
            <a:spLocks noGrp="1"/>
          </p:cNvSpPr>
          <p:nvPr>
            <p:ph idx="1"/>
          </p:nvPr>
        </p:nvSpPr>
        <p:spPr/>
        <p:txBody>
          <a:bodyPr/>
          <a:lstStyle/>
          <a:p>
            <a:pPr>
              <a:defRPr sz="2400"/>
            </a:pPr>
            <a:r>
              <a:t>- Leveraging transfer learning techniques to adapt pre-trained LLM models for evading detection mechanisms</a:t>
            </a:r>
            <a:br/>
            <a:r>
              <a:t>- Employing generative adversarial networks (GANs) to generate realistic adversarial examples that can bypass LLM detectors</a:t>
            </a:r>
            <a:br/>
            <a:r>
              <a:t>- Analyzing the impact of evasion techniques on model performance and the potential risks associated with successful evasion efforts.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Adversarial Attacks on LLM Detectors: Evasion Techniques</a:t>
            </a:r>
          </a:p>
        </p:txBody>
      </p:sp>
      <p:sp>
        <p:nvSpPr>
          <p:cNvPr id="3" name="Content Placeholder 2"/>
          <p:cNvSpPr>
            <a:spLocks noGrp="1"/>
          </p:cNvSpPr>
          <p:nvPr>
            <p:ph idx="1"/>
          </p:nvPr>
        </p:nvSpPr>
        <p:spPr/>
        <p:txBody>
          <a:bodyPr/>
          <a:lstStyle/>
          <a:p>
            <a:pPr>
              <a:defRPr sz="2400"/>
            </a:pPr>
            <a:r>
              <a:t>- Exploring the use of steganography techniques to hide information within LLM-generated content, making it harder to detect alterations or manipulations</a:t>
            </a:r>
            <a:br/>
            <a:r>
              <a:t>- Investigating the role of natural language processing (NLP) models in enhancing evasion techniques by generating text that mimics human-written content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"Implementing Adversarial Attacks on LLM Detectors"</a:t>
            </a:r>
          </a:p>
        </p:txBody>
      </p:sp>
      <p:sp>
        <p:nvSpPr>
          <p:cNvPr id="3" name="Content Placeholder 2"/>
          <p:cNvSpPr>
            <a:spLocks noGrp="1"/>
          </p:cNvSpPr>
          <p:nvPr>
            <p:ph idx="1"/>
          </p:nvPr>
        </p:nvSpPr>
        <p:spPr/>
        <p:txBody>
          <a:bodyPr/>
          <a:lstStyle/>
          <a:p>
            <a:pPr>
              <a:defRPr sz="1200"/>
            </a:pPr>
            <a:r>
              <a:t>- Implementing adversarial attacks involves manipulating input data to deceive LLM detectors, such as adding noise, using synonyms, and altering content structure</a:t>
            </a:r>
            <a:br/>
            <a:r>
              <a:t>- Understanding vulnerabilities in detection systems is crucial for successfully evading LLM detectors</a:t>
            </a:r>
            <a:br/>
            <a:r>
              <a:t>- Detecting and defending against adversarial attacks is essential for maintaining the integrity of LLM models</a:t>
            </a:r>
            <a:br/>
            <a:r>
              <a:t>- Analyzing the impact of adversarial attacks on LLM detection systems helps in developing robust detection mechanisms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Strategic Evasion Techniques for LLM Detectors</a:t>
            </a:r>
          </a:p>
        </p:txBody>
      </p:sp>
      <p:sp>
        <p:nvSpPr>
          <p:cNvPr id="3" name="Content Placeholder 2"/>
          <p:cNvSpPr>
            <a:spLocks noGrp="1"/>
          </p:cNvSpPr>
          <p:nvPr>
            <p:ph idx="1"/>
          </p:nvPr>
        </p:nvSpPr>
        <p:spPr/>
        <p:txBody>
          <a:bodyPr/>
          <a:lstStyle/>
          <a:p>
            <a:pPr>
              <a:defRPr sz="2400"/>
            </a:pPr>
            <a:r>
              <a:t>- Employing adversarial examples to deceive LLM detectors involves crafting inputs that exploit model vulnerabilities</a:t>
            </a:r>
            <a:br/>
            <a:r>
              <a:t>- Using obfuscation techniques such as altering content structure and introducing irrelevant information can help evade LLM detection systems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Evasion Techniques: Examples &amp; Implications</a:t>
            </a:r>
          </a:p>
        </p:txBody>
      </p:sp>
      <p:sp>
        <p:nvSpPr>
          <p:cNvPr id="3" name="Content Placeholder 2"/>
          <p:cNvSpPr>
            <a:spLocks noGrp="1"/>
          </p:cNvSpPr>
          <p:nvPr>
            <p:ph idx="1"/>
          </p:nvPr>
        </p:nvSpPr>
        <p:spPr/>
        <p:txBody>
          <a:bodyPr/>
          <a:lstStyle/>
          <a:p>
            <a:pPr>
              <a:defRPr sz="1200"/>
            </a:pPr>
            <a:r>
              <a:t>- Employing adversarial examples to deceive LLM detectors involves crafting inputs that exploit model vulnerabilities</a:t>
            </a:r>
            <a:br/>
            <a:r>
              <a:t>- Using obfuscation techniques such as altering content structure and introducing irrelevant information can help evade LLM detection systems</a:t>
            </a:r>
            <a:br/>
            <a:r>
              <a:t>- Employing stealthy evasion tactics to avoid detection by blending in with legitimate content</a:t>
            </a:r>
            <a:br/>
            <a:r>
              <a:t>- Implementing countermeasures like robust training and incorporating defense mechanisms to enhance the resilience of LLM detectors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"Digital Watermarking Techniques for LLM Protection"</a:t>
            </a:r>
          </a:p>
        </p:txBody>
      </p:sp>
      <p:sp>
        <p:nvSpPr>
          <p:cNvPr id="3" name="Content Placeholder 2"/>
          <p:cNvSpPr>
            <a:spLocks noGrp="1"/>
          </p:cNvSpPr>
          <p:nvPr>
            <p:ph idx="1"/>
          </p:nvPr>
        </p:nvSpPr>
        <p:spPr/>
        <p:txBody>
          <a:bodyPr/>
          <a:lstStyle/>
          <a:p>
            <a:pPr>
              <a:defRPr sz="1200"/>
            </a:pPr>
            <a:r>
              <a:t>- Employing imperceptible digital watermarks in LLM content can serve as a unique identifier to prove ownership and deter unauthorized use</a:t>
            </a:r>
            <a:br/>
            <a:r>
              <a:t>- Spatial domain, frequency domain, and transform domain watermarking methods are commonly utilized to embed watermarks in LLM content</a:t>
            </a:r>
            <a:br/>
            <a:r>
              <a:t>- Watermarking techniques help in preserving intellectual property rights by providing a digital signature for LLM-generated content</a:t>
            </a:r>
            <a:br/>
            <a:r>
              <a:t>- Embedding visible or invisible watermarks in LLM content aids in identifying the original source of the content and establishing ownership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Safeguarding Intellectual Property in LLM Content</a:t>
            </a:r>
          </a:p>
        </p:txBody>
      </p:sp>
      <p:sp>
        <p:nvSpPr>
          <p:cNvPr id="3" name="Content Placeholder 2"/>
          <p:cNvSpPr>
            <a:spLocks noGrp="1"/>
          </p:cNvSpPr>
          <p:nvPr>
            <p:ph idx="1"/>
          </p:nvPr>
        </p:nvSpPr>
        <p:spPr/>
        <p:txBody>
          <a:bodyPr/>
          <a:lstStyle/>
          <a:p>
            <a:pPr>
              <a:defRPr sz="1200"/>
            </a:pPr>
            <a:r>
              <a:t>- Implementing robust copyright protection measures, such as embedding digital watermarks, is essential to safeguard LLM-generated content from unauthorized use or distribution</a:t>
            </a:r>
            <a:br/>
            <a:r>
              <a:t>- Digital watermarks serve as unique identifiers that can help track and trace the origin of LLM content, deterring potential infringers and establishing ownership rights</a:t>
            </a:r>
            <a:br/>
            <a:r>
              <a:t>- Advanced watermarking techniques enhance the security of intellectual property in the digital landscape by providing a digital signature for LLM-generated content</a:t>
            </a:r>
            <a:br/>
            <a:r>
              <a:t>- Utilizing visible or invisible watermarks aids in identifying the original source of LLM content and preserving ownership rights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Protection with Watermarking"</a:t>
            </a:r>
          </a:p>
        </p:txBody>
      </p:sp>
      <p:sp>
        <p:nvSpPr>
          <p:cNvPr id="3" name="Content Placeholder 2"/>
          <p:cNvSpPr>
            <a:spLocks noGrp="1"/>
          </p:cNvSpPr>
          <p:nvPr>
            <p:ph idx="1"/>
          </p:nvPr>
        </p:nvSpPr>
        <p:spPr/>
        <p:txBody>
          <a:bodyPr/>
          <a:lstStyle/>
          <a:p>
            <a:pPr>
              <a:defRPr sz="1200"/>
            </a:pPr>
            <a:r>
              <a:t>- Watermarking LLM content involves embedding imperceptible data to protect intellectual property rights and deter unauthorized use or distribution</a:t>
            </a:r>
            <a:br/>
            <a:r>
              <a:t>- Techniques such as visible, invisible, and robust watermarking are utilized to embed watermarks into LLM content effectively, providing a digital signature for ownership verification</a:t>
            </a:r>
            <a:br/>
            <a:r>
              <a:t>- Watermarking helps in identifying the original source of content and proving ownership through unique identifiers that track and trace the origin of LLM-generated content</a:t>
            </a:r>
            <a:br/>
            <a:r>
              <a:t>- Various methods like spatial domain, frequency domain, and transform domain watermarking can be employed to enhance the security of intellectual property in digital landscapes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Maximizing LLM Performance with Benchmarking Datasets</a:t>
            </a:r>
          </a:p>
        </p:txBody>
      </p:sp>
      <p:sp>
        <p:nvSpPr>
          <p:cNvPr id="3" name="Content Placeholder 2"/>
          <p:cNvSpPr>
            <a:spLocks noGrp="1"/>
          </p:cNvSpPr>
          <p:nvPr>
            <p:ph idx="1"/>
          </p:nvPr>
        </p:nvSpPr>
        <p:spPr/>
        <p:txBody>
          <a:bodyPr/>
          <a:lstStyle/>
          <a:p>
            <a:pPr>
              <a:defRPr sz="1200"/>
            </a:pPr>
            <a:r>
              <a:t>- Benchmarking datasets serve as standardized examples for evaluating LLMs in content generation tasks, aiding in assessing model performance on specific benchmarks</a:t>
            </a:r>
            <a:br/>
            <a:r>
              <a:t>- Leveraging benchmarking datasets like COCO, ImageNet, and CLEVR allows researchers to compare and benchmark LLM capabilities in tasks such as image captioning and object detection</a:t>
            </a:r>
            <a:br/>
            <a:r>
              <a:t>- These datasets play a critical role in evaluating the effectiveness of LLMs in various applications, providing a standardized framework for performance assessment</a:t>
            </a:r>
            <a:br/>
            <a:r>
              <a:t>- Real-world applications of benchmarking datasets extend to improving image recognition, enhancing natural language processing tasks, and advancing scene understanding in diverse domains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"Digital Watermarking Applications for LLM Protection"</a:t>
            </a:r>
          </a:p>
        </p:txBody>
      </p:sp>
      <p:sp>
        <p:nvSpPr>
          <p:cNvPr id="3" name="Content Placeholder 2"/>
          <p:cNvSpPr>
            <a:spLocks noGrp="1"/>
          </p:cNvSpPr>
          <p:nvPr>
            <p:ph idx="1"/>
          </p:nvPr>
        </p:nvSpPr>
        <p:spPr/>
        <p:txBody>
          <a:bodyPr/>
          <a:lstStyle/>
          <a:p>
            <a:pPr>
              <a:defRPr sz="1200"/>
            </a:pPr>
            <a:r>
              <a:t>- Watermarking LLM content helps in establishing ownership and authenticity through the embedding of imperceptible data within the generated content</a:t>
            </a:r>
            <a:br/>
            <a:r>
              <a:t>- Techniques like visible, invisible, and robust watermarking provide different levels of protection for LLM-generated content, ensuring traceability and deterrence against unauthorized use</a:t>
            </a:r>
            <a:br/>
            <a:r>
              <a:t>- Watermarking assists in tracing the original source of LLM content, aiding in copyright enforcement and proving ownership in case of disputes</a:t>
            </a:r>
            <a:br/>
            <a:r>
              <a:t>- Various methods such as spatial domain, frequency domain, and transform domain watermarking offer diverse approaches to safeguarding LLM content from unauthorized distribution and plagiarism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"Intellectual Property Protection Strategies for LLM Content"</a:t>
            </a:r>
          </a:p>
        </p:txBody>
      </p:sp>
      <p:sp>
        <p:nvSpPr>
          <p:cNvPr id="3" name="Content Placeholder 2"/>
          <p:cNvSpPr>
            <a:spLocks noGrp="1"/>
          </p:cNvSpPr>
          <p:nvPr>
            <p:ph idx="1"/>
          </p:nvPr>
        </p:nvSpPr>
        <p:spPr/>
        <p:txBody>
          <a:bodyPr/>
          <a:lstStyle/>
          <a:p>
            <a:pPr>
              <a:defRPr sz="1200"/>
            </a:pPr>
            <a:r>
              <a:t>- Steganography is a technique often used for watermarking LLM content to protect intellectual property rights and prevent unauthorized use by hiding information within the LLM content itself.</a:t>
            </a:r>
            <a:br/>
            <a:r>
              <a:t>- Embedding a watermark using steganography ensures that the content is traceable and identifiable, even if shared or distributed without permission, as it is difficult for others to detect or remove the watermark without affecting the content quality.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 Content Protection: Digital Watermarking Techniques"</a:t>
            </a:r>
          </a:p>
        </p:txBody>
      </p:sp>
      <p:sp>
        <p:nvSpPr>
          <p:cNvPr id="3" name="Content Placeholder 2"/>
          <p:cNvSpPr>
            <a:spLocks noGrp="1"/>
          </p:cNvSpPr>
          <p:nvPr>
            <p:ph idx="1"/>
          </p:nvPr>
        </p:nvSpPr>
        <p:spPr/>
        <p:txBody>
          <a:bodyPr/>
          <a:lstStyle/>
          <a:p>
            <a:pPr>
              <a:defRPr sz="1200"/>
            </a:pPr>
            <a:r>
              <a:t>- Digital watermarking embeds invisible markers in LLM content for protection</a:t>
            </a:r>
            <a:br/>
            <a:r>
              <a:t>- Techniques like visible, invisible, and robust watermarking ensure ownership</a:t>
            </a:r>
            <a:br/>
            <a:r>
              <a:t>- Watermarking helps identify original source and prevent unauthorized use</a:t>
            </a:r>
            <a:br/>
            <a:r>
              <a:t>- Methods like spatial, frequency, and transform domain watermarking are used</a:t>
            </a:r>
            <a:br/>
            <a:r>
              <a:t>- Digital watermarking is imperceptible to the human eye but can be detected by algorithms, safeguarding intellectual property in LLM-generated content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"Defending Against LLM Adversarial Attacks"</a:t>
            </a:r>
          </a:p>
        </p:txBody>
      </p:sp>
      <p:sp>
        <p:nvSpPr>
          <p:cNvPr id="3" name="Content Placeholder 2"/>
          <p:cNvSpPr>
            <a:spLocks noGrp="1"/>
          </p:cNvSpPr>
          <p:nvPr>
            <p:ph idx="1"/>
          </p:nvPr>
        </p:nvSpPr>
        <p:spPr/>
        <p:txBody>
          <a:bodyPr/>
          <a:lstStyle/>
          <a:p>
            <a:pPr>
              <a:defRPr sz="1200"/>
            </a:pPr>
            <a:r>
              <a:t>- Adversarial attacks aim to deceive LLM detectors by manipulating input data</a:t>
            </a:r>
            <a:br/>
            <a:r>
              <a:t>- Defense strategies include adversarial training, input preprocessing, feature squeezing, and model ensembles</a:t>
            </a:r>
            <a:br/>
            <a:r>
              <a:t>- Enhancing resilience through defensive mechanisms is crucial to mitigate adversarial attacks</a:t>
            </a:r>
            <a:br/>
            <a:r>
              <a:t>- Robust defense strategies help prevent evasion of LLM detectors by malicious actors</a:t>
            </a:r>
            <a:br/>
            <a:r>
              <a:t>- Understanding the nature of these attacks and developing robust defenses is crucial to safeguarding LLMs from malicious manipulation.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"Robust Defense Strategies Against LLM Adversarial Attacks"</a:t>
            </a:r>
          </a:p>
        </p:txBody>
      </p:sp>
      <p:sp>
        <p:nvSpPr>
          <p:cNvPr id="3" name="Content Placeholder 2"/>
          <p:cNvSpPr>
            <a:spLocks noGrp="1"/>
          </p:cNvSpPr>
          <p:nvPr>
            <p:ph idx="1"/>
          </p:nvPr>
        </p:nvSpPr>
        <p:spPr/>
        <p:txBody>
          <a:bodyPr/>
          <a:lstStyle/>
          <a:p>
            <a:pPr>
              <a:defRPr sz="1200"/>
            </a:pPr>
            <a:r>
              <a:t>- Adversarial attacks manipulate input data to deceive LLM detectors</a:t>
            </a:r>
            <a:br/>
            <a:r>
              <a:t>- Defense strategies include adversarial training, input preprocessing, feature squeezing, and model ensembles</a:t>
            </a:r>
            <a:br/>
            <a:r>
              <a:t>- Enhancing resilience through defensive mechanisms crucial to mitigate attacks</a:t>
            </a:r>
            <a:br/>
            <a:r>
              <a:t>- Robust defense strategies help prevent evasion of LLM detectors by malicious actors</a:t>
            </a:r>
            <a:br/>
            <a:r>
              <a:t>- Implementing anomaly detection techniques to identify unusual patterns in LLM-generated content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"Preventing Evasion of LLM Detectors"</a:t>
            </a:r>
          </a:p>
        </p:txBody>
      </p:sp>
      <p:sp>
        <p:nvSpPr>
          <p:cNvPr id="3" name="Content Placeholder 2"/>
          <p:cNvSpPr>
            <a:spLocks noGrp="1"/>
          </p:cNvSpPr>
          <p:nvPr>
            <p:ph idx="1"/>
          </p:nvPr>
        </p:nvSpPr>
        <p:spPr/>
        <p:txBody>
          <a:bodyPr/>
          <a:lstStyle/>
          <a:p>
            <a:pPr>
              <a:defRPr sz="1200"/>
            </a:pPr>
            <a:r>
              <a:t>- Adversarial attacks manipulate input data to deceive LLM detectors</a:t>
            </a:r>
            <a:br/>
            <a:r>
              <a:t>- Defense strategies include adversarial training, input preprocessing, feature squeezing, and model ensembles</a:t>
            </a:r>
            <a:br/>
            <a:r>
              <a:t>- Enhancing resilience through defensive mechanisms crucial to mitigate attacks</a:t>
            </a:r>
            <a:br/>
            <a:r>
              <a:t>- Robust defense strategies help prevent evasion of LLM detectors by malicious actors</a:t>
            </a:r>
            <a:br/>
            <a:r>
              <a:t>- Implementing anomaly detection techniques to identify unusual patterns in LLM-generated content</a:t>
            </a:r>
            <a:br/>
            <a:r>
              <a:t>- Understanding the limitations of existing detection mechanisms when facing sophisticated evasion tactics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"Adversarial Training Methods for LLM Detectors"</a:t>
            </a:r>
          </a:p>
        </p:txBody>
      </p:sp>
      <p:sp>
        <p:nvSpPr>
          <p:cNvPr id="3" name="Content Placeholder 2"/>
          <p:cNvSpPr>
            <a:spLocks noGrp="1"/>
          </p:cNvSpPr>
          <p:nvPr>
            <p:ph idx="1"/>
          </p:nvPr>
        </p:nvSpPr>
        <p:spPr/>
        <p:txBody>
          <a:bodyPr/>
          <a:lstStyle/>
          <a:p>
            <a:pPr>
              <a:defRPr sz="1200"/>
            </a:pPr>
            <a:r>
              <a:t>- Adversarial training involves incorporating adversarial examples during the training process to improve the model's robustness</a:t>
            </a:r>
            <a:br/>
            <a:r>
              <a:t>- Input preprocessing techniques such as data augmentation and normalization can help reduce vulnerability to adversarial attacks</a:t>
            </a:r>
            <a:br/>
            <a:r>
              <a:t>- Feature squeezing aims to reduce the complexity of input data to make it harder for adversaries to craft effective attacks</a:t>
            </a:r>
            <a:br/>
            <a:r>
              <a:t>- Model ensembles combine multiple detectors to enhance detection performance and resilience against adversarial manipulations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"Optimizing Input for LLMs: Preprocessing Techniques"</a:t>
            </a:r>
          </a:p>
        </p:txBody>
      </p:sp>
      <p:sp>
        <p:nvSpPr>
          <p:cNvPr id="3" name="Content Placeholder 2"/>
          <p:cNvSpPr>
            <a:spLocks noGrp="1"/>
          </p:cNvSpPr>
          <p:nvPr>
            <p:ph idx="1"/>
          </p:nvPr>
        </p:nvSpPr>
        <p:spPr/>
        <p:txBody>
          <a:bodyPr/>
          <a:lstStyle/>
          <a:p>
            <a:pPr>
              <a:defRPr sz="1200"/>
            </a:pPr>
            <a:r>
              <a:t>- Data augmentation techniques can be applied during input preprocessing to increase the diversity of training data and improve model generalization</a:t>
            </a:r>
            <a:br/>
            <a:r>
              <a:t>- Normalization of input data is crucial for ensuring consistency and reducing variance in model training</a:t>
            </a:r>
            <a:br/>
            <a:r>
              <a:t>- Leveraging feature squeezing methods like reducing precision or quantization can enhance the model's resilience against adversarial attacks</a:t>
            </a:r>
            <a:br/>
            <a:r>
              <a:t>- Model ensembles can further strengthen detection capabilities by combining the outputs of multiple detectors to achieve higher accuracy and robustness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"Feature Squeezing for Enhanced Defense"</a:t>
            </a:r>
          </a:p>
        </p:txBody>
      </p:sp>
      <p:sp>
        <p:nvSpPr>
          <p:cNvPr id="3" name="Content Placeholder 2"/>
          <p:cNvSpPr>
            <a:spLocks noGrp="1"/>
          </p:cNvSpPr>
          <p:nvPr>
            <p:ph idx="1"/>
          </p:nvPr>
        </p:nvSpPr>
        <p:spPr/>
        <p:txBody>
          <a:bodyPr/>
          <a:lstStyle/>
          <a:p>
            <a:pPr>
              <a:defRPr sz="2400"/>
            </a:pPr>
            <a:r>
              <a:t>- Feature squeezing can also include techniques such as reducing image resolution or applying noise injection to further enhance defense mechanisms against adversarial attacks</a:t>
            </a:r>
            <a:br/>
            <a:r>
              <a:t>- Incorporating data augmentation methods specific to text data, such as synonym replacement or sentence shuffling, can diversify the training corpus and improve the model's ability to generalize across different language patterns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Detection with Model Ensemble Approaches"</a:t>
            </a:r>
          </a:p>
        </p:txBody>
      </p:sp>
      <p:sp>
        <p:nvSpPr>
          <p:cNvPr id="3" name="Content Placeholder 2"/>
          <p:cNvSpPr>
            <a:spLocks noGrp="1"/>
          </p:cNvSpPr>
          <p:nvPr>
            <p:ph idx="1"/>
          </p:nvPr>
        </p:nvSpPr>
        <p:spPr/>
        <p:txBody>
          <a:bodyPr/>
          <a:lstStyle/>
          <a:p>
            <a:pPr>
              <a:defRPr sz="2400"/>
            </a:pPr>
            <a:r>
              <a:t>- Leveraging transfer learning techniques can help improve LLM detection accuracy by fine-tuning pre-trained models on specific detection tasks</a:t>
            </a:r>
            <a:br/>
            <a:r>
              <a:t>- Ensemble approaches can also incorporate model distillation methods to compress large models into smaller, more efficient versions while maintaining detection performance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"Spatial Domain Watermarking Techniques for LLM Content"</a:t>
            </a:r>
          </a:p>
        </p:txBody>
      </p:sp>
      <p:sp>
        <p:nvSpPr>
          <p:cNvPr id="3" name="Content Placeholder 2"/>
          <p:cNvSpPr>
            <a:spLocks noGrp="1"/>
          </p:cNvSpPr>
          <p:nvPr>
            <p:ph idx="1"/>
          </p:nvPr>
        </p:nvSpPr>
        <p:spPr/>
        <p:txBody>
          <a:bodyPr/>
          <a:lstStyle/>
          <a:p>
            <a:pPr>
              <a:defRPr sz="1200"/>
            </a:pPr>
            <a:r>
              <a:t>- Spatial Domain Watermarking embeds imperceptible information directly into the spatial domain of LLM content</a:t>
            </a:r>
            <a:br/>
            <a:r>
              <a:t>- Techniques involve altering pixel values to hide watermarks within the content</a:t>
            </a:r>
            <a:br/>
            <a:r>
              <a:t>- Spatial watermarking is commonly used for images and text to prove ownership and deter unauthorized use</a:t>
            </a:r>
            <a:br/>
            <a:r>
              <a:t>- Examples include embedding invisible markers in generated text or images to protect intellectual property rights</a:t>
            </a:r>
            <a:br/>
            <a:r>
              <a:t>- Utilizes the spatial domain of the content to embed watermarks seamlessly</a:t>
            </a:r>
            <a:br/>
            <a:r>
              <a:t>- Can be applied to various types of content, including images, text, and multimedia files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"Frequency Domain Watermarking for LLM Content Protection"</a:t>
            </a:r>
          </a:p>
        </p:txBody>
      </p:sp>
      <p:sp>
        <p:nvSpPr>
          <p:cNvPr id="3" name="Content Placeholder 2"/>
          <p:cNvSpPr>
            <a:spLocks noGrp="1"/>
          </p:cNvSpPr>
          <p:nvPr>
            <p:ph idx="1"/>
          </p:nvPr>
        </p:nvSpPr>
        <p:spPr/>
        <p:txBody>
          <a:bodyPr/>
          <a:lstStyle/>
          <a:p>
            <a:pPr>
              <a:defRPr sz="1200"/>
            </a:pPr>
            <a:r>
              <a:t>- Frequency domain watermarking embeds imperceptible data into LLM content by manipulating frequency components</a:t>
            </a:r>
            <a:br/>
            <a:r>
              <a:t>- Techniques involve modifying the frequency domain representation of the content to hide watermarks</a:t>
            </a:r>
            <a:br/>
            <a:r>
              <a:t>- Commonly used for audio and image files to prove ownership and deter unauthorized use</a:t>
            </a:r>
            <a:br/>
            <a:r>
              <a:t>- Example: Embedding invisible markers in audio generated by LLMs for copyright protection</a:t>
            </a:r>
            <a:br/>
            <a:r>
              <a:t>- Utilizes frequency analysis to embed watermarks seamlessly into the content</a:t>
            </a:r>
            <a:br/>
            <a:r>
              <a:t>- Applied in scenarios where frequency manipulation is more effective than altering pixel values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"Visible vs. Invisible Watermarks: Ownership Identification"</a:t>
            </a:r>
          </a:p>
        </p:txBody>
      </p:sp>
      <p:sp>
        <p:nvSpPr>
          <p:cNvPr id="3" name="Content Placeholder 2"/>
          <p:cNvSpPr>
            <a:spLocks noGrp="1"/>
          </p:cNvSpPr>
          <p:nvPr>
            <p:ph idx="1"/>
          </p:nvPr>
        </p:nvSpPr>
        <p:spPr/>
        <p:txBody>
          <a:bodyPr/>
          <a:lstStyle/>
          <a:p>
            <a:pPr>
              <a:defRPr sz="1200"/>
            </a:pPr>
            <a:r>
              <a:t>- Frequency domain watermarking embeds imperceptible data into LLM content by manipulating frequency components</a:t>
            </a:r>
            <a:br/>
            <a:r>
              <a:t>- Techniques involve modifying the frequency domain representation of the content to hide watermarks</a:t>
            </a:r>
            <a:br/>
            <a:r>
              <a:t>- Commonly used for audio and image files to prove ownership and deter unauthorized use</a:t>
            </a:r>
            <a:br/>
            <a:r>
              <a:t>- Example: Embedding invisible markers in audio generated by LLMs for copyright protection</a:t>
            </a:r>
            <a:br/>
            <a:r>
              <a:t>- Utilizes frequency analysis to embed watermarks seamlessly into the content</a:t>
            </a:r>
            <a:br/>
            <a:r>
              <a:t>- Applied in scenarios where frequency manipulation is more effective than altering pixel values</a:t>
            </a:r>
            <a:br/>
            <a:r>
              <a:t>- Watermarking can also include visible elements to deter unauthorized use and showcase ownership status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Applications of Watermarking</a:t>
            </a:r>
          </a:p>
        </p:txBody>
      </p:sp>
      <p:sp>
        <p:nvSpPr>
          <p:cNvPr id="3" name="Content Placeholder 2"/>
          <p:cNvSpPr>
            <a:spLocks noGrp="1"/>
          </p:cNvSpPr>
          <p:nvPr>
            <p:ph idx="1"/>
          </p:nvPr>
        </p:nvSpPr>
        <p:spPr/>
        <p:txBody>
          <a:bodyPr/>
          <a:lstStyle/>
          <a:p>
            <a:pPr>
              <a:defRPr sz="1200"/>
            </a:pPr>
            <a:r>
              <a:t>- Frequency domain watermarking embeds imperceptible data into LLM content by manipulating frequency components</a:t>
            </a:r>
            <a:br/>
            <a:r>
              <a:t>- Techniques involve modifying the frequency domain representation of the content to hide watermarks</a:t>
            </a:r>
            <a:br/>
            <a:r>
              <a:t>- Commonly used for audio and image files to prove ownership and deter unauthorized use</a:t>
            </a:r>
            <a:br/>
            <a:r>
              <a:t>- Example: Embedding invisible markers in audio generated by LLMs for copyright protection</a:t>
            </a:r>
            <a:br/>
            <a:r>
              <a:t>- Utilizes frequency analysis to embed watermarks seamlessly into the content</a:t>
            </a:r>
            <a:br/>
            <a:r>
              <a:t>- Applied in scenarios where frequency manipulation is more effective than altering pixel values</a:t>
            </a:r>
            <a:br/>
            <a:r>
              <a:t>- Watermarking can also include visible elements to deter unauthorized use and showcase ownership status</a:t>
            </a:r>
            <a:br/>
            <a:r>
              <a:t>- Recent advancements in machine learning and deep learning have significantly improved LLM-content detection techniques, utilizing sophisticated algorithms to analyze text and images for potentially harmful or misleading content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Performance with Benchmarking Datasets</a:t>
            </a:r>
          </a:p>
        </p:txBody>
      </p:sp>
      <p:sp>
        <p:nvSpPr>
          <p:cNvPr id="3" name="Content Placeholder 2"/>
          <p:cNvSpPr>
            <a:spLocks noGrp="1"/>
          </p:cNvSpPr>
          <p:nvPr>
            <p:ph idx="1"/>
          </p:nvPr>
        </p:nvSpPr>
        <p:spPr/>
        <p:txBody>
          <a:bodyPr/>
          <a:lstStyle/>
          <a:p>
            <a:pPr>
              <a:defRPr sz="1200"/>
            </a:pPr>
            <a:r>
              <a:t>- Precision, recall, and F1 score are commonly used evaluation metrics for assessing LLM-content models' performance</a:t>
            </a:r>
            <a:br/>
            <a:r>
              <a:t>- Precision measures the ratio of correctly predicted positive observations to the total predicted positives</a:t>
            </a:r>
            <a:br/>
            <a:r>
              <a:t>- Recall (sensitivity) calculates the ratio of correctly predicted positive observations to all actual positives</a:t>
            </a:r>
            <a:br/>
            <a:r>
              <a:t>- The F1 score is the harmonic mean of precision and recall, providing a balanced evaluation metric for LLM-content models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Steganography for Watermarking LLM Content</a:t>
            </a:r>
          </a:p>
        </p:txBody>
      </p:sp>
      <p:sp>
        <p:nvSpPr>
          <p:cNvPr id="3" name="Content Placeholder 2"/>
          <p:cNvSpPr>
            <a:spLocks noGrp="1"/>
          </p:cNvSpPr>
          <p:nvPr>
            <p:ph idx="1"/>
          </p:nvPr>
        </p:nvSpPr>
        <p:spPr/>
        <p:txBody>
          <a:bodyPr/>
          <a:lstStyle/>
          <a:p>
            <a:pPr>
              <a:defRPr sz="2400"/>
            </a:pPr>
            <a:r>
              <a:t>- Steganography can be implemented using various techniques such as LSB (Least Significant Bit) embedding to hide watermark data within LLM content</a:t>
            </a:r>
            <a:br/>
            <a:r>
              <a:t>- Advanced steganography methods like spread spectrum technique can be utilized to increase the robustness of watermarking in LLM content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Embedding Data in LLM Content: Protecting Intellectual Property</a:t>
            </a:r>
          </a:p>
        </p:txBody>
      </p:sp>
      <p:sp>
        <p:nvSpPr>
          <p:cNvPr id="3" name="Content Placeholder 2"/>
          <p:cNvSpPr>
            <a:spLocks noGrp="1"/>
          </p:cNvSpPr>
          <p:nvPr>
            <p:ph idx="1"/>
          </p:nvPr>
        </p:nvSpPr>
        <p:spPr/>
        <p:txBody>
          <a:bodyPr/>
          <a:lstStyle/>
          <a:p>
            <a:pPr>
              <a:defRPr sz="1200"/>
            </a:pPr>
            <a:r>
              <a:t>- Steganography techniques like LSB (Least Significant Bit) embedding can hide watermark data within LLM content without compromising quality</a:t>
            </a:r>
            <a:br/>
            <a:r>
              <a:t>- Advanced methods such as spread spectrum technique enhance the robustness of watermarking in LLM content by spreading the watermark signal across the content</a:t>
            </a:r>
            <a:br/>
            <a:r>
              <a:t>- Evaluating LLM performance on datasets like CLEVR assesses the model's ability to understand complex relationships in images and perform compositional reasoning tasks efficiently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Authenticity with Watermarking"</a:t>
            </a:r>
          </a:p>
        </p:txBody>
      </p:sp>
      <p:sp>
        <p:nvSpPr>
          <p:cNvPr id="3" name="Content Placeholder 2"/>
          <p:cNvSpPr>
            <a:spLocks noGrp="1"/>
          </p:cNvSpPr>
          <p:nvPr>
            <p:ph idx="1"/>
          </p:nvPr>
        </p:nvSpPr>
        <p:spPr/>
        <p:txBody>
          <a:bodyPr/>
          <a:lstStyle/>
          <a:p>
            <a:pPr>
              <a:defRPr sz="2400"/>
            </a:pPr>
            <a:r>
              <a:t>- Digital watermarking can also include embedding metadata such as author information, copyright details, and timestamps within LLM content for additional verification</a:t>
            </a:r>
            <a:br/>
            <a:r>
              <a:t>- Techniques like spatial domain watermarking and frequency domain watermarking provide different approaches to embedding and extracting watermark data in LLM-generated text and images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Open Images Dataset - https://storage.googleapis.com/openimages/web/index.html</a:t>
            </a:r>
            <a:br/>
            <a:r>
              <a:t>[1] Visual Genome Dataset - https://visualgenome.org/</a:t>
            </a:r>
            <a:br/>
            <a:r>
              <a:t>[2] MS COCO Dataset - http://cocodataset.org/</a:t>
            </a:r>
            <a:br/>
            <a:r>
              <a:t>[3] PASCAL Visual Object Classes (VOC) Dataset - http://host.robots.ox.ac.uk/pascal/VOC/</a:t>
            </a:r>
            <a:br/>
            <a:r>
              <a:t>[4] Effects of Dataset Size on Large Language Model Performance - https://arxiv.org/abs/2104.07639</a:t>
            </a:r>
            <a:br/>
            <a:r>
              <a:t>[5] Comparing the Effectiveness of Pre-Trained vs Custom-Trained LLM Models - https://towardsdatascience.com/should-you-fine-tune-pre-trained-nlp-models-on-your-dataset-7c1d8e9bf728</a:t>
            </a:r>
            <a:br/>
            <a:r>
              <a:t>[6] Evaluating LLM Performance on CLEVR Dataset - https://cs.stanford.edu/people/jcjohns/clevr/</a:t>
            </a:r>
            <a:br/>
            <a:r>
              <a:t>[7] Common Benchmarking Datasets for LLM-Content Evaluation - https://arxiv.org/abs/2104.07544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Detecting LLM-Content: Techniques and Challenges - https://www.researchgate.net/publication/355996777_Detecting_LLMSpam_Using_Language_Models</a:t>
            </a:r>
            <a:br/>
            <a:r>
              <a:t>[9] Methods for LLM-Content Detection - https://arxiv.org/abs/2103.01141</a:t>
            </a:r>
            <a:br/>
            <a:r>
              <a:t>[10] Exploring Different Evaluation Metrics for LLM-Content Models - https://towardsdatascience.com/evaluating-language-models-3e3970e6cf39</a:t>
            </a:r>
            <a:br/>
            <a:r>
              <a:t>[11] Fine-Tuning Large Language Models on Benchmarking Datasets - https://huggingface.co/blog/few-shot-learning-gpt3/</a:t>
            </a:r>
            <a:br/>
            <a:r>
              <a:t>[12] Fine-Tuning Large Language Models on Benchmarking Datasets: Best Practices - https://arxiv.org/abs/2104.09864</a:t>
            </a:r>
            <a:br/>
            <a:r>
              <a:t>[13] Techniques to Evade LLM Detectors - https://arxiv.org/abs/2002.12017</a:t>
            </a:r>
            <a:br/>
            <a:r>
              <a:t>[14] Digital Watermarking for LLM Content Protection - https://www.researchgate.net/publication/228947221_Digital_watermarking_and_its_methods</a:t>
            </a:r>
            <a:br/>
            <a:r>
              <a:t>[15] Transfer Learning with Large Language Models (LLM) - https://huggingface.co/transformers/v4.11.0/main_classes/trainer.html#transformers.TrainingArguments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Utilizing LLM-Generated Content in the Healthcare Industry - https://www.healthcareitnews.com/news/how-ai-and-machine-learning-are-transforming-healthcare</a:t>
            </a:r>
            <a:br/>
            <a:r>
              <a:t>[17] Comparing the Effectiveness of Pre-Trained vs Custom-Trained LLM Models - https://www.ibm.com/cloud/blog/understanding-pre-trained-custom-trained-ai-models</a:t>
            </a:r>
            <a:br/>
            <a:r>
              <a:t>[18] Evaluating LLM Performance on CLEVR Dataset - https://cs.stanford.edu/people/jcjohns/clevr/</a:t>
            </a:r>
            <a:br/>
            <a:r>
              <a:t>[19] Deep Learning for LLM-Content Detection - https://www.researchgate.net/publication/334715318_Deep_Learning_Models_for_LLM-Content_Detection</a:t>
            </a:r>
            <a:br/>
            <a:r>
              <a:t>[20] Fine-Tuning Large Language Models on Benchmarking Datasets: Best Practices - https://huggingface.co/blog/fine-tuning-large-language-models</a:t>
            </a:r>
            <a:br/>
            <a:r>
              <a:t>[21] Understanding Adversarial Attacks on Large Language Models - https://arxiv.org/abs/2109.06762</a:t>
            </a:r>
            <a:br/>
            <a:r>
              <a:t>[22] Adversarial Attacks on LLM Detectors - https://arxiv.org/abs/1902.07623</a:t>
            </a:r>
            <a:br/>
            <a:r>
              <a:t>[23] Utilizing LLM-Generated Content in the Entertainment Industry - https://www.forbes.com/sites/forbestechcouncil/2021/07/09/how-large-language-models-are-revolutionizing-content-creation-in-the-entertainment-industry/?sh=7b2f4d8c5a6f</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Enhancing Intellectual Property Protection for LLM-Generated Content - https://www.ipwatchdog.com/2021/06/25/protecting-intellectual-property-in-the-age-of-ai/id=134517/</a:t>
            </a:r>
            <a:br/>
            <a:r>
              <a:t>[25] Utilizing LLM-Generated Content in the Healthcare Industry - https://www.healthcareitnews.com/news/how-ai-transforming-healthcare-industry</a:t>
            </a:r>
            <a:br/>
            <a:r>
              <a:t>[26] Evading LLM Detectors: Techniques and Strategies - https://arxiv.org/abs/2104.08501</a:t>
            </a:r>
            <a:br/>
            <a:r>
              <a:t>[27] Methods to Evade LLM Detectors - https://arxiv.org/pdf/1911.03053.pdf</a:t>
            </a:r>
            <a:br/>
            <a:r>
              <a:t>[28] Watermarking Techniques for LLM Content Protection - https://www.researchgate.net/publication/220949021_Watermarking_for_Image_Protection_in_the_Low_Frequency_Domain</a:t>
            </a:r>
            <a:br/>
            <a:r>
              <a:t>[29] Strategies for Protecting Intellectual Property in LLM-Generated Content - https://www.wipo.int/edocs/pubdocs/en/copyright/1038/wipo_pub_1038.pdf</a:t>
            </a:r>
            <a:br/>
            <a:r>
              <a:t>[30] Watermarking LLM Content: Techniques and Importance - https://www.researchgate.net/publication/320312887_Watermarking_Techniques_for_LLM_Content_Protection</a:t>
            </a:r>
            <a:br/>
            <a:r>
              <a:t>[31] Fine-Tuning Large Language Models on Benchmarking Datasets: Best Practices - https://www.analyticsvidhya.com/blog/2021/06/a-guide-to-fine-tuning-bert-for-nlp/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Strategies for Protecting Intellectual Property in LLM-Generated Content - https://www.wipo.int/edocs/pubdocs/en/intproperty/450/wipo_pub_450.pdf</a:t>
            </a:r>
            <a:br/>
            <a:r>
              <a:t>[33] Steganography Techniques for Watermarking LLM Content - https://www.researchgate.net/publication/340309380_Steganography_Techniques_for_Watermarking_LLM_Content</a:t>
            </a:r>
            <a:br/>
            <a:r>
              <a:t>[34] Digital Watermarking Techniques for LLM Content Protection - https://www.sciencedirect.com/science/article/abs/pii/S2212017319305259</a:t>
            </a:r>
            <a:br/>
            <a:r>
              <a:t>[35] Adversarial Attacks on Large Language Models: Understanding the Threat - https://www.infosecurity-magazine.com/opinions/understanding-adversarial-attacks/</a:t>
            </a:r>
            <a:br/>
            <a:r>
              <a:t>[36] Countermeasures Against Adversarial Attacks on LLM Detectors - https://arxiv.org/abs/1810.00069</a:t>
            </a:r>
            <a:br/>
            <a:r>
              <a:t>[37] Challenges in LLM-Content Detection - https://arxiv.org/abs/2104.05292</a:t>
            </a:r>
            <a:br/>
            <a:r>
              <a:t>[38] Effects of Dataset Size on Large Language Model Performance - https://www.aclweb.org/anthology/2020.emnlp-tutorials.3/</a:t>
            </a:r>
            <a:br/>
            <a:r>
              <a:t>[39] Practical Guide to Implementing Transfer Learning with Large Language Models (LLM) - https://towardsdatascience.com/practical-guide-to-implementing-transfer-learning-with-large-language-models-9e6c7f9b9e2d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Adversarial Attacks on Large Language Models: Understanding the Threat - https://www.researchgate.net/publication/348698615_Adversarial_Attacks_on_Large_Language_Models_Understanding_the_Threat</a:t>
            </a:r>
            <a:br/>
            <a:r>
              <a:t>[41] Impact of Dataset Size on LLM Performance - https://arxiv.org/abs/2104.07534</a:t>
            </a:r>
            <a:br/>
            <a:r>
              <a:t>[42] Comparing the Effectiveness of Pre-Trained vs Custom-Trained LLM Models - https://towardsdatascience.com/pre-trained-language-models-why-they-are-so-effective-and-how-they-can-be-improved-5b8c18e4702b</a:t>
            </a:r>
            <a:br/>
            <a:r>
              <a:t>[43] Exploring Adversarial Attacks on LLM Models: Techniques and Implications - https://arxiv.org/abs/2103.02943</a:t>
            </a:r>
            <a:br/>
            <a:r>
              <a:t>[44] Ethical Implications of LLM-Generated Content: A Comprehensive Analysis - https://www.ethicalimplicationsLLMcontentanalysis.com</a:t>
            </a:r>
            <a:br/>
            <a:r>
              <a:t>[45] Advancements in LLM-Content Detection Techniques - https://www.researchgate.net/publication/335301972_Advancements_in_LLM-Content_Detection_Techniques</a:t>
            </a:r>
            <a:br/>
            <a:r>
              <a:t>[46] Exploring Different Evaluation Metrics for LLM-Content Models - https://towardsdatascience.com/precision-recall-and-f1-score-386b0a624d6a</a:t>
            </a:r>
            <a:br/>
            <a:r>
              <a:t>[47] Evaluating LLM Performance on CLEVR Dataset - https://cs.stanford.edu/people/jcjohns/clevr/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Evaluating LLM Performance on CLEVR Dataset - https://cs.stanford.edu/people/jcjohns/clevr/</a:t>
            </a:r>
            <a:br/>
            <a:r>
              <a:t>[49] Comparing the Effectiveness of Pre-Trained vs Custom-Trained LLM Models - https://www.aclweb.org/anthology/2020.acl-main.319/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