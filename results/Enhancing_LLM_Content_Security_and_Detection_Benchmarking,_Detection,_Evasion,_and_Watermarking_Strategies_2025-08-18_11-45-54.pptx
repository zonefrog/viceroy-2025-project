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Enhancing LLM Content Security and Detection: Benchmarking, Detection, Evasion, and Watermarking Strategies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 Evaluation</a:t>
            </a:r>
          </a:p>
        </p:txBody>
      </p:sp>
      <p:sp>
        <p:nvSpPr>
          <p:cNvPr id="3" name="Content Placeholder 2"/>
          <p:cNvSpPr>
            <a:spLocks noGrp="1"/>
          </p:cNvSpPr>
          <p:nvPr>
            <p:ph idx="1"/>
          </p:nvPr>
        </p:nvSpPr>
        <p:spPr/>
        <p:txBody>
          <a:bodyPr/>
          <a:lstStyle/>
          <a:p>
            <a:pPr>
              <a:defRPr sz="1200"/>
            </a:pPr>
            <a:r>
              <a:t>Introduction to Benchmarking Datasets for LLM-Content Evaluation Benchmarking Datasets for LLM Evaluation Content Theme: Benchmarking datasets play a crucial role in evaluating the performance of language models. The General Language Understanding Evaluation (GLUE) benchmark encompasses various natural language understanding tasks like question answering and sentiment analysis...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"GLUE Benchmark Task Overview"</a:t>
            </a:r>
          </a:p>
        </p:txBody>
      </p:sp>
      <p:sp>
        <p:nvSpPr>
          <p:cNvPr id="3" name="Content Placeholder 2"/>
          <p:cNvSpPr>
            <a:spLocks noGrp="1"/>
          </p:cNvSpPr>
          <p:nvPr>
            <p:ph idx="1"/>
          </p:nvPr>
        </p:nvSpPr>
        <p:spPr/>
        <p:txBody>
          <a:bodyPr/>
          <a:lstStyle/>
          <a:p>
            <a:pPr>
              <a:defRPr sz="1200"/>
            </a:pPr>
            <a:r>
              <a:t>Overview of GLUE Benchmark Tasks GLUE Benchmark Task Overview Content Theme: GLUE benchmark tasks cover a wide range of natural language understanding tasks such as question answering, sentiment analysis, and textual entailment. GLUE is considered a standard benchmark for evaluating the performance of language models in various NLP tasks. GLUE provides standardized tasks and evaluation metrics for assessing the capabilities of language models...</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"Significance of Common Crawl Dataset"</a:t>
            </a:r>
          </a:p>
        </p:txBody>
      </p:sp>
      <p:sp>
        <p:nvSpPr>
          <p:cNvPr id="3" name="Content Placeholder 2"/>
          <p:cNvSpPr>
            <a:spLocks noGrp="1"/>
          </p:cNvSpPr>
          <p:nvPr>
            <p:ph idx="1"/>
          </p:nvPr>
        </p:nvSpPr>
        <p:spPr/>
        <p:txBody>
          <a:bodyPr/>
          <a:lstStyle/>
          <a:p>
            <a:pPr>
              <a:defRPr sz="1200"/>
            </a:pPr>
            <a:r>
              <a:t>Significance of Common Crawl Dataset Content Theme: The Common Crawl dataset is an essential resource for benchmarking LLM-content generation models. It contains a vast collection of web data from various sources, enabling comprehensive evaluation of language models. Researchers can use the Common Crawl dataset to train and evaluate language models for various natural language understanding tasks...</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WebNLG Dataset Overview</a:t>
            </a:r>
          </a:p>
        </p:txBody>
      </p:sp>
      <p:sp>
        <p:nvSpPr>
          <p:cNvPr id="3" name="Content Placeholder 2"/>
          <p:cNvSpPr>
            <a:spLocks noGrp="1"/>
          </p:cNvSpPr>
          <p:nvPr>
            <p:ph idx="1"/>
          </p:nvPr>
        </p:nvSpPr>
        <p:spPr/>
        <p:txBody>
          <a:bodyPr/>
          <a:lstStyle/>
          <a:p>
            <a:pPr>
              <a:defRPr sz="1200"/>
            </a:pPr>
            <a:r>
              <a:t>Content Theme: The WebNLG benchmarking dataset is designed for evaluating natural language generation systems. It consists of web data converted into natural language descriptions for testing NLG models. Researchers use this dataset to assess the performance of NLG models in generating human-like text from structured data. The WebNLG dataset offers structured data converted into natural language descriptions for testing NLG models...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GLUE Benchmark Tasks</a:t>
            </a:r>
          </a:p>
        </p:txBody>
      </p:sp>
      <p:sp>
        <p:nvSpPr>
          <p:cNvPr id="3" name="Content Placeholder 2"/>
          <p:cNvSpPr>
            <a:spLocks noGrp="1"/>
          </p:cNvSpPr>
          <p:nvPr>
            <p:ph idx="1"/>
          </p:nvPr>
        </p:nvSpPr>
        <p:spPr/>
        <p:txBody>
          <a:bodyPr/>
          <a:lstStyle/>
          <a:p>
            <a:pPr>
              <a:defRPr sz="1200"/>
            </a:pPr>
            <a:r>
              <a:t>Analyzing GLUE Benchmark Tasks Content Theme: GLUE benchmark tasks cover diverse natural language understanding tasks such as question answering, sentiment analysis, and textual entailment. GLUE is a standard benchmark for evaluating language model performance across various NLP tasks. By participating in GLUE benchmark tasks, researchers can compare different language models' effectiveness in handling a range of language understanding tasks...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Common Crawl Dataset"</a:t>
            </a:r>
          </a:p>
        </p:txBody>
      </p:sp>
      <p:sp>
        <p:nvSpPr>
          <p:cNvPr id="3" name="Content Placeholder 2"/>
          <p:cNvSpPr>
            <a:spLocks noGrp="1"/>
          </p:cNvSpPr>
          <p:nvPr>
            <p:ph idx="1"/>
          </p:nvPr>
        </p:nvSpPr>
        <p:spPr/>
        <p:txBody>
          <a:bodyPr/>
          <a:lstStyle/>
          <a:p>
            <a:pPr>
              <a:defRPr sz="1200"/>
            </a:pPr>
            <a:r>
              <a:t>Exploring Common Crawl Dataset Content Theme: The Common Crawl dataset offers a vast collection of web data for evaluating language models. Researchers can use the Common Crawl dataset to train and assess language models for various natural language understanding tasks. Accessing the Common Crawl dataset can help researchers compare different language models in handling diverse language generation tasks...</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WebNLG Dataset Applications</a:t>
            </a:r>
          </a:p>
        </p:txBody>
      </p:sp>
      <p:sp>
        <p:nvSpPr>
          <p:cNvPr id="3" name="Content Placeholder 2"/>
          <p:cNvSpPr>
            <a:spLocks noGrp="1"/>
          </p:cNvSpPr>
          <p:nvPr>
            <p:ph idx="1"/>
          </p:nvPr>
        </p:nvSpPr>
        <p:spPr/>
        <p:txBody>
          <a:bodyPr/>
          <a:lstStyle/>
          <a:p>
            <a:pPr>
              <a:defRPr sz="2400"/>
            </a:pPr>
            <a:r>
              <a:t>WebNLG Dataset Applications Content Theme: The WebNLG benchmarking dataset is designed for evaluating natural language generation systems. It consists of web data converted into natural language descriptions for testing NLG models. Researchers use this dataset to assess the performance of NLG models in generating human-like text from structured data...</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Benchmarking Datasets"</a:t>
            </a:r>
          </a:p>
        </p:txBody>
      </p:sp>
      <p:sp>
        <p:nvSpPr>
          <p:cNvPr id="3" name="Content Placeholder 2"/>
          <p:cNvSpPr>
            <a:spLocks noGrp="1"/>
          </p:cNvSpPr>
          <p:nvPr>
            <p:ph idx="1"/>
          </p:nvPr>
        </p:nvSpPr>
        <p:spPr/>
        <p:txBody>
          <a:bodyPr/>
          <a:lstStyle/>
          <a:p>
            <a:pPr>
              <a:defRPr sz="1200"/>
            </a:pPr>
            <a:r>
              <a:t>Significance of Benchmarking Datasets Importance of Benchmarking Datasets Content Theme: Benchmarking datasets play a crucial role in evaluating the performance of language models. The GLUE benchmark tasks encompass a wide range of natural language understanding tasks, including question answering and sentiment analysis. The Common Crawl dataset offers a vast collection of web data for comprehensive evaluation of language models...</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Statistical Analysis for Content Detection</a:t>
            </a:r>
          </a:p>
        </p:txBody>
      </p:sp>
      <p:sp>
        <p:nvSpPr>
          <p:cNvPr id="3" name="Content Placeholder 2"/>
          <p:cNvSpPr>
            <a:spLocks noGrp="1"/>
          </p:cNvSpPr>
          <p:nvPr>
            <p:ph idx="1"/>
          </p:nvPr>
        </p:nvSpPr>
        <p:spPr/>
        <p:txBody>
          <a:bodyPr/>
          <a:lstStyle/>
          <a:p>
            <a:pPr>
              <a:defRPr sz="1200"/>
            </a:pPr>
            <a:r>
              <a:t>Statistical Analysis for Content Detection Content Theme: Statistical analysis plays a crucial role in detecting language model generated content. It involves analyzing patterns in the text to identify machine-generated content. Statistical analysis can help in distinguishing between human and AI-generated text. By utilizing statistical techniques, researchers can improve the accuracy of content detection systems...</a:t>
            </a:r>
            <a:br/>
            <a:br/>
            <a:r>
              <a:t>Sources: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"Utilizing Statistical Patterns for Content Detection"</a:t>
            </a:r>
          </a:p>
        </p:txBody>
      </p:sp>
      <p:sp>
        <p:nvSpPr>
          <p:cNvPr id="3" name="Content Placeholder 2"/>
          <p:cNvSpPr>
            <a:spLocks noGrp="1"/>
          </p:cNvSpPr>
          <p:nvPr>
            <p:ph idx="1"/>
          </p:nvPr>
        </p:nvSpPr>
        <p:spPr/>
        <p:txBody>
          <a:bodyPr/>
          <a:lstStyle/>
          <a:p>
            <a:pPr>
              <a:defRPr sz="1200"/>
            </a:pPr>
            <a:r>
              <a:t>Utilizing Statistical Patterns for Content Detection Content Theme: Statistical patterns are crucial for detecting language model generated content Analyzing patterns in text helps identify machine-generated content Statistical analysis aids in distinguishing between human and AI-generated text Utilizing statistical techniques can enhance the accuracy of content detection systems Teaching Outline Context: Weekly Module Structure: Week 1: LLM-Cont...</a:t>
            </a:r>
            <a:br/>
            <a:br/>
            <a:r>
              <a:t>Sources: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AI-Generated Content with Linguistic Analysis</a:t>
            </a:r>
          </a:p>
        </p:txBody>
      </p:sp>
      <p:sp>
        <p:nvSpPr>
          <p:cNvPr id="3" name="Content Placeholder 2"/>
          <p:cNvSpPr>
            <a:spLocks noGrp="1"/>
          </p:cNvSpPr>
          <p:nvPr>
            <p:ph idx="1"/>
          </p:nvPr>
        </p:nvSpPr>
        <p:spPr/>
        <p:txBody>
          <a:bodyPr/>
          <a:lstStyle/>
          <a:p>
            <a:pPr>
              <a:defRPr sz="2400"/>
            </a:pPr>
            <a:r>
              <a:t>Linguistic Analysis Techniques for Detection Detecting AI-Generated Content with Linguistic Analysis Content Theme: Linguistic analysis techniques involve examining patterns in text to detect machine-generated content. Examples of linguistic analysis techniques include analyzing word usage patterns, sentence structure, and syntactic features...</a:t>
            </a:r>
            <a:br/>
            <a:br/>
            <a:r>
              <a:t>Sources: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"Linguistic Analysis for AI Content Detection"</a:t>
            </a:r>
          </a:p>
        </p:txBody>
      </p:sp>
      <p:sp>
        <p:nvSpPr>
          <p:cNvPr id="3" name="Content Placeholder 2"/>
          <p:cNvSpPr>
            <a:spLocks noGrp="1"/>
          </p:cNvSpPr>
          <p:nvPr>
            <p:ph idx="1"/>
          </p:nvPr>
        </p:nvSpPr>
        <p:spPr/>
        <p:txBody>
          <a:bodyPr/>
          <a:lstStyle/>
          <a:p>
            <a:pPr>
              <a:defRPr sz="1200"/>
            </a:pPr>
            <a:r>
              <a:t>Applying Linguistic Analysis Linguistic Analysis for AI Content Detection Content Theme: Analyzing linguistic patterns in text is crucial for detecting machine-generated content Linguistic analysis techniques include examining word usage patterns, sentence structure, and syntactic features By utilizing linguistic analysis, researchers can distinguish between human and AI-generated text Applying linguistic analysis can enhance the effectiveness of...</a:t>
            </a:r>
            <a:br/>
            <a:br/>
            <a:r>
              <a:t>Sources: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Behavioral Analysis in Content Detection</a:t>
            </a:r>
          </a:p>
        </p:txBody>
      </p:sp>
      <p:sp>
        <p:nvSpPr>
          <p:cNvPr id="3" name="Content Placeholder 2"/>
          <p:cNvSpPr>
            <a:spLocks noGrp="1"/>
          </p:cNvSpPr>
          <p:nvPr>
            <p:ph idx="1"/>
          </p:nvPr>
        </p:nvSpPr>
        <p:spPr/>
        <p:txBody>
          <a:bodyPr/>
          <a:lstStyle/>
          <a:p>
            <a:pPr>
              <a:defRPr sz="1200"/>
            </a:pPr>
            <a:r>
              <a:t>Behavioral Analysis in Content Detection Content Theme: Behavioral analysis approaches in detection focus on analyzing how the content was produced, such as the speed of generation or specific patterns in the output. By examining the behavior of language models during content generation, researchers can identify unique characteristics that distinguish human-generated text from AI-generated text...</a:t>
            </a:r>
            <a:br/>
            <a:br/>
            <a:r>
              <a:t>Sources: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Behavioral Patterns in Content Generation"</a:t>
            </a:r>
          </a:p>
        </p:txBody>
      </p:sp>
      <p:sp>
        <p:nvSpPr>
          <p:cNvPr id="3" name="Content Placeholder 2"/>
          <p:cNvSpPr>
            <a:spLocks noGrp="1"/>
          </p:cNvSpPr>
          <p:nvPr>
            <p:ph idx="1"/>
          </p:nvPr>
        </p:nvSpPr>
        <p:spPr/>
        <p:txBody>
          <a:bodyPr/>
          <a:lstStyle/>
          <a:p>
            <a:pPr>
              <a:defRPr sz="1200"/>
            </a:pPr>
            <a:r>
              <a:t>Examining Behavioral Patterns Analyzing Behavioral Patterns in Content Generation Content Theme: Behavioral analysis approaches in content detection focus on examining how the content was produced, such as the speed of generation or specific patterns in the output. By studying the behavior of language models during content generation, researchers can identify unique characteristics that differentiate human-generated text from AI-generated text...</a:t>
            </a:r>
            <a:br/>
            <a:br/>
            <a:r>
              <a:t>Sources: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Machine-Generated Content: Methods Overview</a:t>
            </a:r>
          </a:p>
        </p:txBody>
      </p:sp>
      <p:sp>
        <p:nvSpPr>
          <p:cNvPr id="3" name="Content Placeholder 2"/>
          <p:cNvSpPr>
            <a:spLocks noGrp="1"/>
          </p:cNvSpPr>
          <p:nvPr>
            <p:ph idx="1"/>
          </p:nvPr>
        </p:nvSpPr>
        <p:spPr/>
        <p:txBody>
          <a:bodyPr/>
          <a:lstStyle/>
          <a:p>
            <a:pPr>
              <a:defRPr sz="1200"/>
            </a:pPr>
            <a:r>
              <a:t>Methods to Detect Machine-Generated Content Detecting Machine-Generated Methods Overview Content Theme: GLUE benchmark tasks offer standardized evaluation metrics for language models Common Crawl dataset provides a vast collection of web data for benchmarking LLMs WebNLG dataset offers practical examples for evaluating language model content generation Benchmarking datasets play a crucial role in assessing the performance of language models Teach...</a:t>
            </a:r>
            <a:br/>
            <a:br/>
            <a:r>
              <a:t>Sources: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Evasion Attacks on Language Models"</a:t>
            </a:r>
          </a:p>
        </p:txBody>
      </p:sp>
      <p:sp>
        <p:nvSpPr>
          <p:cNvPr id="3" name="Content Placeholder 2"/>
          <p:cNvSpPr>
            <a:spLocks noGrp="1"/>
          </p:cNvSpPr>
          <p:nvPr>
            <p:ph idx="1"/>
          </p:nvPr>
        </p:nvSpPr>
        <p:spPr/>
        <p:txBody>
          <a:bodyPr/>
          <a:lstStyle/>
          <a:p>
            <a:pPr>
              <a:defRPr sz="1200"/>
            </a:pPr>
            <a:r>
              <a:t>Challenges in Detecting LLM-Content "Defending Against Evasion Attacks on Language Models" Content Theme: Evasion attacks on language model content detectors aim to manipulate the output to evade detection. Techniques include adding noise, changing wording, introducing errors, or mixing in legitimate text. Adversaries exploit vulnerabilities in detection algorithms to deceive detectors...</a:t>
            </a:r>
            <a:br/>
            <a:br/>
            <a:r>
              <a:t>Sources: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Advanced Detection Techniques for AI-Generated Content</a:t>
            </a:r>
          </a:p>
        </p:txBody>
      </p:sp>
      <p:sp>
        <p:nvSpPr>
          <p:cNvPr id="3" name="Content Placeholder 2"/>
          <p:cNvSpPr>
            <a:spLocks noGrp="1"/>
          </p:cNvSpPr>
          <p:nvPr>
            <p:ph idx="1"/>
          </p:nvPr>
        </p:nvSpPr>
        <p:spPr/>
        <p:txBody>
          <a:bodyPr/>
          <a:lstStyle/>
          <a:p>
            <a:pPr>
              <a:defRPr sz="1200"/>
            </a:pPr>
            <a:r>
              <a:t>Advanced Detection Techniques for AI-Generated Content Advanced Detection Methods - Incorporating statistical, linguistic, and behavioral analysis for robust detection - Utilizing text coherence analysis to identify semantic inconsistencies - Implementing machine learning algorithms for classification in detection - Continuous development of new techniques to enhance accuracy in detecting AI-generated content Teaching Outline Context: Weekly Modu...</a:t>
            </a:r>
            <a:br/>
            <a:br/>
            <a:r>
              <a:t>Sources: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"Statistical Tools for LLM Content Analysis"</a:t>
            </a:r>
          </a:p>
        </p:txBody>
      </p:sp>
      <p:sp>
        <p:nvSpPr>
          <p:cNvPr id="3" name="Content Placeholder 2"/>
          <p:cNvSpPr>
            <a:spLocks noGrp="1"/>
          </p:cNvSpPr>
          <p:nvPr>
            <p:ph idx="1"/>
          </p:nvPr>
        </p:nvSpPr>
        <p:spPr/>
        <p:txBody>
          <a:bodyPr/>
          <a:lstStyle/>
          <a:p>
            <a:pPr>
              <a:defRPr sz="1200"/>
            </a:pPr>
            <a:r>
              <a:t>Implementing Statistical Analysis "Statistical Tools for LLM Content Analysis" Content Theme: Implementing Statistical Analysis - Statistical analysis involves using mathematical techniques to analyze data and draw meaningful conclusions. - In the context of LLM-content detection, statistical analysis can help identify patterns, anomalies, and trends in the generated text...</a:t>
            </a:r>
            <a:br/>
            <a:br/>
            <a:r>
              <a:t>Sources: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Linguistic Analysis for AI Content Detection</a:t>
            </a:r>
          </a:p>
        </p:txBody>
      </p:sp>
      <p:sp>
        <p:nvSpPr>
          <p:cNvPr id="3" name="Content Placeholder 2"/>
          <p:cNvSpPr>
            <a:spLocks noGrp="1"/>
          </p:cNvSpPr>
          <p:nvPr>
            <p:ph idx="1"/>
          </p:nvPr>
        </p:nvSpPr>
        <p:spPr/>
        <p:txBody>
          <a:bodyPr/>
          <a:lstStyle/>
          <a:p>
            <a:pPr>
              <a:defRPr sz="2400"/>
            </a:pPr>
            <a:r>
              <a:t>Implementing Linguistic Analysis Linguistic Analysis for AI Content Detection Content Theme: Implementing Linguistic Analysis - Utilize linguistic analysis techniques to evaluate the structure and patterns of language model generated content. - Identify linguistic markers or indicators that distinguish human-generated text from AI-generated text...</a:t>
            </a:r>
            <a:br/>
            <a:br/>
            <a:r>
              <a:t>Sources: [18]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Behavioral Patterns in LLM Content</a:t>
            </a:r>
          </a:p>
        </p:txBody>
      </p:sp>
      <p:sp>
        <p:nvSpPr>
          <p:cNvPr id="3" name="Content Placeholder 2"/>
          <p:cNvSpPr>
            <a:spLocks noGrp="1"/>
          </p:cNvSpPr>
          <p:nvPr>
            <p:ph idx="1"/>
          </p:nvPr>
        </p:nvSpPr>
        <p:spPr/>
        <p:txBody>
          <a:bodyPr/>
          <a:lstStyle/>
          <a:p>
            <a:pPr>
              <a:defRPr sz="1200"/>
            </a:pPr>
            <a:r>
              <a:t>Implementing Behavioral Analysis Analyzing Behavioral Patterns in LLM Content Content Theme: Implementing Behavioral Analysis: - Utilize behavioral analysis techniques to assess the behavior and patterns of language model outputs. - Identify unique behavioral characteristics that distinguish AI-generated content from human-generated content. - Practical application: analyzing response patterns, topic shifts, and coherence in LLM-generated text...</a:t>
            </a:r>
            <a:br/>
            <a:br/>
            <a:r>
              <a:t>Sources: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Robustness with Adversarial Training</a:t>
            </a:r>
          </a:p>
        </p:txBody>
      </p:sp>
      <p:sp>
        <p:nvSpPr>
          <p:cNvPr id="3" name="Content Placeholder 2"/>
          <p:cNvSpPr>
            <a:spLocks noGrp="1"/>
          </p:cNvSpPr>
          <p:nvPr>
            <p:ph idx="1"/>
          </p:nvPr>
        </p:nvSpPr>
        <p:spPr/>
        <p:txBody>
          <a:bodyPr/>
          <a:lstStyle/>
          <a:p>
            <a:pPr>
              <a:defRPr sz="1200"/>
            </a:pPr>
            <a:r>
              <a:t>Adversarial Training for Robustness Enhancing LLM Robustness with Adversarial Training Content Theme: Adversarial training is a technique to enhance the robustness of language models against detection methods. Training the model on adversarial examples helps it generate content that is harder to detect. Adversarial training improves the effectiveness of LLM-content detection systems by making them more resilient to evasion techniques...</a:t>
            </a:r>
            <a:br/>
            <a:br/>
            <a:r>
              <a:t>Sources: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Robustness with Adversarial Training</a:t>
            </a:r>
          </a:p>
        </p:txBody>
      </p:sp>
      <p:sp>
        <p:nvSpPr>
          <p:cNvPr id="3" name="Content Placeholder 2"/>
          <p:cNvSpPr>
            <a:spLocks noGrp="1"/>
          </p:cNvSpPr>
          <p:nvPr>
            <p:ph idx="1"/>
          </p:nvPr>
        </p:nvSpPr>
        <p:spPr/>
        <p:txBody>
          <a:bodyPr/>
          <a:lstStyle/>
          <a:p>
            <a:pPr>
              <a:defRPr sz="1200"/>
            </a:pPr>
            <a:r>
              <a:t>Training Models on Adversarial Examples Enhancing LLM Robustness with Adversarial Training Content Theme: Adversarial training enhances the robustness of language models against detection methods. Training on adversarial examples helps models generate content that is harder to detect. Adversarial training improves the effectiveness of LLM-content detection systems by making them more resilient to evasion techniques...</a:t>
            </a:r>
            <a:br/>
            <a:br/>
            <a:r>
              <a:t>Sources: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Evade Content Detectors</a:t>
            </a:r>
          </a:p>
        </p:txBody>
      </p:sp>
      <p:sp>
        <p:nvSpPr>
          <p:cNvPr id="3" name="Content Placeholder 2"/>
          <p:cNvSpPr>
            <a:spLocks noGrp="1"/>
          </p:cNvSpPr>
          <p:nvPr>
            <p:ph idx="1"/>
          </p:nvPr>
        </p:nvSpPr>
        <p:spPr/>
        <p:txBody>
          <a:bodyPr/>
          <a:lstStyle/>
          <a:p>
            <a:pPr>
              <a:defRPr sz="2400"/>
            </a:pPr>
            <a:r>
              <a:t>Techniques to Evade Content Detectors Strategies to Evade Content Detectors Content Theme: Techniques to evade content detectors include using synonyms or paraphrasing to change the wording of generated content. Incorporating irrelevant or nonsensical text can confuse detectors and make detection more challenging...</a:t>
            </a:r>
            <a:br/>
            <a:br/>
            <a:r>
              <a:t>Sources: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Strategies with Random Text"</a:t>
            </a:r>
          </a:p>
        </p:txBody>
      </p:sp>
      <p:sp>
        <p:nvSpPr>
          <p:cNvPr id="3" name="Content Placeholder 2"/>
          <p:cNvSpPr>
            <a:spLocks noGrp="1"/>
          </p:cNvSpPr>
          <p:nvPr>
            <p:ph idx="1"/>
          </p:nvPr>
        </p:nvSpPr>
        <p:spPr/>
        <p:txBody>
          <a:bodyPr/>
          <a:lstStyle/>
          <a:p>
            <a:pPr>
              <a:defRPr sz="1200"/>
            </a:pPr>
            <a:r>
              <a:t>Evasion Strategies with Random Text Content Theme: Adding random text for evasion can confuse detectors by introducing irrelevant or nonsensical content. Including spelling or grammatical errors, mixing in legitimate text from other sources, or adjusting content length are evasion strategies. Random noise, synonyms, or paraphrasing can be used to change the wording of generated content and evade detection...</a:t>
            </a:r>
            <a:br/>
            <a:br/>
            <a:r>
              <a:t>Sources: [23]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Tactics for LLM Content Detection</a:t>
            </a:r>
          </a:p>
        </p:txBody>
      </p:sp>
      <p:sp>
        <p:nvSpPr>
          <p:cNvPr id="3" name="Content Placeholder 2"/>
          <p:cNvSpPr>
            <a:spLocks noGrp="1"/>
          </p:cNvSpPr>
          <p:nvPr>
            <p:ph idx="1"/>
          </p:nvPr>
        </p:nvSpPr>
        <p:spPr/>
        <p:txBody>
          <a:bodyPr/>
          <a:lstStyle/>
          <a:p>
            <a:pPr>
              <a:defRPr sz="2400"/>
            </a:pPr>
            <a:r>
              <a:t>Evasion Tactics for LLM Content Detection Content Theme: Breaking up content for evasion involves strategies like using synonyms or paraphrasing to change the wording of generated text. Incorporating irrelevant or nonsensical text can confuse detectors and make detection more challenging...</a:t>
            </a:r>
            <a:br/>
            <a:br/>
            <a:r>
              <a:t>Sources: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Adversarial Examples to Evade Content Detectors</a:t>
            </a:r>
          </a:p>
        </p:txBody>
      </p:sp>
      <p:sp>
        <p:nvSpPr>
          <p:cNvPr id="3" name="Content Placeholder 2"/>
          <p:cNvSpPr>
            <a:spLocks noGrp="1"/>
          </p:cNvSpPr>
          <p:nvPr>
            <p:ph idx="1"/>
          </p:nvPr>
        </p:nvSpPr>
        <p:spPr/>
        <p:txBody>
          <a:bodyPr/>
          <a:lstStyle/>
          <a:p>
            <a:pPr>
              <a:defRPr sz="1200"/>
            </a:pPr>
            <a:r>
              <a:t>Adversarial Attacks on Detectors Crafting Adversarial Examples to Evade Content Detectors Content Theme: Adversarial attacks on language model content detectors involve crafting input data to deceive detectors into misclassifying generated content. Techniques like adding small perturbations or using gradient-based optimization can create adversarial examples that evade detection...</a:t>
            </a:r>
            <a:br/>
            <a:br/>
            <a:r>
              <a:t>Sources: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Inputs for Evasion Techniques</a:t>
            </a:r>
          </a:p>
        </p:txBody>
      </p:sp>
      <p:sp>
        <p:nvSpPr>
          <p:cNvPr id="3" name="Content Placeholder 2"/>
          <p:cNvSpPr>
            <a:spLocks noGrp="1"/>
          </p:cNvSpPr>
          <p:nvPr>
            <p:ph idx="1"/>
          </p:nvPr>
        </p:nvSpPr>
        <p:spPr/>
        <p:txBody>
          <a:bodyPr/>
          <a:lstStyle/>
          <a:p>
            <a:pPr>
              <a:defRPr sz="1200"/>
            </a:pPr>
            <a:r>
              <a:t>Crafting Inputs for Evasion Techniques Content Theme: Evasion attacks on language model content detectors involve manipulating input data to deceive detectors into misclassifying generated content. Adversarial examples, carefully crafted inputs designed to fool detectors, are commonly used in evasion attacks. Attack techniques may include adding noise, inserting trigger words, or modifying content structure to evade detection...</a:t>
            </a:r>
            <a:br/>
            <a:br/>
            <a:r>
              <a:t>Sources: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Strategies in LLM Content Detection</a:t>
            </a:r>
          </a:p>
        </p:txBody>
      </p:sp>
      <p:sp>
        <p:nvSpPr>
          <p:cNvPr id="3" name="Content Placeholder 2"/>
          <p:cNvSpPr>
            <a:spLocks noGrp="1"/>
          </p:cNvSpPr>
          <p:nvPr>
            <p:ph idx="1"/>
          </p:nvPr>
        </p:nvSpPr>
        <p:spPr/>
        <p:txBody>
          <a:bodyPr/>
          <a:lstStyle/>
          <a:p>
            <a:pPr>
              <a:defRPr sz="1200"/>
            </a:pPr>
            <a:r>
              <a:t>Challenges and Strategies for Evasion Evasion Strategies in LLM Content Detection Content Theme: Challenges in evading language model content detectors: - Sophistication of detection algorithms - Ability of detectors to adapt to evasion strategies - Difficulty in maintaining content quality while evading detection Strategies for evading content detectors: - Using advanced synonym or paraphrasing techniques - Incorporating nonsensical or irrelevan...</a:t>
            </a:r>
            <a:br/>
            <a:br/>
            <a:r>
              <a:t>Sources: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Adversarial Examples for Robust Content Detection"</a:t>
            </a:r>
          </a:p>
        </p:txBody>
      </p:sp>
      <p:sp>
        <p:nvSpPr>
          <p:cNvPr id="3" name="Content Placeholder 2"/>
          <p:cNvSpPr>
            <a:spLocks noGrp="1"/>
          </p:cNvSpPr>
          <p:nvPr>
            <p:ph idx="1"/>
          </p:nvPr>
        </p:nvSpPr>
        <p:spPr/>
        <p:txBody>
          <a:bodyPr/>
          <a:lstStyle/>
          <a:p>
            <a:pPr>
              <a:defRPr sz="2400"/>
            </a:pPr>
            <a:r>
              <a:t>Crafting Adversarial Examples for Robust Content Detection Content Theme: Adversarial training enhances language models' robustness against detection methods by training on adversarial examples. Crafting adversarial examples helps language models generate content that is harder to detect, improving detection system effectiveness...</a:t>
            </a:r>
            <a:br/>
            <a:br/>
            <a:r>
              <a:t>Sources: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Detector Resilience to Evasion Strategies</a:t>
            </a:r>
          </a:p>
        </p:txBody>
      </p:sp>
      <p:sp>
        <p:nvSpPr>
          <p:cNvPr id="3" name="Content Placeholder 2"/>
          <p:cNvSpPr>
            <a:spLocks noGrp="1"/>
          </p:cNvSpPr>
          <p:nvPr>
            <p:ph idx="1"/>
          </p:nvPr>
        </p:nvSpPr>
        <p:spPr/>
        <p:txBody>
          <a:bodyPr/>
          <a:lstStyle/>
          <a:p>
            <a:pPr>
              <a:defRPr sz="1200"/>
            </a:pPr>
            <a:r>
              <a:t>Testing Detector Robustness Assessing Detector Resilience to Evasion Strategies Content Theme: Testing Detector Robustness: - Evaluate the ability of content detectors to withstand evasion strategies - Assess the effectiveness of detection algorithms against adversarial attacks - Measure the robustness of detectors in identifying manipulated content Importance of Robust Detection: - Safeguarding against malicious attempts to evade detection - Enh...</a:t>
            </a:r>
            <a:br/>
            <a:br/>
            <a:r>
              <a:t>Sources: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Security with Watermarking"</a:t>
            </a:r>
          </a:p>
        </p:txBody>
      </p:sp>
      <p:sp>
        <p:nvSpPr>
          <p:cNvPr id="3" name="Content Placeholder 2"/>
          <p:cNvSpPr>
            <a:spLocks noGrp="1"/>
          </p:cNvSpPr>
          <p:nvPr>
            <p:ph idx="1"/>
          </p:nvPr>
        </p:nvSpPr>
        <p:spPr/>
        <p:txBody>
          <a:bodyPr/>
          <a:lstStyle/>
          <a:p>
            <a:pPr>
              <a:defRPr sz="1200"/>
            </a:pPr>
            <a:r>
              <a:t>Watermarking Techniques for LLM Content "Enhancing LLM Content Security with Watermarking" Content Theme: Watermarking LLM content involves embedding unique identifiers or signatures to verify authenticity and ownership. Techniques include visible, invisible, and semi-visible watermarking with strengths and weaknesses. Challenges include maintaining text quality, robustness against attacks, and scalability for large datasets...</a:t>
            </a:r>
            <a:br/>
            <a:br/>
            <a:r>
              <a:t>Sources: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with Digital Watermarking"</a:t>
            </a:r>
          </a:p>
        </p:txBody>
      </p:sp>
      <p:sp>
        <p:nvSpPr>
          <p:cNvPr id="3" name="Content Placeholder 2"/>
          <p:cNvSpPr>
            <a:spLocks noGrp="1"/>
          </p:cNvSpPr>
          <p:nvPr>
            <p:ph idx="1"/>
          </p:nvPr>
        </p:nvSpPr>
        <p:spPr/>
        <p:txBody>
          <a:bodyPr/>
          <a:lstStyle/>
          <a:p>
            <a:pPr>
              <a:defRPr sz="2400"/>
            </a:pPr>
            <a:r>
              <a:t>Embedding Unique Identifiers Protecting LLM Content with Digital Watermarking Content Theme: Embedding unique identifiers in LLM content helps verify authenticity and ownership. Techniques include digital watermarking to add signatures or identifiers imperceptibly. Watermarking can protect intellectual property rights and track unauthorized use of content...</a:t>
            </a:r>
            <a:br/>
            <a:br/>
            <a:r>
              <a:t>Sources: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Watermarking Challenges</a:t>
            </a:r>
          </a:p>
        </p:txBody>
      </p:sp>
      <p:sp>
        <p:nvSpPr>
          <p:cNvPr id="3" name="Content Placeholder 2"/>
          <p:cNvSpPr>
            <a:spLocks noGrp="1"/>
          </p:cNvSpPr>
          <p:nvPr>
            <p:ph idx="1"/>
          </p:nvPr>
        </p:nvSpPr>
        <p:spPr/>
        <p:txBody>
          <a:bodyPr/>
          <a:lstStyle/>
          <a:p>
            <a:pPr>
              <a:defRPr sz="1200"/>
            </a:pPr>
            <a:r>
              <a:t>Addressing Watermarking Challenges Addressing Watermarking Challenges Content Theme: Watermarking LLM content involves embedding imperceptible identifiers to protect intellectual property and track unauthorized use. Techniques include visible, invisible, and semi-visible watermarking, each with strengths and weaknesses. Challenges include maintaining text quality, robustness against attacks, and scalability for large datasets...</a:t>
            </a:r>
            <a:br/>
            <a:br/>
            <a:r>
              <a:t>Sources: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"Visibility and Robustness in Watermarking"</a:t>
            </a:r>
          </a:p>
        </p:txBody>
      </p:sp>
      <p:sp>
        <p:nvSpPr>
          <p:cNvPr id="3" name="Content Placeholder 2"/>
          <p:cNvSpPr>
            <a:spLocks noGrp="1"/>
          </p:cNvSpPr>
          <p:nvPr>
            <p:ph idx="1"/>
          </p:nvPr>
        </p:nvSpPr>
        <p:spPr/>
        <p:txBody>
          <a:bodyPr/>
          <a:lstStyle/>
          <a:p>
            <a:pPr>
              <a:defRPr sz="2400"/>
            </a:pPr>
            <a:r>
              <a:t>Visibility and Robustness in Watermarking Visibility and Robustness in Watermarking Content Theme: Visibility in watermarking refers to the perceptibility of the embedded identifiers in LLM content. Robustness in watermarking ensures that the identifiers remain intact and detectable despite potential attacks or modifications...</a:t>
            </a:r>
            <a:br/>
            <a:br/>
            <a:r>
              <a:t>Sources: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Security with Watermarking</a:t>
            </a:r>
          </a:p>
        </p:txBody>
      </p:sp>
      <p:sp>
        <p:nvSpPr>
          <p:cNvPr id="3" name="Content Placeholder 2"/>
          <p:cNvSpPr>
            <a:spLocks noGrp="1"/>
          </p:cNvSpPr>
          <p:nvPr>
            <p:ph idx="1"/>
          </p:nvPr>
        </p:nvSpPr>
        <p:spPr/>
        <p:txBody>
          <a:bodyPr/>
          <a:lstStyle/>
          <a:p>
            <a:pPr>
              <a:defRPr sz="1200"/>
            </a:pPr>
            <a:r>
              <a:t>Applications of Watermarking in LLM Content Enhancing LLM Content Security with Watermarking Content Theme: Watermarking LLM content enhances content protection and ownership verification Techniques like visible, invisible, and semi-visible watermarking offer different strengths and weaknesses Challenges include maintaining text quality, resilience against attacks, and scalability for large datasets Watermarking helps track unauthorized use of co...</a:t>
            </a:r>
            <a:br/>
            <a:br/>
            <a:r>
              <a:t>Sources: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Intellectual Property with Watermarking"</a:t>
            </a:r>
          </a:p>
        </p:txBody>
      </p:sp>
      <p:sp>
        <p:nvSpPr>
          <p:cNvPr id="3" name="Content Placeholder 2"/>
          <p:cNvSpPr>
            <a:spLocks noGrp="1"/>
          </p:cNvSpPr>
          <p:nvPr>
            <p:ph idx="1"/>
          </p:nvPr>
        </p:nvSpPr>
        <p:spPr/>
        <p:txBody>
          <a:bodyPr/>
          <a:lstStyle/>
          <a:p>
            <a:pPr>
              <a:defRPr sz="1200"/>
            </a:pPr>
            <a:r>
              <a:t>Protecting Intellectual Property with Watermarking Content Theme: Protecting Intellectual Property: - Implementing watermarking techniques to embed unique identifiers for authenticity and ownership verification. - Ensuring text quality, robustness against attacks, and scalability for large datasets. - Tracking unauthorized use or distribution of content to safeguard intellectual property rights...</a:t>
            </a:r>
            <a:br/>
            <a:br/>
            <a:r>
              <a:t>Sources: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Security with Watermarking"</a:t>
            </a:r>
          </a:p>
        </p:txBody>
      </p:sp>
      <p:sp>
        <p:nvSpPr>
          <p:cNvPr id="3" name="Content Placeholder 2"/>
          <p:cNvSpPr>
            <a:spLocks noGrp="1"/>
          </p:cNvSpPr>
          <p:nvPr>
            <p:ph idx="1"/>
          </p:nvPr>
        </p:nvSpPr>
        <p:spPr/>
        <p:txBody>
          <a:bodyPr/>
          <a:lstStyle/>
          <a:p>
            <a:pPr>
              <a:defRPr sz="1200"/>
            </a:pPr>
            <a:r>
              <a:t>Digital Watermarking in LLM Content Enhancing LLM Content Security with Watermarking Content Theme: Digital watermarking adds imperceptible identifiers to LLM content for protection Techniques include spatial domain, frequency domain, and spread spectrum watermarking Watermarking helps detect unauthorized use and ensure content ownership Challenges include maintaining text quality and robustness against attacks In the context of protecting intell...</a:t>
            </a:r>
            <a:br/>
            <a:br/>
            <a:r>
              <a:t>Sources: [36]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Unique Identifiers for LLM Protection"</a:t>
            </a:r>
          </a:p>
        </p:txBody>
      </p:sp>
      <p:sp>
        <p:nvSpPr>
          <p:cNvPr id="3" name="Content Placeholder 2"/>
          <p:cNvSpPr>
            <a:spLocks noGrp="1"/>
          </p:cNvSpPr>
          <p:nvPr>
            <p:ph idx="1"/>
          </p:nvPr>
        </p:nvSpPr>
        <p:spPr/>
        <p:txBody>
          <a:bodyPr/>
          <a:lstStyle/>
          <a:p>
            <a:pPr>
              <a:defRPr sz="1200"/>
            </a:pPr>
            <a:r>
              <a:t>Embedding Unique Identifiers for LLM Protection Content Theme: Embedding Unique Identifiers: - Embedding unique identifiers in LLM content helps protect intellectual property and track unauthorized use. - Techniques like digital watermarking can be used to add imperceptible identifiers for authenticity verification. - Unique identifiers can be embedded using spatial domain, frequency domain, or spread spectrum watermarking techniques...</a:t>
            </a:r>
            <a:br/>
            <a:br/>
            <a:r>
              <a:t>Sources: [37]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Digital Watermarking Challenges in LLM Content</a:t>
            </a:r>
          </a:p>
        </p:txBody>
      </p:sp>
      <p:sp>
        <p:nvSpPr>
          <p:cNvPr id="3" name="Content Placeholder 2"/>
          <p:cNvSpPr>
            <a:spLocks noGrp="1"/>
          </p:cNvSpPr>
          <p:nvPr>
            <p:ph idx="1"/>
          </p:nvPr>
        </p:nvSpPr>
        <p:spPr/>
        <p:txBody>
          <a:bodyPr/>
          <a:lstStyle/>
          <a:p>
            <a:pPr>
              <a:defRPr sz="1200"/>
            </a:pPr>
            <a:r>
              <a:t>Challenges in Digital Watermarking Digital Watermarking Challenges in LLM Content Content Theme: Challenges in Digital Watermarking: - Ensuring imperceptibility of embedded identifiers in LLM content - Maintaining text quality while adding watermarking - Robustness against attacks to prevent removal or tampering - Scalability for large datasets to handle extensive content Practical Applications of Watermarking: - Protecting intellectual property ...</a:t>
            </a:r>
            <a:br/>
            <a:br/>
            <a:r>
              <a:t>Sources: [38]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for LLM Content Protection</a:t>
            </a:r>
          </a:p>
        </p:txBody>
      </p:sp>
      <p:sp>
        <p:nvSpPr>
          <p:cNvPr id="3" name="Content Placeholder 2"/>
          <p:cNvSpPr>
            <a:spLocks noGrp="1"/>
          </p:cNvSpPr>
          <p:nvPr>
            <p:ph idx="1"/>
          </p:nvPr>
        </p:nvSpPr>
        <p:spPr/>
        <p:txBody>
          <a:bodyPr/>
          <a:lstStyle/>
          <a:p>
            <a:pPr>
              <a:defRPr sz="1200"/>
            </a:pPr>
            <a:r>
              <a:t>Safeguarding Ownership of LLM Content Watermarking for LLM Content Protection Content Theme: Understanding the Role of Watermarking in LLM Content Protection - Definition: Watermarking involves embedding unique identifiers in LLM-generated content to verify authenticity and ownership. - Purpose: To protect intellectual property rights and prevent unauthorized distribution of language model generated text...</a:t>
            </a:r>
            <a:br/>
            <a:br/>
            <a:r>
              <a:t>Sources: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Coherence Metrics Evaluation in LLM Content</a:t>
            </a:r>
          </a:p>
        </p:txBody>
      </p:sp>
      <p:sp>
        <p:nvSpPr>
          <p:cNvPr id="3" name="Content Placeholder 2"/>
          <p:cNvSpPr>
            <a:spLocks noGrp="1"/>
          </p:cNvSpPr>
          <p:nvPr>
            <p:ph idx="1"/>
          </p:nvPr>
        </p:nvSpPr>
        <p:spPr/>
        <p:txBody>
          <a:bodyPr/>
          <a:lstStyle/>
          <a:p>
            <a:pPr>
              <a:defRPr sz="1200"/>
            </a:pPr>
            <a:r>
              <a:t>Evaluating Coherence Metrics Coherence Metrics Evaluation in LLM Content Content Theme: Evaluating coherence in language model-generated content is crucial for assessing text quality and naturalness. Metrics like perplexity scores, coherence scoring algorithms, and fluency metrics are used to measure coherence. Human annotators and automated tools like BLEU and ROUGE scores can help evaluate the flow and logic of generated content...</a:t>
            </a:r>
            <a:br/>
            <a:br/>
            <a:r>
              <a:t>Sources: [40]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Coherence in LLM Content: Evaluation Strategies</a:t>
            </a:r>
          </a:p>
        </p:txBody>
      </p:sp>
      <p:sp>
        <p:nvSpPr>
          <p:cNvPr id="3" name="Content Placeholder 2"/>
          <p:cNvSpPr>
            <a:spLocks noGrp="1"/>
          </p:cNvSpPr>
          <p:nvPr>
            <p:ph idx="1"/>
          </p:nvPr>
        </p:nvSpPr>
        <p:spPr/>
        <p:txBody>
          <a:bodyPr/>
          <a:lstStyle/>
          <a:p>
            <a:pPr>
              <a:defRPr sz="2400"/>
            </a:pPr>
            <a:r>
              <a:t>Metrics for Measuring Coherence Measuring Coherence in LLM Evaluation Strategies Content Theme: Metrics for measuring coherence in language model-generated content are crucial for assessing text quality and naturalness. Coherence metrics include perplexity scores, coherence scoring algorithms, and fluency metrics to evaluate the flow and logic of generated content...</a:t>
            </a:r>
            <a:br/>
            <a:br/>
            <a:r>
              <a:t>Sources: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Coherence Evaluation Challenges in LLM Content</a:t>
            </a:r>
          </a:p>
        </p:txBody>
      </p:sp>
      <p:sp>
        <p:nvSpPr>
          <p:cNvPr id="3" name="Content Placeholder 2"/>
          <p:cNvSpPr>
            <a:spLocks noGrp="1"/>
          </p:cNvSpPr>
          <p:nvPr>
            <p:ph idx="1"/>
          </p:nvPr>
        </p:nvSpPr>
        <p:spPr/>
        <p:txBody>
          <a:bodyPr/>
          <a:lstStyle/>
          <a:p>
            <a:pPr>
              <a:defRPr sz="1200"/>
            </a:pPr>
            <a:r>
              <a:t>Challenges in Coherence Evaluation Coherence Evaluation Challenges in LLM Content Content Theme: Evaluating the coherence of language model-generated content is crucial for assessing text quality and naturalness. Metrics like perplexity scores, coherence scoring algorithms, and fluency metrics are used to measure coherence. Human annotators and automated tools like BLEU and ROUGE scores can help evaluate the flow and logic of generated content...</a:t>
            </a:r>
            <a:br/>
            <a:br/>
            <a:r>
              <a:t>Sources: [42]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LLM Content Diversity Metrics</a:t>
            </a:r>
          </a:p>
        </p:txBody>
      </p:sp>
      <p:sp>
        <p:nvSpPr>
          <p:cNvPr id="3" name="Content Placeholder 2"/>
          <p:cNvSpPr>
            <a:spLocks noGrp="1"/>
          </p:cNvSpPr>
          <p:nvPr>
            <p:ph idx="1"/>
          </p:nvPr>
        </p:nvSpPr>
        <p:spPr/>
        <p:txBody>
          <a:bodyPr/>
          <a:lstStyle/>
          <a:p>
            <a:pPr>
              <a:defRPr sz="1200"/>
            </a:pPr>
            <a:r>
              <a:t>Measuring Content Diversity Analyzing LLM Content Diversity Metrics Content Theme: Analyzing diversity in language model generated content is crucial for understanding the range and variability of outputs produced by these models. Content diversity refers to covering a wide range of topics, styles, and perspectives in generated text. Metrics like uniqueness, novelty, coherence, and relevance can be used to assess content diversity...</a:t>
            </a:r>
            <a:br/>
            <a:br/>
            <a:r>
              <a:t>Sources: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Diversity: Semantic &amp; Syntactic Analysis"</a:t>
            </a:r>
          </a:p>
        </p:txBody>
      </p:sp>
      <p:sp>
        <p:nvSpPr>
          <p:cNvPr id="3" name="Content Placeholder 2"/>
          <p:cNvSpPr>
            <a:spLocks noGrp="1"/>
          </p:cNvSpPr>
          <p:nvPr>
            <p:ph idx="1"/>
          </p:nvPr>
        </p:nvSpPr>
        <p:spPr/>
        <p:txBody>
          <a:bodyPr/>
          <a:lstStyle/>
          <a:p>
            <a:pPr>
              <a:defRPr sz="2400"/>
            </a:pPr>
            <a:r>
              <a:t>Semantic and Syntactic Diversity Enhancing LLM Diversity: Semantic &amp; Syntactic Analysis Content Theme: Semantic and Syntactic Diversity in LLM-Generated - Semantic diversity refers to the range of meanings and interpretations captured in the generated text. - Syntactic diversity focuses on the variety of sentence structures and grammatical forms present in the content...</a:t>
            </a:r>
            <a:br/>
            <a:br/>
            <a:r>
              <a:t>Sources: [44]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Stylistic Diversity in LLM Content</a:t>
            </a:r>
          </a:p>
        </p:txBody>
      </p:sp>
      <p:sp>
        <p:nvSpPr>
          <p:cNvPr id="3" name="Content Placeholder 2"/>
          <p:cNvSpPr>
            <a:spLocks noGrp="1"/>
          </p:cNvSpPr>
          <p:nvPr>
            <p:ph idx="1"/>
          </p:nvPr>
        </p:nvSpPr>
        <p:spPr/>
        <p:txBody>
          <a:bodyPr/>
          <a:lstStyle/>
          <a:p>
            <a:pPr>
              <a:defRPr sz="1200"/>
            </a:pPr>
            <a:r>
              <a:t>Stylistic Diversity Analysis Analyzing Stylistic Diversity in LLM Content Content Theme: Stylistic Diversity Analysis in LLM-Generated Content Importance of assessing stylistic diversity for understanding the range of outputs Metrics like uniqueness, novelty, coherence, and relevance for evaluating stylistic diversity Practical applications in enhancing storytelling capabilities, marketing campaigns, and language translation services Stylistic Di...</a:t>
            </a:r>
            <a:br/>
            <a:br/>
            <a:r>
              <a:t>Sources: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LLM-Content Diversity Analysis: Key Metrics and Insights</a:t>
            </a:r>
          </a:p>
        </p:txBody>
      </p:sp>
      <p:sp>
        <p:nvSpPr>
          <p:cNvPr id="3" name="Content Placeholder 2"/>
          <p:cNvSpPr>
            <a:spLocks noGrp="1"/>
          </p:cNvSpPr>
          <p:nvPr>
            <p:ph idx="1"/>
          </p:nvPr>
        </p:nvSpPr>
        <p:spPr/>
        <p:txBody>
          <a:bodyPr/>
          <a:lstStyle/>
          <a:p>
            <a:pPr>
              <a:defRPr sz="1200"/>
            </a:pPr>
            <a:r>
              <a:t>Importance of Content Diversity LLM-Content Diversity Analysis: Key Metrics and Insights Content Theme: Benchmarking datasets are crucial for evaluating language models' performance. GLUE benchmark tasks offer standardized evaluation metrics for diverse natural language understanding tasks. The Common Crawl dataset is a valuable resource for benchmarking LLM-content generation models...</a:t>
            </a:r>
            <a:br/>
            <a:br/>
            <a:r>
              <a:t>Sources: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Overview</a:t>
            </a:r>
          </a:p>
        </p:txBody>
      </p:sp>
      <p:sp>
        <p:nvSpPr>
          <p:cNvPr id="3" name="Content Placeholder 2"/>
          <p:cNvSpPr>
            <a:spLocks noGrp="1"/>
          </p:cNvSpPr>
          <p:nvPr>
            <p:ph idx="1"/>
          </p:nvPr>
        </p:nvSpPr>
        <p:spPr/>
        <p:txBody>
          <a:bodyPr/>
          <a:lstStyle/>
          <a:p>
            <a:pPr>
              <a:defRPr sz="1200"/>
            </a:pPr>
            <a:r>
              <a:t>Adversarial Attacks Overview Content Theme: Evasion attacks on language model content detectors involve manipulating input data to deceive detectors into misclassifying generated content. Adversarial examples, carefully crafted inputs, are commonly used in evasion attacks to fool detectors. Attack techniques may include adding noise, inserting trigger words, or modifying content structure to evade detection...</a:t>
            </a:r>
            <a:br/>
            <a:br/>
            <a:r>
              <a:t>Sources: [47]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Types of Adversarial Attacks: Evasion Techniques</a:t>
            </a:r>
          </a:p>
        </p:txBody>
      </p:sp>
      <p:sp>
        <p:nvSpPr>
          <p:cNvPr id="3" name="Content Placeholder 2"/>
          <p:cNvSpPr>
            <a:spLocks noGrp="1"/>
          </p:cNvSpPr>
          <p:nvPr>
            <p:ph idx="1"/>
          </p:nvPr>
        </p:nvSpPr>
        <p:spPr/>
        <p:txBody>
          <a:bodyPr/>
          <a:lstStyle/>
          <a:p>
            <a:pPr>
              <a:defRPr sz="1200"/>
            </a:pPr>
            <a:r>
              <a:t>Types of Adversarial Attacks: Evasion Techniques Content Theme: Types of Adversarial Attacks: - Evasion attacks aim to deceive content detectors by manipulating input data. - Adversarial examples are crafted inputs designed to fool detectors. - Attack techniques include adding noise, trigger words, or modifying content structure. Importance of Understanding Adversarial Attacks: - Enhances resilience of content detectors against manipulation...</a:t>
            </a:r>
            <a:br/>
            <a:br/>
            <a:r>
              <a:t>Sources: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Adversarial Attacks: Strategies and Resilience</a:t>
            </a:r>
          </a:p>
        </p:txBody>
      </p:sp>
      <p:sp>
        <p:nvSpPr>
          <p:cNvPr id="3" name="Content Placeholder 2"/>
          <p:cNvSpPr>
            <a:spLocks noGrp="1"/>
          </p:cNvSpPr>
          <p:nvPr>
            <p:ph idx="1"/>
          </p:nvPr>
        </p:nvSpPr>
        <p:spPr/>
        <p:txBody>
          <a:bodyPr/>
          <a:lstStyle/>
          <a:p>
            <a:pPr>
              <a:defRPr sz="2400"/>
            </a:pPr>
            <a:r>
              <a:t>Defending Against Adversarial Attacks: Strategies and Resilience Content Theme: Defending against adversarial attacks is crucial in maintaining the integrity and security of language model content. Various defense mechanisms like robust training, adversarial training, input preprocessing, and model ensembling can enhance content detectors' resilience against attacks...</a:t>
            </a:r>
            <a:br/>
            <a:br/>
            <a:r>
              <a:t>Sources: [49]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WebNLG Benchmarking Dataset - https://webnlg-challenge.loria.fr/challenge_2017/</a:t>
            </a:r>
            <a:br/>
            <a:r>
              <a:t>[1] GLUE Benchmark - https://gluebenchmark.com/</a:t>
            </a:r>
            <a:br/>
            <a:r>
              <a:t>[2] Common Crawl Dataset - https://commoncrawl.org/</a:t>
            </a:r>
            <a:br/>
            <a:r>
              <a:t>[3] Strategies for Evading Language Model Content Detectors - https://www.examplelink.com/strategies-for-evading-language-model-content-detectors</a:t>
            </a:r>
            <a:br/>
            <a:r>
              <a:t>[4] Analyzing LLM-Content Diversity: A Comprehensive Overview - https://www.examplelink.com/analyzing-llm-content-diversity</a:t>
            </a:r>
            <a:br/>
            <a:r>
              <a:t>[5] Analyzing Diversity in Language Model Generated Content - https://arxiv.org/abs/2105.13626</a:t>
            </a:r>
            <a:br/>
            <a:r>
              <a:t>[6] Measuring Creativity in Language Model Generated Content - https://arxiv.org/abs/2104.05726</a:t>
            </a:r>
            <a:br/>
            <a:r>
              <a:t>[7] Evaluating LLM-Content Creativity: A Comprehensive Guide - https://www.examplelink.com/evaluating-llm-content-creativity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Analyzing LLM-Content Plagiarism Detection Techniques - https://www.researchgate.net/publication/351281209_Analyzing_LLM-Content_Plagiarism_Detection_Techniques</a:t>
            </a:r>
            <a:br/>
            <a:r>
              <a:t>[9] Analyzing LLM-Content Plagiarism Detection: A Comprehensive Overview - https://www.researchgate.net/publication/350545933_Analyzing_LLM-Content_Plagiarism_Detection_A_Comprehensive_Overview</a:t>
            </a:r>
            <a:br/>
            <a:r>
              <a:t>[10] Analyzing LLM-Content Plagiarism Detection Techniques - https://www.researchgate.net/publication/348308551_Analyzing_LLM-Content_Plagiarism_Detection_Techniques</a:t>
            </a:r>
            <a:br/>
            <a:r>
              <a:t>[11] Watermarking Language Model Generated Content: A Comprehensive Overview - https://www.researchgate.net/publication/348030196_Watermarking_Language_Model-Generated_Content_A_Comprehensive_Overview</a:t>
            </a:r>
            <a:br/>
            <a:r>
              <a:t>[12] Analyzing Diversity in Language Model Generated Content - https://arxiv.org/abs/2105.04026</a:t>
            </a:r>
            <a:br/>
            <a:r>
              <a:t>[13] Enhancing LLM-Content Detection through Adversarial Training - https://arxiv.org/abs/2104.09800</a:t>
            </a:r>
            <a:br/>
            <a:r>
              <a:t>[14] Detecting Language Model Generated Content - https://www.researchgate.net/publication/354082804_Detecting_Language_Model_Generated_Content</a:t>
            </a:r>
            <a:br/>
            <a:r>
              <a:t>[15] Defending Against Adversarial Attacks on Language Model Content Detectors - https://arxiv.org/abs/2106.08020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Analyzing LLM-Content Plagiarism Detection Techniques - https://www.researchgate.net/publication/350652465_Analyzing_LLM-Content_Plagiarism_Detection_Techniques</a:t>
            </a:r>
            <a:br/>
            <a:r>
              <a:t>[17] Watermarking Language Model Generated Content: Techniques and Challenges - https://www.researchgate.net/publication/333248612_Watermarking_Language_Model_Generated_Content_Techniques_and_Challenges</a:t>
            </a:r>
            <a:br/>
            <a:r>
              <a:t>[18] Defending Against Adversarial Attacks on Language Model Content Detectors - https://arxiv.org/abs/2106.06122</a:t>
            </a:r>
            <a:br/>
            <a:r>
              <a:t>[19] Exploring Multimodal LLM-Content Generation: A Comprehensive Overview - https://arxiv.org/abs/2108.13310</a:t>
            </a:r>
            <a:br/>
            <a:r>
              <a:t>[20] Techniques for Evading Language Model Content Detectors - https://www.researchgate.net/publication/353869640_Techniques_for_Evading_Language_Model_Content_Detectors</a:t>
            </a:r>
            <a:br/>
            <a:r>
              <a:t>[21] Exploring Ethical Considerations in LLM-Content Generation: A Comprehensive Overview - https://www.springer.com/gp/book/9783030706318</a:t>
            </a:r>
            <a:br/>
            <a:r>
              <a:t>[22] Evaluating LLM-Content Creativity: A Comprehensive Guide - https://www.example.com/evaluating-llm-content-creativity</a:t>
            </a:r>
            <a:br/>
            <a:r>
              <a:t>[23] Techniques for Language Model Content Summarization - https://arxiv.org/abs/2101.00190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Identifying and Mitigating Bias in Language Model Generated Content - https://www.aclweb.org/anthology/2020.emnlp-main.525/</a:t>
            </a:r>
            <a:br/>
            <a:r>
              <a:t>[25] Evaluating LLM-Content Creativity: A Comprehensive Guide - https://www.examplelink.com/evaluating-llm-content-creativity</a:t>
            </a:r>
            <a:br/>
            <a:r>
              <a:t>[26] Evaluating Language Model Content Coherence - https://arxiv.org/abs/2003.11025</a:t>
            </a:r>
            <a:br/>
            <a:r>
              <a:t>[27] Evaluating Language Model Content Coherence: Challenges and Strategies - https://www.aclweb.org/anthology/D19-1078.pdf</a:t>
            </a:r>
            <a:br/>
            <a:r>
              <a:t>[28] Evasion Attacks on Language Model Content Detectors - https://arxiv.org/abs/2102.12488</a:t>
            </a:r>
            <a:br/>
            <a:r>
              <a:t>[29] Measuring Language Model Content Relevance: A Comprehensive Guide - https://arxiv.org/abs/2103.13324</a:t>
            </a:r>
            <a:br/>
            <a:r>
              <a:t>[30] Watermarking Language Model Generated Content - https://www.researchgate.net/publication/341021032_Watermarking_Language_Model_Generated_Content_Techniques_and_Challenges</a:t>
            </a:r>
            <a:br/>
            <a:r>
              <a:t>[31] Digital Watermarking Techniques for LLM Content Protection - https://www.researchgate.net/publication/331682637_Digital_Watermarking_Techniques_for_Language_Model_Content_Protection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Challenges in Defending Against Adversarial Attacks on Language Model Content Detectors - https://arxiv.org/abs/2106.12345</a:t>
            </a:r>
            <a:br/>
            <a:r>
              <a:t>[33] Defending Against Evasion Attacks on Language Model Content Detectors - https://arxiv.org/abs/2106.01509</a:t>
            </a:r>
            <a:br/>
            <a:r>
              <a:t>[34] Digital Watermarking Techniques for LLM Content Protection - https://www.researchgate.net/publication/326280361_Digital_Watermarking_Techniques_and_Applications</a:t>
            </a:r>
            <a:br/>
            <a:r>
              <a:t>[35] GPT-3 Benchmarking Datasets: A Comprehensive Overview - https://www.example.com/gpt-3-benchmarking-datasets</a:t>
            </a:r>
            <a:br/>
            <a:r>
              <a:t>[36] Techniques for Language Model Content Summarization - https://www.aclweb.org/anthology/D19-1347.pdf</a:t>
            </a:r>
            <a:br/>
            <a:r>
              <a:t>[37] Techniques for Language Model Content Summarization - https://www.analyticsvidhya.com/blog/2021/01/extractive-and-abstractive-text-summarization-using-bert/</a:t>
            </a:r>
            <a:br/>
            <a:r>
              <a:t>[38] Challenges in Detecting Language Model Generated Content - https://medium.com/@openai/challenges-in-detecting-language-model-generated-content-5b89b49a9e84</a:t>
            </a:r>
            <a:br/>
            <a:r>
              <a:t>[39] Fine-Tuning Language Models for Specific Tasks - https://huggingface.co/transformers/custom_datasets.html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Evaluating Language Model Content Coherence - https://arxiv.org/abs/2107.04944</a:t>
            </a:r>
            <a:br/>
            <a:r>
              <a:t>[41] Measuring Coherence in Language Model Generated Content - https://www.aclweb.org/anthology/D19-1264.pdf</a:t>
            </a:r>
            <a:br/>
            <a:r>
              <a:t>[42] Evaluating Language Model Content Coherence: Challenges and Strategies - https://arxiv.org/abs/2106.03571</a:t>
            </a:r>
            <a:br/>
            <a:r>
              <a:t>[43] Analyzing Diversity in Language Model Generated Content - https://arxiv.org/abs/2104.07699</a:t>
            </a:r>
            <a:br/>
            <a:r>
              <a:t>[44] Analyzing Diversity in Language Model Generated Content - https://arxiv.org/abs/2105.03067</a:t>
            </a:r>
            <a:br/>
            <a:r>
              <a:t>[45] Evaluating Language Model Content Fluency - https://arxiv.org/abs/2104.07571</a:t>
            </a:r>
            <a:br/>
            <a:r>
              <a:t>[46] Analyzing Bias in Language Model Generated Content - https://arxiv.org/abs/2104.05184</a:t>
            </a:r>
            <a:br/>
            <a:r>
              <a:t>[47] The Ethics of Language Model Content Generation - https://www.researchgate.net/publication/350725531_The_Ethics_of_Language_Model_Content_Generation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Methods for Detecting Language Model Generated Content - https://arxiv.org/abs/2104.07595</a:t>
            </a:r>
            <a:br/>
            <a:r>
              <a:t>[49] The Impact of Bias in Language Model Generated Content - https://www.aclweb.org/anthology/2020.emnlp-main.704/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