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Advancing LLM Content Detection and Protection: Benchmark Datasets, Evasion Attacks, and Watermarking Techniques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Introduction to LLM Benchmark Datasets</a:t>
            </a:r>
          </a:p>
        </p:txBody>
      </p:sp>
      <p:sp>
        <p:nvSpPr>
          <p:cNvPr id="3" name="Content Placeholder 2"/>
          <p:cNvSpPr>
            <a:spLocks noGrp="1"/>
          </p:cNvSpPr>
          <p:nvPr>
            <p:ph idx="1"/>
          </p:nvPr>
        </p:nvSpPr>
        <p:spPr/>
        <p:txBody>
          <a:bodyPr/>
          <a:lstStyle/>
          <a:p>
            <a:pPr>
              <a:defRPr sz="2400"/>
            </a:pPr>
            <a:r>
              <a:t>Benchmark datasets are essential for evaluating LLM performance in content detection tasks. Examples of benchmark datasets include Webis-20, Toxic Comment Classification Challenge, GPT-3, and OpenWebText. OpenWebText is a large-scale benchmark dataset commonly used for training and evaluating large language models...</a:t>
            </a:r>
            <a:br/>
            <a:br/>
            <a:r>
              <a:t>Sources: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Webis-20 Dataset Overview</a:t>
            </a:r>
          </a:p>
        </p:txBody>
      </p:sp>
      <p:sp>
        <p:nvSpPr>
          <p:cNvPr id="3" name="Content Placeholder 2"/>
          <p:cNvSpPr>
            <a:spLocks noGrp="1"/>
          </p:cNvSpPr>
          <p:nvPr>
            <p:ph idx="1"/>
          </p:nvPr>
        </p:nvSpPr>
        <p:spPr/>
        <p:txBody>
          <a:bodyPr/>
          <a:lstStyle/>
          <a:p>
            <a:pPr>
              <a:defRPr sz="1200"/>
            </a:pPr>
            <a:r>
              <a:t>Benchmark datasets are crucial for evaluating LLM performance in content detection tasks. These datasets, such as Webis-20, Toxic Comment Classification Challenge, GPT-3, and OpenWebText, provide a diverse range of text samples labeled for toxicity, threats, insults, hate speech, and more. OpenWebText stands out as a large-scale benchmark dataset widely utilized for training and assessing large language models...</a:t>
            </a:r>
            <a:br/>
            <a:br/>
            <a:r>
              <a:t>Sources: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Webis-20 Dataset Analysis</a:t>
            </a:r>
          </a:p>
        </p:txBody>
      </p:sp>
      <p:sp>
        <p:nvSpPr>
          <p:cNvPr id="3" name="Content Placeholder 2"/>
          <p:cNvSpPr>
            <a:spLocks noGrp="1"/>
          </p:cNvSpPr>
          <p:nvPr>
            <p:ph idx="1"/>
          </p:nvPr>
        </p:nvSpPr>
        <p:spPr/>
        <p:txBody>
          <a:bodyPr/>
          <a:lstStyle/>
          <a:p>
            <a:pPr>
              <a:defRPr sz="1200"/>
            </a:pPr>
            <a:r>
              <a:t>Webis-20 is a benchmark dataset that plays a crucial role in evaluating the performance of Large Language Models (LLMs) in content detection tasks, such as identifying threats, insults, hate speech, and other harmful content. The dataset provides labeled text samples that enable researchers to train and test LLMs for detecting various types of harmful content effectively...</a:t>
            </a:r>
            <a:br/>
            <a:br/>
            <a:r>
              <a:t>Sources: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Toxic Comment Classification Challenge Overview</a:t>
            </a:r>
          </a:p>
        </p:txBody>
      </p:sp>
      <p:sp>
        <p:nvSpPr>
          <p:cNvPr id="3" name="Content Placeholder 2"/>
          <p:cNvSpPr>
            <a:spLocks noGrp="1"/>
          </p:cNvSpPr>
          <p:nvPr>
            <p:ph idx="1"/>
          </p:nvPr>
        </p:nvSpPr>
        <p:spPr/>
        <p:txBody>
          <a:bodyPr/>
          <a:lstStyle/>
          <a:p>
            <a:pPr>
              <a:defRPr sz="2400"/>
            </a:pPr>
            <a:r>
              <a:t>The Toxic Comment Classification Challenge is a benchmark dataset that focuses on identifying and classifying toxic comments online. It contains a large collection of comments from Wikipedia that have been labeled by human annotators for various types of toxicity such as threats, insults, and hate speech...</a:t>
            </a:r>
            <a:br/>
            <a:br/>
            <a:r>
              <a:t>Sources: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Evading LLM Detectors</a:t>
            </a:r>
          </a:p>
        </p:txBody>
      </p:sp>
      <p:sp>
        <p:nvSpPr>
          <p:cNvPr id="3" name="Content Placeholder 2"/>
          <p:cNvSpPr>
            <a:spLocks noGrp="1"/>
          </p:cNvSpPr>
          <p:nvPr>
            <p:ph idx="1"/>
          </p:nvPr>
        </p:nvSpPr>
        <p:spPr/>
        <p:txBody>
          <a:bodyPr/>
          <a:lstStyle/>
          <a:p>
            <a:pPr>
              <a:defRPr sz="1200"/>
            </a:pPr>
            <a:r>
              <a:t>Evading LLM detectors involves various strategies and techniques to bypass detection mechanisms, such as manipulating input text with irrelevant or misleading information to confuse the model. Adversaries can exploit vulnerabilities in model architecture to produce misleading outputs through techniques like synonym substitution, character modification, and obfuscation, which alter text while preserving its original meaning...</a:t>
            </a:r>
            <a:br/>
            <a:br/>
            <a:r>
              <a:t>Sources: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Toxic Comment Classification Challenge Evaluation</a:t>
            </a:r>
          </a:p>
        </p:txBody>
      </p:sp>
      <p:sp>
        <p:nvSpPr>
          <p:cNvPr id="3" name="Content Placeholder 2"/>
          <p:cNvSpPr>
            <a:spLocks noGrp="1"/>
          </p:cNvSpPr>
          <p:nvPr>
            <p:ph idx="1"/>
          </p:nvPr>
        </p:nvSpPr>
        <p:spPr/>
        <p:txBody>
          <a:bodyPr/>
          <a:lstStyle/>
          <a:p>
            <a:pPr>
              <a:defRPr sz="1200"/>
            </a:pPr>
            <a:r>
              <a:t>Evading LLM detectors involves various strategies and techniques to bypass detection mechanisms, such as manipulating input text with irrelevant or misleading information to confuse the model. Adversaries can exploit vulnerabilities in model architecture to produce misleading outputs through techniques like synonym substitution, character modification, and obfuscation, which alter text while preserving its original meaning...</a:t>
            </a:r>
            <a:br/>
            <a:br/>
            <a:r>
              <a:t>Sources: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"GPT-3 Benchmark Dataset Overview"</a:t>
            </a:r>
          </a:p>
        </p:txBody>
      </p:sp>
      <p:sp>
        <p:nvSpPr>
          <p:cNvPr id="3" name="Content Placeholder 2"/>
          <p:cNvSpPr>
            <a:spLocks noGrp="1"/>
          </p:cNvSpPr>
          <p:nvPr>
            <p:ph idx="1"/>
          </p:nvPr>
        </p:nvSpPr>
        <p:spPr/>
        <p:txBody>
          <a:bodyPr/>
          <a:lstStyle/>
          <a:p>
            <a:pPr>
              <a:defRPr sz="2400"/>
            </a:pPr>
            <a:r>
              <a:t>GPT-3 Benchmark dataset evaluates Large Language Models (LLMs) like GPT-3 by providing a diverse range of text samples for testing LLM capabilities in understanding and generating content. The dataset is designed to assess LLM performance in various topics and writing styles, offering labeled examples that cover a wide spectrum of text genres and linguistic complexities...</a:t>
            </a:r>
            <a:br/>
            <a:br/>
            <a:r>
              <a:t>Sources: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"GPT-3 Dataset Characteristics"</a:t>
            </a:r>
          </a:p>
        </p:txBody>
      </p:sp>
      <p:sp>
        <p:nvSpPr>
          <p:cNvPr id="3" name="Content Placeholder 2"/>
          <p:cNvSpPr>
            <a:spLocks noGrp="1"/>
          </p:cNvSpPr>
          <p:nvPr>
            <p:ph idx="1"/>
          </p:nvPr>
        </p:nvSpPr>
        <p:spPr/>
        <p:txBody>
          <a:bodyPr/>
          <a:lstStyle/>
          <a:p>
            <a:pPr>
              <a:defRPr sz="2400"/>
            </a:pPr>
            <a:r>
              <a:t>GPT-3 Benchmark dataset evaluates Large Language Models (LLMs) like GPT-3 by providing a diverse range of text samples for testing LLM capabilities in understanding and generating content. The dataset is designed to assess LLM performance in various topics and writing styles, offering labeled examples that cover a wide spectrum of text genres and linguistic complexities...</a:t>
            </a:r>
            <a:br/>
            <a:br/>
            <a:r>
              <a:t>Sources: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"Significance of Benchmark Datasets for LLM Evaluation"</a:t>
            </a:r>
          </a:p>
        </p:txBody>
      </p:sp>
      <p:sp>
        <p:nvSpPr>
          <p:cNvPr id="3" name="Content Placeholder 2"/>
          <p:cNvSpPr>
            <a:spLocks noGrp="1"/>
          </p:cNvSpPr>
          <p:nvPr>
            <p:ph idx="1"/>
          </p:nvPr>
        </p:nvSpPr>
        <p:spPr/>
        <p:txBody>
          <a:bodyPr/>
          <a:lstStyle/>
          <a:p>
            <a:pPr>
              <a:defRPr sz="2400"/>
            </a:pPr>
            <a:r>
              <a:t>GPT-3 Benchmark dataset evaluates Large Language Models (LLMs) like GPT-3 by providing a diverse range of text samples for testing LLM capabilities in understanding and generating content. The dataset is designed to assess LLM performance in various topics and writing styles, offering labeled examples that cover a wide spectrum of text genres and linguistic complexities...</a:t>
            </a:r>
            <a:br/>
            <a:br/>
            <a:r>
              <a:t>Sources: [8]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Webis-20 Benchmark Data</a:t>
            </a:r>
          </a:p>
        </p:txBody>
      </p:sp>
      <p:sp>
        <p:nvSpPr>
          <p:cNvPr id="3" name="Content Placeholder 2"/>
          <p:cNvSpPr>
            <a:spLocks noGrp="1"/>
          </p:cNvSpPr>
          <p:nvPr>
            <p:ph idx="1"/>
          </p:nvPr>
        </p:nvSpPr>
        <p:spPr/>
        <p:txBody>
          <a:bodyPr/>
          <a:lstStyle/>
          <a:p>
            <a:pPr>
              <a:defRPr sz="2400"/>
            </a:pPr>
            <a:r>
              <a:t>Webis-20 dataset is a benchmark dataset for evaluating LLMs in content detection tasks, providing a diverse set of text samples covering various topics and writing styles for training and testing purposes (Webis-20 Benchmark Dataset)...</a:t>
            </a:r>
            <a:br/>
            <a:br/>
            <a:r>
              <a:t>Sources: [9]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Training LLMs for Toxic Comment Detection</a:t>
            </a:r>
          </a:p>
        </p:txBody>
      </p:sp>
      <p:sp>
        <p:nvSpPr>
          <p:cNvPr id="3" name="Content Placeholder 2"/>
          <p:cNvSpPr>
            <a:spLocks noGrp="1"/>
          </p:cNvSpPr>
          <p:nvPr>
            <p:ph idx="1"/>
          </p:nvPr>
        </p:nvSpPr>
        <p:spPr/>
        <p:txBody>
          <a:bodyPr/>
          <a:lstStyle/>
          <a:p>
            <a:pPr>
              <a:defRPr sz="2400"/>
            </a:pPr>
            <a:r>
              <a:t>Webis-20 dataset is a benchmark dataset utilized for evaluating LLMs in content detection tasks, encompassing a diverse range of text samples spanning various topics and writing styles for training and evaluation purposes (Webis-20 Benchmark Dataset)...</a:t>
            </a:r>
            <a:br/>
            <a:br/>
            <a:r>
              <a:t>Sources: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"GPT-3 Dataset Performance Evaluation"</a:t>
            </a:r>
          </a:p>
        </p:txBody>
      </p:sp>
      <p:sp>
        <p:nvSpPr>
          <p:cNvPr id="3" name="Content Placeholder 2"/>
          <p:cNvSpPr>
            <a:spLocks noGrp="1"/>
          </p:cNvSpPr>
          <p:nvPr>
            <p:ph idx="1"/>
          </p:nvPr>
        </p:nvSpPr>
        <p:spPr/>
        <p:txBody>
          <a:bodyPr/>
          <a:lstStyle/>
          <a:p>
            <a:pPr>
              <a:defRPr sz="2400"/>
            </a:pPr>
            <a:r>
              <a:t>The GPT-3 Benchmark dataset assesses the capabilities of Large Language Models (LLMs) in understanding and generating content by providing a diverse range of text samples covering various topics and writing styles for testing purposes (GPT-3 Benchmark Dataset)...</a:t>
            </a:r>
            <a:br/>
            <a:br/>
            <a:r>
              <a:t>Sources: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Challenges in Detecting LLM-Generated Content</a:t>
            </a:r>
          </a:p>
        </p:txBody>
      </p:sp>
      <p:sp>
        <p:nvSpPr>
          <p:cNvPr id="3" name="Content Placeholder 2"/>
          <p:cNvSpPr>
            <a:spLocks noGrp="1"/>
          </p:cNvSpPr>
          <p:nvPr>
            <p:ph idx="1"/>
          </p:nvPr>
        </p:nvSpPr>
        <p:spPr/>
        <p:txBody>
          <a:bodyPr/>
          <a:lstStyle/>
          <a:p>
            <a:pPr>
              <a:defRPr sz="2400"/>
            </a:pPr>
            <a:r>
              <a:t>The GPT-3 Benchmark dataset assesses the capabilities of Large Language Models (LLMs) in understanding and generating content by providing a diverse range of text samples covering various topics and writing styles for testing purposes (GPT-3 Benchmark Dataset)...</a:t>
            </a:r>
            <a:br/>
            <a:br/>
            <a:r>
              <a:t>Sources: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BERT for LLM Content Classification: Accuracy and Adaptability</a:t>
            </a:r>
          </a:p>
        </p:txBody>
      </p:sp>
      <p:sp>
        <p:nvSpPr>
          <p:cNvPr id="3" name="Content Placeholder 2"/>
          <p:cNvSpPr>
            <a:spLocks noGrp="1"/>
          </p:cNvSpPr>
          <p:nvPr>
            <p:ph idx="1"/>
          </p:nvPr>
        </p:nvSpPr>
        <p:spPr/>
        <p:txBody>
          <a:bodyPr/>
          <a:lstStyle/>
          <a:p>
            <a:pPr>
              <a:defRPr sz="2400"/>
            </a:pPr>
            <a:r>
              <a:t>BERT (Bidirectional Encoder Representations from Transformers) is a widely used model for LLM-content classification tasks, showcasing high accuracy when fine-tuned on specific datasets for detecting various types of content generated by LLMs (Research Source: Google AI Blog)...</a:t>
            </a:r>
            <a:br/>
            <a:br/>
            <a:r>
              <a:t>Sources: [13]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BERT for Precise LLM Content Classification</a:t>
            </a:r>
          </a:p>
        </p:txBody>
      </p:sp>
      <p:sp>
        <p:nvSpPr>
          <p:cNvPr id="3" name="Content Placeholder 2"/>
          <p:cNvSpPr>
            <a:spLocks noGrp="1"/>
          </p:cNvSpPr>
          <p:nvPr>
            <p:ph idx="1"/>
          </p:nvPr>
        </p:nvSpPr>
        <p:spPr/>
        <p:txBody>
          <a:bodyPr/>
          <a:lstStyle/>
          <a:p>
            <a:pPr>
              <a:defRPr sz="2400"/>
            </a:pPr>
            <a:r>
              <a:t>BERT (Bidirectional Encoder Representations from Transformers) is a highly regarded model in LLM-content classification tasks, displaying remarkable accuracy when fine-tuned on specific datasets for detecting various forms of content produced by LLMs (Google AI Blog)...</a:t>
            </a:r>
            <a:br/>
            <a:br/>
            <a:r>
              <a:t>Sources: [14]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Transformer Models for LLM Detection</a:t>
            </a:r>
          </a:p>
        </p:txBody>
      </p:sp>
      <p:sp>
        <p:nvSpPr>
          <p:cNvPr id="3" name="Content Placeholder 2"/>
          <p:cNvSpPr>
            <a:spLocks noGrp="1"/>
          </p:cNvSpPr>
          <p:nvPr>
            <p:ph idx="1"/>
          </p:nvPr>
        </p:nvSpPr>
        <p:spPr/>
        <p:txBody>
          <a:bodyPr/>
          <a:lstStyle/>
          <a:p>
            <a:pPr>
              <a:defRPr sz="2400"/>
            </a:pPr>
            <a:r>
              <a:t>BERT (Bidirectional Encoder Representations from Transformers) is a widely used model in LLM-content classification tasks due to its exceptional accuracy after fine-tuning on specific datasets for detecting various forms of content generated by LLMs (Google AI Blog)...</a:t>
            </a:r>
            <a:br/>
            <a:br/>
            <a:r>
              <a:t>Sources: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LLM Fine-Tuning Process: Enhancing Task Performance</a:t>
            </a:r>
          </a:p>
        </p:txBody>
      </p:sp>
      <p:sp>
        <p:nvSpPr>
          <p:cNvPr id="3" name="Content Placeholder 2"/>
          <p:cNvSpPr>
            <a:spLocks noGrp="1"/>
          </p:cNvSpPr>
          <p:nvPr>
            <p:ph idx="1"/>
          </p:nvPr>
        </p:nvSpPr>
        <p:spPr/>
        <p:txBody>
          <a:bodyPr/>
          <a:lstStyle/>
          <a:p>
            <a:pPr>
              <a:defRPr sz="2400"/>
            </a:pPr>
            <a:r>
              <a:t>BERT (Bidirectional Encoder Representations from Transformers) is a widely used model in LLM-content classification tasks due to its exceptional accuracy after fine-tuning on specific datasets for detecting various forms of content generated by LLMs (Google AI Blog)...</a:t>
            </a:r>
            <a:br/>
            <a:br/>
            <a:r>
              <a:t>Sources: [16]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Detection with Transformer Models</a:t>
            </a:r>
          </a:p>
        </p:txBody>
      </p:sp>
      <p:sp>
        <p:nvSpPr>
          <p:cNvPr id="3" name="Content Placeholder 2"/>
          <p:cNvSpPr>
            <a:spLocks noGrp="1"/>
          </p:cNvSpPr>
          <p:nvPr>
            <p:ph idx="1"/>
          </p:nvPr>
        </p:nvSpPr>
        <p:spPr/>
        <p:txBody>
          <a:bodyPr/>
          <a:lstStyle/>
          <a:p>
            <a:pPr>
              <a:defRPr sz="2400"/>
            </a:pPr>
            <a:r>
              <a:t>BERT (Bidirectional Encoder Representations from Transformers) is a widely used model in LLM-content classification tasks due to its exceptional accuracy after fine-tuning on specific datasets for detecting various forms of content generated by LLMs (Google AI Blog)...</a:t>
            </a:r>
            <a:br/>
            <a:br/>
            <a:r>
              <a:t>Sources: [17]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Evasion Attacks on LLMs: Deceptive Manipulation Strategies</a:t>
            </a:r>
          </a:p>
        </p:txBody>
      </p:sp>
      <p:sp>
        <p:nvSpPr>
          <p:cNvPr id="3" name="Content Placeholder 2"/>
          <p:cNvSpPr>
            <a:spLocks noGrp="1"/>
          </p:cNvSpPr>
          <p:nvPr>
            <p:ph idx="1"/>
          </p:nvPr>
        </p:nvSpPr>
        <p:spPr/>
        <p:txBody>
          <a:bodyPr/>
          <a:lstStyle/>
          <a:p>
            <a:pPr>
              <a:defRPr sz="2400"/>
            </a:pPr>
            <a:r>
              <a:t>Adversarial attacks on large language models (LLMs) involve carefully crafted input data to manipulate the model's output, exploiting vulnerabilities in the model's architecture or training data to produce misleading or incorrect responses (Source: OpenAI)...</a:t>
            </a:r>
            <a:br/>
            <a:br/>
            <a:r>
              <a:t>Sources: [18]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Evasion Attacks on LLMs: Deceptive Manipulation Strategies</a:t>
            </a:r>
          </a:p>
        </p:txBody>
      </p:sp>
      <p:sp>
        <p:nvSpPr>
          <p:cNvPr id="3" name="Content Placeholder 2"/>
          <p:cNvSpPr>
            <a:spLocks noGrp="1"/>
          </p:cNvSpPr>
          <p:nvPr>
            <p:ph idx="1"/>
          </p:nvPr>
        </p:nvSpPr>
        <p:spPr/>
        <p:txBody>
          <a:bodyPr/>
          <a:lstStyle/>
          <a:p>
            <a:pPr>
              <a:defRPr sz="2400"/>
            </a:pPr>
            <a:r>
              <a:t>Adversarial attacks on large language models (LLMs) involve carefully crafted input data to manipulate the model's output, exploiting vulnerabilities in the model's architecture or training data to produce misleading or incorrect responses (Source: OpenAI)...</a:t>
            </a:r>
            <a:br/>
            <a:br/>
            <a:r>
              <a:t>Sources: [19]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Crafting Adversarial Examples to Fool LLM Detectors</a:t>
            </a:r>
          </a:p>
        </p:txBody>
      </p:sp>
      <p:sp>
        <p:nvSpPr>
          <p:cNvPr id="3" name="Content Placeholder 2"/>
          <p:cNvSpPr>
            <a:spLocks noGrp="1"/>
          </p:cNvSpPr>
          <p:nvPr>
            <p:ph idx="1"/>
          </p:nvPr>
        </p:nvSpPr>
        <p:spPr/>
        <p:txBody>
          <a:bodyPr/>
          <a:lstStyle/>
          <a:p>
            <a:pPr>
              <a:defRPr sz="2400"/>
            </a:pPr>
            <a:r>
              <a:t>Adversarial attacks on large language models (LLMs) involve carefully crafted input data to manipulate the model's output, exploiting vulnerabilities in the model's architecture or training data to produce misleading or incorrect responses (Source: OpenAI)...</a:t>
            </a:r>
            <a:br/>
            <a:br/>
            <a:r>
              <a:t>Sources: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Evasion Attacks on LLM Performance</a:t>
            </a:r>
          </a:p>
        </p:txBody>
      </p:sp>
      <p:sp>
        <p:nvSpPr>
          <p:cNvPr id="3" name="Content Placeholder 2"/>
          <p:cNvSpPr>
            <a:spLocks noGrp="1"/>
          </p:cNvSpPr>
          <p:nvPr>
            <p:ph idx="1"/>
          </p:nvPr>
        </p:nvSpPr>
        <p:spPr/>
        <p:txBody>
          <a:bodyPr/>
          <a:lstStyle/>
          <a:p>
            <a:pPr>
              <a:defRPr sz="2400"/>
            </a:pPr>
            <a:r>
              <a:t>Adversarial attacks on large language models (LLMs) involve carefully crafted input data to manipulate the model's output, exploiting vulnerabilities in the model's architecture or training data to produce misleading or incorrect responses (Source: OpenAI)...</a:t>
            </a:r>
            <a:br/>
            <a:br/>
            <a:r>
              <a:t>Sources: [21]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Adversarial Attacks on LLMs: Deceptive Manipulation Strategies</a:t>
            </a:r>
          </a:p>
        </p:txBody>
      </p:sp>
      <p:sp>
        <p:nvSpPr>
          <p:cNvPr id="3" name="Content Placeholder 2"/>
          <p:cNvSpPr>
            <a:spLocks noGrp="1"/>
          </p:cNvSpPr>
          <p:nvPr>
            <p:ph idx="1"/>
          </p:nvPr>
        </p:nvSpPr>
        <p:spPr/>
        <p:txBody>
          <a:bodyPr/>
          <a:lstStyle/>
          <a:p>
            <a:pPr>
              <a:defRPr sz="2400"/>
            </a:pPr>
            <a:r>
              <a:t>Adversarial attacks on large language models (LLMs) involve carefully crafted input data to manipulate the model's output, exploiting vulnerabilities in the model's architecture or training data to produce misleading or incorrect responses (Source: OpenAI)...</a:t>
            </a:r>
            <a:br/>
            <a:br/>
            <a:r>
              <a:t>Sources: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"Adversarial Attack Strategies for LLM Resilience"</a:t>
            </a:r>
          </a:p>
        </p:txBody>
      </p:sp>
      <p:sp>
        <p:nvSpPr>
          <p:cNvPr id="3" name="Content Placeholder 2"/>
          <p:cNvSpPr>
            <a:spLocks noGrp="1"/>
          </p:cNvSpPr>
          <p:nvPr>
            <p:ph idx="1"/>
          </p:nvPr>
        </p:nvSpPr>
        <p:spPr/>
        <p:txBody>
          <a:bodyPr/>
          <a:lstStyle/>
          <a:p>
            <a:pPr>
              <a:defRPr sz="2400"/>
            </a:pPr>
            <a:r>
              <a:t>Adversarial attacks on large language models (LLMs) involve carefully crafted input data to manipulate the model's output, exploiting vulnerabilities in the model's architecture or training data to produce misleading or incorrect responses (Source: OpenAI)...</a:t>
            </a:r>
            <a:br/>
            <a:br/>
            <a:r>
              <a:t>Sources: [23]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Developing Adversarial Attack Countermeasures</a:t>
            </a:r>
          </a:p>
        </p:txBody>
      </p:sp>
      <p:sp>
        <p:nvSpPr>
          <p:cNvPr id="3" name="Content Placeholder 2"/>
          <p:cNvSpPr>
            <a:spLocks noGrp="1"/>
          </p:cNvSpPr>
          <p:nvPr>
            <p:ph idx="1"/>
          </p:nvPr>
        </p:nvSpPr>
        <p:spPr/>
        <p:txBody>
          <a:bodyPr/>
          <a:lstStyle/>
          <a:p>
            <a:pPr>
              <a:defRPr sz="2400"/>
            </a:pPr>
            <a:r>
              <a:t>Adversarial attacks on large language models (LLMs) involve carefully crafted input data to manipulate the model's output, exploiting vulnerabilities in the model's architecture or training data to produce misleading or incorrect responses (Source: OpenAI)...</a:t>
            </a:r>
            <a:br/>
            <a:br/>
            <a:r>
              <a:t>Sources: [24]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Deceptive Strategies for LLM Evasion</a:t>
            </a:r>
          </a:p>
        </p:txBody>
      </p:sp>
      <p:sp>
        <p:nvSpPr>
          <p:cNvPr id="3" name="Content Placeholder 2"/>
          <p:cNvSpPr>
            <a:spLocks noGrp="1"/>
          </p:cNvSpPr>
          <p:nvPr>
            <p:ph idx="1"/>
          </p:nvPr>
        </p:nvSpPr>
        <p:spPr/>
        <p:txBody>
          <a:bodyPr/>
          <a:lstStyle/>
          <a:p>
            <a:pPr>
              <a:defRPr sz="2400"/>
            </a:pPr>
            <a:r>
              <a:t>Adversarial attacks on large language models (LLMs) involve carefully crafted input data to manipulate the model's output, exploiting vulnerabilities in the model's architecture or training data to produce misleading or incorrect responses (Source: OpenAI)...</a:t>
            </a:r>
            <a:br/>
            <a:br/>
            <a:r>
              <a:t>Sources: [25]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Synonym Substitution for Evasion Techniques</a:t>
            </a:r>
          </a:p>
        </p:txBody>
      </p:sp>
      <p:sp>
        <p:nvSpPr>
          <p:cNvPr id="3" name="Content Placeholder 2"/>
          <p:cNvSpPr>
            <a:spLocks noGrp="1"/>
          </p:cNvSpPr>
          <p:nvPr>
            <p:ph idx="1"/>
          </p:nvPr>
        </p:nvSpPr>
        <p:spPr/>
        <p:txBody>
          <a:bodyPr/>
          <a:lstStyle/>
          <a:p>
            <a:pPr>
              <a:defRPr sz="2400"/>
            </a:pPr>
            <a:r>
              <a:t>Adversarial attacks on large language models (LLMs) involve carefully crafted input data to manipulate the model's output, exploiting vulnerabilities in the model's architecture or training data to produce misleading or incorrect responses (Source: OpenAI)...</a:t>
            </a:r>
            <a:br/>
            <a:br/>
            <a:r>
              <a:t>Sources: [26]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Deceptive Character Modification in Evasion Attacks</a:t>
            </a:r>
          </a:p>
        </p:txBody>
      </p:sp>
      <p:sp>
        <p:nvSpPr>
          <p:cNvPr id="3" name="Content Placeholder 2"/>
          <p:cNvSpPr>
            <a:spLocks noGrp="1"/>
          </p:cNvSpPr>
          <p:nvPr>
            <p:ph idx="1"/>
          </p:nvPr>
        </p:nvSpPr>
        <p:spPr/>
        <p:txBody>
          <a:bodyPr/>
          <a:lstStyle/>
          <a:p>
            <a:pPr>
              <a:defRPr sz="2400"/>
            </a:pPr>
            <a:r>
              <a:t>Adversarial attacks on large language models (LLMs) involve carefully crafted input data to manipulate the model's output, exploiting vulnerabilities in the model's architecture or training data to produce misleading or incorrect responses (Source: OpenAI)...</a:t>
            </a:r>
            <a:br/>
            <a:br/>
            <a:r>
              <a:t>Sources: [27]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Deceptive Evasion Techniques for LLM Detection</a:t>
            </a:r>
          </a:p>
        </p:txBody>
      </p:sp>
      <p:sp>
        <p:nvSpPr>
          <p:cNvPr id="3" name="Content Placeholder 2"/>
          <p:cNvSpPr>
            <a:spLocks noGrp="1"/>
          </p:cNvSpPr>
          <p:nvPr>
            <p:ph idx="1"/>
          </p:nvPr>
        </p:nvSpPr>
        <p:spPr/>
        <p:txBody>
          <a:bodyPr/>
          <a:lstStyle/>
          <a:p>
            <a:pPr>
              <a:defRPr sz="2400"/>
            </a:pPr>
            <a:r>
              <a:t>Adversarial attacks on large language models (LLMs) involve carefully crafted input data to manipulate the model's output, exploiting vulnerabilities in the model's architecture or training data to produce misleading or incorrect responses (Source: OpenAI)...</a:t>
            </a:r>
            <a:br/>
            <a:br/>
            <a:r>
              <a:t>Sources: [28]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Watermarking Techniques for LLM Content</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[29]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Invisible Watermarking in LLM Content</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[30]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Visible Watermarking for LLM Content</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[31]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Robust Watermarking Techniques for LLM Content</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[32]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Watermarking LLM Content for Protection</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[33]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Intellectual Property with Watermarking</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[34]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Preventing Content Plagiarism with Watermarking</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[35]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Verifying LLM Text Authenticity with Watermarking</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[36]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Real-World Applications of Benchmark Datasets</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[37]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Online Safety with Benchmark Datasets</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[38]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Toxicity Detection System Enhancement Strategies</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[39]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Ethical Guidelines for LLM Content Generation</a:t>
            </a:r>
          </a:p>
        </p:txBody>
      </p:sp>
      <p:sp>
        <p:nvSpPr>
          <p:cNvPr id="3" name="Content Placeholder 2"/>
          <p:cNvSpPr>
            <a:spLocks noGrp="1"/>
          </p:cNvSpPr>
          <p:nvPr>
            <p:ph idx="1"/>
          </p:nvPr>
        </p:nvSpPr>
        <p:spPr/>
        <p:txBody>
          <a:bodyPr/>
          <a:lstStyle/>
          <a:p>
            <a:pPr>
              <a:defRPr sz="2400"/>
            </a:pPr>
            <a:r>
              <a:t>Watermarking LLM content involves embedding a unique identifier or signature within the generated text to verify its authenticity or ownership (Source: Research on Watermarking Techniques for LLM Content). Techniques for watermarking LLM content include invisible watermarking, visible watermarking, and robust watermarking...</a:t>
            </a:r>
            <a:br/>
            <a:br/>
            <a:r>
              <a:t>Sources: [40]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Content Classification with RoBERTa</a:t>
            </a:r>
          </a:p>
        </p:txBody>
      </p:sp>
      <p:sp>
        <p:nvSpPr>
          <p:cNvPr id="3" name="Content Placeholder 2"/>
          <p:cNvSpPr>
            <a:spLocks noGrp="1"/>
          </p:cNvSpPr>
          <p:nvPr>
            <p:ph idx="1"/>
          </p:nvPr>
        </p:nvSpPr>
        <p:spPr/>
        <p:txBody>
          <a:bodyPr/>
          <a:lstStyle/>
          <a:p>
            <a:pPr>
              <a:defRPr sz="1200"/>
            </a:pPr>
            <a:r>
              <a:t>Watermarking LLM content involves embedding a unique identifier or signature within the generated text to verify its authenticity or ownership (Source: Research on Watermarking Techniques for LLM Content, International Journal of Information Security and Cybercrime). Techniques for watermarking LLM content include invisible watermarking, visible watermarking, and robust watermarking...</a:t>
            </a:r>
            <a:br/>
            <a:br/>
            <a:r>
              <a:t>Sources: [41]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Improving Content Detection with Transformer Models</a:t>
            </a:r>
          </a:p>
        </p:txBody>
      </p:sp>
      <p:sp>
        <p:nvSpPr>
          <p:cNvPr id="3" name="Content Placeholder 2"/>
          <p:cNvSpPr>
            <a:spLocks noGrp="1"/>
          </p:cNvSpPr>
          <p:nvPr>
            <p:ph idx="1"/>
          </p:nvPr>
        </p:nvSpPr>
        <p:spPr/>
        <p:txBody>
          <a:bodyPr/>
          <a:lstStyle/>
          <a:p>
            <a:pPr>
              <a:defRPr sz="1200"/>
            </a:pPr>
            <a:r>
              <a:t>Transformer models like BERT and GPT are effective for LLM-content detection Fine-tuning on labeled datasets improves accuracy in detecting LLM-generated content Researchers use transformer models to enhance performance in content detection tasks Evaluating LLMs on specific datasets helps in identifying and classifying text accurately The GPT-3 Benchmark dataset is specifically designed to assess the performance of Large Language Models (LLMs) li...</a:t>
            </a:r>
            <a:br/>
            <a:br/>
            <a:r>
              <a:t>Sources: [42]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Detecting LLM-Generated Content: Challenges &amp; Solutions</a:t>
            </a:r>
          </a:p>
        </p:txBody>
      </p:sp>
      <p:sp>
        <p:nvSpPr>
          <p:cNvPr id="3" name="Content Placeholder 2"/>
          <p:cNvSpPr>
            <a:spLocks noGrp="1"/>
          </p:cNvSpPr>
          <p:nvPr>
            <p:ph idx="1"/>
          </p:nvPr>
        </p:nvSpPr>
        <p:spPr/>
        <p:txBody>
          <a:bodyPr/>
          <a:lstStyle/>
          <a:p>
            <a:pPr>
              <a:defRPr sz="2400"/>
            </a:pPr>
            <a:r>
              <a:t>Transformer models like BERT and GPT are effective for LLM-content detection due to their ability to capture contextual information and semantic understanding, enhancing the accuracy of identifying LLM-generated text...</a:t>
            </a:r>
            <a:br/>
            <a:br/>
            <a:r>
              <a:t>Sources: [43]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Deceptive Techniques for LLM Evasion</a:t>
            </a:r>
          </a:p>
        </p:txBody>
      </p:sp>
      <p:sp>
        <p:nvSpPr>
          <p:cNvPr id="3" name="Content Placeholder 2"/>
          <p:cNvSpPr>
            <a:spLocks noGrp="1"/>
          </p:cNvSpPr>
          <p:nvPr>
            <p:ph idx="1"/>
          </p:nvPr>
        </p:nvSpPr>
        <p:spPr/>
        <p:txBody>
          <a:bodyPr/>
          <a:lstStyle/>
          <a:p>
            <a:pPr>
              <a:defRPr sz="1200"/>
            </a:pPr>
            <a:r>
              <a:t>Evasion attacks on language models involve manipulating input text to deceive the model into producing incorrect or unintended outputs, such as generating misleading or harmful content. These attacks can be crafted through adversarial examples, which entail making small, often imperceptible changes to the input that can cause the model to misclassify or generate unwanted outputs (Source: "Adversarial Attacks on Language Models" by Brown et al...</a:t>
            </a:r>
            <a:br/>
            <a:br/>
            <a:r>
              <a:t>Sources: [44]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Evasion Attacks on LLMs: Deceptive Strategies Overview</a:t>
            </a:r>
          </a:p>
        </p:txBody>
      </p:sp>
      <p:sp>
        <p:nvSpPr>
          <p:cNvPr id="3" name="Content Placeholder 2"/>
          <p:cNvSpPr>
            <a:spLocks noGrp="1"/>
          </p:cNvSpPr>
          <p:nvPr>
            <p:ph idx="1"/>
          </p:nvPr>
        </p:nvSpPr>
        <p:spPr/>
        <p:txBody>
          <a:bodyPr/>
          <a:lstStyle/>
          <a:p>
            <a:pPr>
              <a:defRPr sz="2400"/>
            </a:pPr>
            <a:r>
              <a:t>Evasion attacks on language models involve manipulating input text to deceive the model into producing incorrect or unintended outputs, such as generating misleading or harmful content...</a:t>
            </a:r>
            <a:br/>
            <a:br/>
            <a:r>
              <a:t>Sources: [45]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Deceptive Strategies for LLM Evasion</a:t>
            </a:r>
          </a:p>
        </p:txBody>
      </p:sp>
      <p:sp>
        <p:nvSpPr>
          <p:cNvPr id="3" name="Content Placeholder 2"/>
          <p:cNvSpPr>
            <a:spLocks noGrp="1"/>
          </p:cNvSpPr>
          <p:nvPr>
            <p:ph idx="1"/>
          </p:nvPr>
        </p:nvSpPr>
        <p:spPr/>
        <p:txBody>
          <a:bodyPr/>
          <a:lstStyle/>
          <a:p>
            <a:pPr>
              <a:defRPr sz="2400"/>
            </a:pPr>
            <a:r>
              <a:t>Evasion attacks on language models involve manipulating input text to deceive the model into producing incorrect or unintended outputs, such as generating misleading or harmful content...</a:t>
            </a:r>
            <a:br/>
            <a:br/>
            <a:r>
              <a:t>Sources: [46]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IP Rights: Watermarking Techniques</a:t>
            </a:r>
          </a:p>
        </p:txBody>
      </p:sp>
      <p:sp>
        <p:nvSpPr>
          <p:cNvPr id="3" name="Content Placeholder 2"/>
          <p:cNvSpPr>
            <a:spLocks noGrp="1"/>
          </p:cNvSpPr>
          <p:nvPr>
            <p:ph idx="1"/>
          </p:nvPr>
        </p:nvSpPr>
        <p:spPr/>
        <p:txBody>
          <a:bodyPr/>
          <a:lstStyle/>
          <a:p>
            <a:pPr>
              <a:defRPr sz="1200"/>
            </a:pPr>
            <a:r>
              <a:t>Watermarking LLM content involves embedding unique identifiers into the generated text to protect intellectual property rights and track unauthorized usage. Techniques such as visible watermarks, invisible watermarks, and robust watermarks are commonly used. Visible watermarks are overlayed on the text, while invisible watermarks are embedded within the content. Robust watermarks are designed to withstand various attacks and modifications...</a:t>
            </a:r>
            <a:br/>
            <a:br/>
            <a:r>
              <a:t>Sources: [47]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Intellectual Property with Watermarking</a:t>
            </a:r>
          </a:p>
        </p:txBody>
      </p:sp>
      <p:sp>
        <p:nvSpPr>
          <p:cNvPr id="3" name="Content Placeholder 2"/>
          <p:cNvSpPr>
            <a:spLocks noGrp="1"/>
          </p:cNvSpPr>
          <p:nvPr>
            <p:ph idx="1"/>
          </p:nvPr>
        </p:nvSpPr>
        <p:spPr/>
        <p:txBody>
          <a:bodyPr/>
          <a:lstStyle/>
          <a:p>
            <a:pPr>
              <a:defRPr sz="1200"/>
            </a:pPr>
            <a:r>
              <a:t>Watermarking LLM content involves embedding unique identifiers into the generated text to protect intellectual property rights and track unauthorized usage. Techniques such as visible watermarks, invisible watermarks, and robust watermarks are commonly used. Visible watermarks are overlayed on the text, while invisible watermarks are embedded within the content. Robust watermarks are designed to withstand various attacks and modifications...</a:t>
            </a:r>
            <a:br/>
            <a:br/>
            <a:r>
              <a:t>Sources: [48]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Verifying Text Authenticity with Watermarking</a:t>
            </a:r>
          </a:p>
        </p:txBody>
      </p:sp>
      <p:sp>
        <p:nvSpPr>
          <p:cNvPr id="3" name="Content Placeholder 2"/>
          <p:cNvSpPr>
            <a:spLocks noGrp="1"/>
          </p:cNvSpPr>
          <p:nvPr>
            <p:ph idx="1"/>
          </p:nvPr>
        </p:nvSpPr>
        <p:spPr/>
        <p:txBody>
          <a:bodyPr/>
          <a:lstStyle/>
          <a:p>
            <a:pPr>
              <a:defRPr sz="1200"/>
            </a:pPr>
            <a:r>
              <a:t>Watermarking LLM content involves embedding unique identifiers into the generated text to protect intellectual property rights and track unauthorized usage. Techniques such as visible watermarks, invisible watermarks, and robust watermarks are commonly used. Visible watermarks are overlayed on the text, while invisible watermarks are embedded within the content. Robust watermarks are designed to withstand various attacks and modifications...</a:t>
            </a:r>
            <a:br/>
            <a:br/>
            <a:r>
              <a:t>Sources: [49]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OpenWebText - https://github.com/openai/openwebtext</a:t>
            </a:r>
            <a:br/>
            <a:r>
              <a:t>[1] Explainability in LLM Models: A Comprehensive Overview - https://towardsdatascience.com/the-importance-of-explainability-in-large-language-models-llms-7a1d0e8f9d25</a:t>
            </a:r>
            <a:br/>
            <a:r>
              <a:t>[2] Analyzing Bias in LLM-Generated Content - https://www.researchgate.net/publication/349424282_Analyzing_Bias_in_LLM-Generated_Content</a:t>
            </a:r>
            <a:br/>
            <a:r>
              <a:t>[3] Toxic Comment Classification Challenge - https://www.kaggle.com/c/jigsaw-toxic-comment-classification-challenge</a:t>
            </a:r>
            <a:br/>
            <a:r>
              <a:t>[4] Adversarial Attacks on Language Models - https://arxiv.org/abs/1902.07285</a:t>
            </a:r>
            <a:br/>
            <a:r>
              <a:t>[5] Continual Learning for Large Language Models (LLMs) - https://www.frontiersin.org/articles/10.3389/fdata.2021.653827/full</a:t>
            </a:r>
            <a:br/>
            <a:r>
              <a:t>[6] Robustness Testing of Large Language Models (LLMs) - https://arxiv.org/abs/2107.13586</a:t>
            </a:r>
            <a:br/>
            <a:r>
              <a:t>[7] Improving Large Language Models through Domain Adaptation Techniques - https://arxiv.org/abs/2104.03116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Continual Learning for Large Language Models (LLMs) - https://arxiv.org/abs/2104.06307</a:t>
            </a:r>
            <a:br/>
            <a:r>
              <a:t>[9] Domain Adaptation for Large Language Models (LLMs) - https://huggingface.co/blog/domain-adaptation-for-nlp</a:t>
            </a:r>
            <a:br/>
            <a:r>
              <a:t>[10] Domain Adaptation for Large Language Models (LLMs) - https://arxiv.org/abs/2106.01401</a:t>
            </a:r>
            <a:br/>
            <a:r>
              <a:t>[11] BERT-based Model for LLM-Content Classification - https://arxiv.org/abs/1810.04805</a:t>
            </a:r>
            <a:br/>
            <a:r>
              <a:t>[12] Analyzing Bias in LLM-Generated Content - https://arxiv.org/abs/2106.04596</a:t>
            </a:r>
            <a:br/>
            <a:r>
              <a:t>[13] BERT-based Model for LLM-Content Classification - https://arxiv.org/abs/2002.00793</a:t>
            </a:r>
            <a:br/>
            <a:r>
              <a:t>[14] BERT-based Model for LLM-Content Classification - https://arxiv.org/abs/1810.04805</a:t>
            </a:r>
            <a:br/>
            <a:r>
              <a:t>[15] Fine-Tuning Large Language Models (LLM) - https://huggingface.co/blog/fine-tune-a-non-english-gpt/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[16] RoBERTa: A Robustly Optimized BERT Approach for LLM-Content Classification - https://arxiv.org/abs/1907.11692</a:t>
            </a:r>
            <a:br/>
            <a:r>
              <a:t>[17] Robustness Testing of Large Language Models (LLMs) - https://arxiv.org/abs/2102.12627</a:t>
            </a:r>
            <a:br/>
            <a:r>
              <a:t>[18] Adversarial Attacks on Large Language Models (LLMs) - https://arxiv.org/abs/2104.12902</a:t>
            </a:r>
            <a:br/>
            <a:r>
              <a:t>[19] Robustness Testing of Large Language Models (LLMs) - https://arxiv.org/abs/2104.08106</a:t>
            </a:r>
            <a:br/>
            <a:r>
              <a:t>[20] Adversarial Attacks on Large Language Models (LLMs) - https://arxiv.org/abs/2105.02084</a:t>
            </a:r>
            <a:br/>
            <a:r>
              <a:t>[21] Continual Learning for Large Language Models (LLMs) - https://arxiv.org/abs/2103.04454</a:t>
            </a:r>
            <a:br/>
            <a:r>
              <a:t>[22] Mitigating Adversarial Attacks on Large Language Models - https://arxiv.org/abs/2104.07532</a:t>
            </a:r>
            <a:br/>
            <a:r>
              <a:t>[23] Evasion Techniques for LLM Detectors - https://arxiv.org/abs/2105.08605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[24] Defending Against Adversarial Attacks on Large Language Models (LLMs) - https://arxiv.org/abs/2104.07521</a:t>
            </a:r>
            <a:br/>
            <a:r>
              <a:t>[25] Ethical Considerations in LLM Content Generation: A Comprehensive Guide - https://www.example.com/ethical-considerations-llm-content-generation-guide</a:t>
            </a:r>
            <a:br/>
            <a:r>
              <a:t>[26] Evasion Techniques for LLM Detectors - https://arxiv.org/abs/1902.05967</a:t>
            </a:r>
            <a:br/>
            <a:r>
              <a:t>[27] Fine-Tuning Large Language Models (LLM) - https://huggingface.co/transformers/v4.11.3/training.html</a:t>
            </a:r>
            <a:br/>
            <a:r>
              <a:t>[28] Data Augmentation Techniques for LLM Training - https://towardsdatascience.com/data-augmentation-in-nlp-2801a34dfc28</a:t>
            </a:r>
            <a:br/>
            <a:r>
              <a:t>[29] Watermarking LLM Content: Techniques and Applications - https://www.researchgate.net/publication/340138025_Watermarking_Techniques_for_Large_Language_Model-Generated_Text</a:t>
            </a:r>
            <a:br/>
            <a:r>
              <a:t>[30] Detecting Fake News: A Machine Learning Approach - https://www.sciencedirect.com/science/article/abs/pii/S0957417421003998</a:t>
            </a:r>
            <a:br/>
            <a:r>
              <a:t>[31] Detecting Bias in LLM-Generated Content: A Review - https://arxiv.org/abs/2104.11162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[32] Multi-Label Content Detection using Deep Learning Techniques - https://www.springer.com/gp/book/9783030554534</a:t>
            </a:r>
            <a:br/>
            <a:r>
              <a:t>[33] Watermarking LLM Content: Techniques and Applications - https://www.researchgate.net/publication/349641595_Watermarking_LLM_Content_Techniques_and_Applications</a:t>
            </a:r>
            <a:br/>
            <a:r>
              <a:t>[34] Watermarking LLM Content: Techniques and Applications - https://www.researchgate.net/publication/326221930_Watermarking_LLM_Content_Techniques_and_Applications</a:t>
            </a:r>
            <a:br/>
            <a:r>
              <a:t>[35] Watermarking LLM Content: Techniques and Applications - https://www.researchgate.net/publication/347378753_Watermarking_Language_Model_Generated_Text</a:t>
            </a:r>
            <a:br/>
            <a:r>
              <a:t>[36] Domain Adaptation for Large Language Models (LLMs) - https://arxiv.org/abs/2104.06301</a:t>
            </a:r>
            <a:br/>
            <a:r>
              <a:t>[37] BERT-based Model for LLM-Content Classification - https://arxiv.org/abs/1810.04805</a:t>
            </a:r>
            <a:br/>
            <a:r>
              <a:t>[38] Detecting LLM-Generated Content: Challenges and Solutions - https://www.example.com/detecting-llm-generated-content</a:t>
            </a:r>
            <a:br/>
            <a:r>
              <a:t>[39] Continual Learning for Large Language Models (LLMs) - https://arxiv.org/abs/2104.11155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[40] Ethical Considerations in LLM Content Generation: A Comprehensive Guide - https://www.researchgate.net/publication/348285886_Ethical_Considerations_in_LLM_Content_Generation_A_Comprehensive_Guide</a:t>
            </a:r>
            <a:br/>
            <a:r>
              <a:t>[41] Improving Large Language Models through Data Augmentation Techniques - https://arxiv.org/abs/2011.11177</a:t>
            </a:r>
            <a:br/>
            <a:r>
              <a:t>[42] GPT-3 Benchmark: A Dataset for Evaluating Large Language Models - https://github.com/openai/gpt-3-benchmark</a:t>
            </a:r>
            <a:br/>
            <a:r>
              <a:t>[43] Multi-Label Content Detection using Deep Learning Techniques - https://towardsdatascience.com/multi-label-text-classification-with-deep-learning-5a7f62d8caed</a:t>
            </a:r>
            <a:br/>
            <a:r>
              <a:t>[44] Multi-Label Content Detection: Techniques and Challenges - https://www.example.com/multi-label-content-detection-techniques-challenges</a:t>
            </a:r>
            <a:br/>
            <a:r>
              <a:t>[45] Ethical Considerations in LLM Content Generation: A Comprehensive Guide - https://www.examplelink.com/ethical-considerations-llm-content-generation</a:t>
            </a:r>
            <a:br/>
            <a:r>
              <a:t>[46] Understanding Explainability in Large Language Models (LLMs) - https://www.ibm.com/blogs/research/2021/06/explainable-ai-llm/</a:t>
            </a:r>
            <a:br/>
            <a:r>
              <a:t>[47] Watermarking LLM Content: Techniques and Applications - https://arxiv.org/abs/2104.02577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2400"/>
            </a:pPr>
            <a:r>
              <a:t>[48] Multi-Label Content Detection with Deep Learning Models - https://arxiv.org/abs/1611.03530</a:t>
            </a:r>
            <a:br/>
            <a:r>
              <a:t>[49] Importance of Explainability in Large Language Models (LLMs) - https://www.ibm.com/blogs/research/2021/04/explainability-in-large-language-models/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