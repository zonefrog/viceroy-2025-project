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Mastering LLM-Content Generation and Detection: Advanced Strategies and Techniques</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Benchmarking Datasets for LLM-content Generation: Exploring COCO, ImageNet, and More</a:t>
            </a:r>
          </a:p>
        </p:txBody>
      </p:sp>
      <p:sp>
        <p:nvSpPr>
          <p:cNvPr id="3" name="Content Placeholder 2"/>
          <p:cNvSpPr>
            <a:spLocks noGrp="1"/>
          </p:cNvSpPr>
          <p:nvPr>
            <p:ph idx="1"/>
          </p:nvPr>
        </p:nvSpPr>
        <p:spPr/>
        <p:txBody>
          <a:bodyPr/>
          <a:lstStyle/>
          <a:p>
            <a:pPr>
              <a:defRPr sz="1200"/>
            </a:pPr>
            <a:r>
              <a:t>Slide 1: Benchmarking Datasets for LLM-content Generation: Exploring COCO, ImageNet, and More</a:t>
            </a:r>
            <a:br/>
            <a:br/>
            <a:r>
              <a:t>Common Benchmark Datasets for LLM-content Generation</a:t>
            </a:r>
            <a:br/>
            <a:br/>
            <a:r>
              <a:t>Teaching Outline Context:</a:t>
            </a:r>
            <a:br/>
            <a:br/>
            <a:r>
              <a:t>Topic 1: LLM-content Benchmarking Datasets</a:t>
            </a:r>
            <a:br/>
            <a:r>
              <a:t>- Common benchmark datasets used for evaluating LLM-content generation models</a:t>
            </a:r>
            <a:br/>
            <a:r>
              <a:t>  - CLEVR, COCO, ImageNet, MSCOCO, VQA, SQuAD</a:t>
            </a:r>
            <a:br/>
            <a:r>
              <a:t>- Overview of COCO dataset for object detection, segmentation, and captioning tasks</a:t>
            </a:r>
            <a:br/>
            <a:r>
              <a:t>- Importance of ImageNet for training deep learning models</a:t>
            </a:r>
            <a:br/>
            <a:r>
              <a:t>- Introduction to OpenAI DALL-E dataset for LLM content generation</a:t>
            </a:r>
            <a:br/>
            <a:br/>
            <a:r>
              <a:t>Estimated number of slides: 5-7</a:t>
            </a:r>
            <a:br/>
            <a:br/>
            <a:r>
              <a:t>Topic 2: LLM-content Detection</a:t>
            </a:r>
            <a:br/>
            <a:r>
              <a:t>- Challenges in detecting LLM-generated content</a:t>
            </a:r>
            <a:br/>
            <a:r>
              <a:t>- Utilization of deep learning techniques, such as neural networks, for content detection</a:t>
            </a:r>
            <a:br/>
            <a:r>
              <a:t>- Role of BERT in LLM-content detection</a:t>
            </a:r>
            <a:br/>
            <a:r>
              <a:t>- Overview of GPT-3 for content generation and detection</a:t>
            </a:r>
            <a:br/>
            <a:br/>
            <a:r>
              <a:t>Estimated number of slides: 6-8</a:t>
            </a:r>
            <a:br/>
            <a:br/>
            <a:r>
              <a:t>Topic 3: Evading LLM Detectors</a:t>
            </a:r>
            <a:br/>
            <a:r>
              <a:t>- Strategies for evading language model detection systems</a:t>
            </a:r>
            <a:br/>
            <a:r>
              <a:t>- Adversarial attacks on LLM-content detection systems</a:t>
            </a:r>
            <a:br/>
            <a:r>
              <a:t>- Evasion attacks on language model detection systems</a:t>
            </a:r>
            <a:br/>
            <a:r>
              <a:t>- Techniques and methods for evading detection mechanisms</a:t>
            </a:r>
            <a:br/>
            <a:br/>
            <a:r>
              <a:t>Estimated number of slides: 5-7</a:t>
            </a:r>
            <a:br/>
            <a:br/>
            <a:r>
              <a:t>Topic 4: Watermarking LLM Content</a:t>
            </a:r>
            <a:br/>
            <a:r>
              <a:t>- Digital watermarking techniques for LLM content protection</a:t>
            </a:r>
            <a:br/>
            <a:r>
              <a:t>- Importance of watermarking for proving ownership and authenticity</a:t>
            </a:r>
            <a:br/>
            <a:r>
              <a:t>- Application of watermarking in language model-generated content</a:t>
            </a:r>
            <a:br/>
            <a:r>
              <a:t>- Methods for embedding imperceptible identifiers into generated content</a:t>
            </a:r>
            <a:br/>
            <a:br/>
            <a:r>
              <a:t>Estimated number of slides: 4-6</a:t>
            </a:r>
            <a:br/>
            <a:br/>
            <a:r>
              <a:t>Source: The COCO dataset, short for Common Objects in Context, is a widely used image dataset for object detection, segmentation, and captioning tasks. It contains over 200,000 images with more than 1.5 million object instances labeled across 80 categories. The COCO dataset is commonly used as a benchmark dataset for evaluating LLM-content generation models due to its diverse range of objects and contexts.</a:t>
            </a:r>
            <a:br/>
            <a:br/>
            <a:r>
              <a:t>Sources: [0]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Exploring the Richness of MS COCO Dataset for Object Detection</a:t>
            </a:r>
          </a:p>
        </p:txBody>
      </p:sp>
      <p:sp>
        <p:nvSpPr>
          <p:cNvPr id="3" name="Content Placeholder 2"/>
          <p:cNvSpPr>
            <a:spLocks noGrp="1"/>
          </p:cNvSpPr>
          <p:nvPr>
            <p:ph idx="1"/>
          </p:nvPr>
        </p:nvSpPr>
        <p:spPr/>
        <p:txBody>
          <a:bodyPr/>
          <a:lstStyle/>
          <a:p>
            <a:pPr>
              <a:defRPr sz="1200"/>
            </a:pPr>
            <a:r>
              <a:t>Slide 2: Overview of MS COCO Dataset for Object Detection</a:t>
            </a:r>
            <a:br/>
            <a:br/>
            <a:r>
              <a:t>Slide Title: Exploring the Richness of MS COCO Dataset for Object Detection</a:t>
            </a:r>
            <a:br/>
            <a:br/>
            <a:r>
              <a:t>Content:</a:t>
            </a:r>
            <a:br/>
            <a:br/>
            <a:r>
              <a:t>- The MS COCO (Common Objects in Context) dataset is a widely used collection of images with annotated object instances, making it ideal for tasks like object detection, segmentation, and captioning.</a:t>
            </a:r>
            <a:br/>
            <a:r>
              <a:t>- It consists of over 200,000 images with more than 1.5 million labeled object instances across 80 categories.</a:t>
            </a:r>
            <a:br/>
            <a:r>
              <a:t>- Researchers leverage the COCO dataset as a benchmark for evaluating the accuracy of Language Model (LLM) detection systems in understanding visual content within images.</a:t>
            </a:r>
            <a:br/>
            <a:r>
              <a:t>- The diverse range of objects and contexts in the COCO dataset allows for comprehensive testing of LLM models in detecting and analyzing visual information.</a:t>
            </a:r>
            <a:br/>
            <a:r>
              <a:t>- The dataset plays a crucial role in assessing the performance of LLM models in tasks related to object recognition and understanding.</a:t>
            </a:r>
            <a:br/>
            <a:br/>
            <a:r>
              <a:t>Estimated number of slides: 5-7</a:t>
            </a:r>
            <a:br/>
            <a:br/>
            <a:r>
              <a:t>Source: The COCO dataset is widely recognized for its extensive collection of images and annotated object instances, making it a valuable resource for evaluating LLM content detection systems.</a:t>
            </a:r>
            <a:br/>
            <a:br/>
            <a:r>
              <a:t>Sources: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 Impact of ImageNet on Empowering Deep Learning Models</a:t>
            </a:r>
          </a:p>
        </p:txBody>
      </p:sp>
      <p:sp>
        <p:nvSpPr>
          <p:cNvPr id="3" name="Content Placeholder 2"/>
          <p:cNvSpPr>
            <a:spLocks noGrp="1"/>
          </p:cNvSpPr>
          <p:nvPr>
            <p:ph idx="1"/>
          </p:nvPr>
        </p:nvSpPr>
        <p:spPr/>
        <p:txBody>
          <a:bodyPr/>
          <a:lstStyle/>
          <a:p>
            <a:pPr>
              <a:defRPr sz="1200"/>
            </a:pPr>
            <a:r>
              <a:t>Slide 3: The Impact of ImageNet on Empowering Deep Learning Models</a:t>
            </a:r>
            <a:br/>
            <a:br/>
            <a:r>
              <a:t>Content:</a:t>
            </a:r>
            <a:br/>
            <a:br/>
            <a:r>
              <a:t>- ImageNet is a large-scale image database that has played a pivotal role in enhancing deep learning models, particularly in the field of computer vision.</a:t>
            </a:r>
            <a:br/>
            <a:r>
              <a:t>- The dataset consists of over 14 million labeled images across more than 20,000 categories, providing a diverse and extensive collection for training deep learning algorithms.</a:t>
            </a:r>
            <a:br/>
            <a:r>
              <a:t>- ImageNet has significantly contributed to the advancement of deep learning by enabling researchers to train models on a wide variety of visual data, leading to improved performance in tasks like image classification, object detection, and image segmentation.</a:t>
            </a:r>
            <a:br/>
            <a:r>
              <a:t>- Pre-training on ImageNet has become a common practice in deep learning, as it helps in learning rich visual representations that can be transferred to other tasks or domains.</a:t>
            </a:r>
            <a:br/>
            <a:r>
              <a:t>- Deep learning models trained on ImageNet have achieved remarkable success in various competitions and challenges, showcasing the dataset's impact on empowering state-of-the-art algorithms.</a:t>
            </a:r>
            <a:br/>
            <a:br/>
            <a:r>
              <a:t>Estimated number of slides: 5-7</a:t>
            </a:r>
            <a:br/>
            <a:br/>
            <a:r>
              <a:t>Source: ImageNet has been instrumental in advancing deep learning models by providing a vast and diverse collection of labeled images for training and evaluation purposes, leading to significant improvements in various computer vision tasks.</a:t>
            </a:r>
            <a:br/>
            <a:br/>
            <a:r>
              <a:t>Sources: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Exploring the Versatility of OpenAI DALL-E Dataset for LLM-Content Generation Models</a:t>
            </a:r>
          </a:p>
        </p:txBody>
      </p:sp>
      <p:sp>
        <p:nvSpPr>
          <p:cNvPr id="3" name="Content Placeholder 2"/>
          <p:cNvSpPr>
            <a:spLocks noGrp="1"/>
          </p:cNvSpPr>
          <p:nvPr>
            <p:ph idx="1"/>
          </p:nvPr>
        </p:nvSpPr>
        <p:spPr/>
        <p:txBody>
          <a:bodyPr/>
          <a:lstStyle/>
          <a:p>
            <a:pPr>
              <a:defRPr sz="1200"/>
            </a:pPr>
            <a:r>
              <a:t>Slide 4: Introduction to OpenAI DALL-E Dataset</a:t>
            </a:r>
            <a:br/>
            <a:br/>
            <a:r>
              <a:t>Slide Title: Exploring the Versatility of OpenAI DALL-E Dataset for LLM-Content Generation Models</a:t>
            </a:r>
            <a:br/>
            <a:br/>
            <a:r>
              <a:t>Content:</a:t>
            </a:r>
            <a:br/>
            <a:br/>
            <a:r>
              <a:t>Overview of OpenAI DALL-E Dataset for LLM-Content Generation Models</a:t>
            </a:r>
            <a:br/>
            <a:br/>
            <a:r>
              <a:t>- The OpenAI DALL-E dataset is a benchmark dataset specifically designed for large language model (LLM) content generation models.</a:t>
            </a:r>
            <a:br/>
            <a:r>
              <a:t>- It consists of a diverse range of images and corresponding text descriptions, allowing models to learn to generate images from textual prompts.</a:t>
            </a:r>
            <a:br/>
            <a:r>
              <a:t>- The dataset is widely used in research to evaluate the performance of LLMs in image generation tasks.</a:t>
            </a:r>
            <a:br/>
            <a:br/>
            <a:r>
              <a:t>Teaching Outline Context:</a:t>
            </a:r>
            <a:br/>
            <a:br/>
            <a:r>
              <a:t>- Common benchmark datasets used for evaluating LLM-content generation models include CLEVR, COCO, ImageNet, MSCOCO, VQA, and SQuAD.</a:t>
            </a:r>
            <a:br/>
            <a:r>
              <a:t>- COCO dataset is essential for object detection, segmentation, and captioning tasks.</a:t>
            </a:r>
            <a:br/>
            <a:r>
              <a:t>- ImageNet plays a crucial role in training deep learning models.</a:t>
            </a:r>
            <a:br/>
            <a:r>
              <a:t>- The OpenAI DALL-E dataset offers a unique opportunity for LLM content generation models to generate images from text prompts.</a:t>
            </a:r>
            <a:br/>
            <a:br/>
            <a:r>
              <a:t>Estimated number of slides: 5-7</a:t>
            </a:r>
            <a:br/>
            <a:br/>
            <a:r>
              <a:t>Source: The OpenAI DALL-E dataset is a benchmark dataset specifically designed for large language model (LLM) content generation models. It consists of a diverse range of images and corresponding text descriptions, allowing models to learn to generate images from textual prompts. The dataset is widely used in research to evaluate the performance of LLMs in image generation tasks.</a:t>
            </a:r>
            <a:br/>
            <a:br/>
            <a:r>
              <a:t>Sources: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Navigating the Complexity: Addressing Challenges in Detecting LLM-generated Content</a:t>
            </a:r>
          </a:p>
        </p:txBody>
      </p:sp>
      <p:sp>
        <p:nvSpPr>
          <p:cNvPr id="3" name="Content Placeholder 2"/>
          <p:cNvSpPr>
            <a:spLocks noGrp="1"/>
          </p:cNvSpPr>
          <p:nvPr>
            <p:ph idx="1"/>
          </p:nvPr>
        </p:nvSpPr>
        <p:spPr/>
        <p:txBody>
          <a:bodyPr/>
          <a:lstStyle/>
          <a:p>
            <a:pPr>
              <a:defRPr sz="1200"/>
            </a:pPr>
            <a:r>
              <a:t>Slide 5: Challenges in Detecting LLM-generated Content</a:t>
            </a:r>
            <a:br/>
            <a:br/>
            <a:r>
              <a:t>Slide Title: Navigating the Complexity: Addressing Challenges in Detecting LLM-generated Content</a:t>
            </a:r>
            <a:br/>
            <a:br/>
            <a:r>
              <a:t>Content:</a:t>
            </a:r>
            <a:br/>
            <a:br/>
            <a:r>
              <a:t>Challenges in Detecting LLM-generated Content: Overcoming the Advanced Capabilities of Language Models</a:t>
            </a:r>
            <a:br/>
            <a:br/>
            <a:r>
              <a:t>- Language models like GPT-3 possess advanced capabilities in generating human-like text, making it difficult to distinguish between machine-generated and human-generated content.</a:t>
            </a:r>
            <a:br/>
            <a:r>
              <a:t>- Traditional detection systems struggle to identify content produced by LLMs due to their high level of sophistication and natural language understanding.</a:t>
            </a:r>
            <a:br/>
            <a:br/>
            <a:r>
              <a:t>Teaching Outline Context:</a:t>
            </a:r>
            <a:br/>
            <a:br/>
            <a:r>
              <a:t>- The complexity of detecting LLM-generated content arises from the ability of models like GPT-3 to mimic human writing styles and produce coherent text.</a:t>
            </a:r>
            <a:br/>
            <a:r>
              <a:t>- As LLMs continue to evolve and improve, detecting their generated content becomes increasingly challenging for existing detection mechanisms.</a:t>
            </a:r>
            <a:br/>
            <a:r>
              <a:t>- Addressing these challenges requires innovative approaches and advanced techniques to differentiate between genuine and machine-generated content effectively.</a:t>
            </a:r>
            <a:br/>
            <a:br/>
            <a:r>
              <a:t>Estimated number of slides: 5-7</a:t>
            </a:r>
            <a:br/>
            <a:br/>
            <a:r>
              <a:t>Source: GPT-3, developed by OpenAI, is known for its state-of-the-art language generation capabilities, making it challenging to detect content produced by this model using traditional detection systems.</a:t>
            </a:r>
            <a:br/>
            <a:br/>
            <a:r>
              <a:t>Sources: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LLM-Content Detection with Neural Networks: Leveraging Advanced Techniques for Accuracy"</a:t>
            </a:r>
          </a:p>
        </p:txBody>
      </p:sp>
      <p:sp>
        <p:nvSpPr>
          <p:cNvPr id="3" name="Content Placeholder 2"/>
          <p:cNvSpPr>
            <a:spLocks noGrp="1"/>
          </p:cNvSpPr>
          <p:nvPr>
            <p:ph idx="1"/>
          </p:nvPr>
        </p:nvSpPr>
        <p:spPr/>
        <p:txBody>
          <a:bodyPr/>
          <a:lstStyle/>
          <a:p>
            <a:pPr>
              <a:defRPr sz="1200"/>
            </a:pPr>
            <a:r>
              <a:t>Slide 6: Utilization of Neural Networks for Content Detection</a:t>
            </a:r>
            <a:br/>
            <a:br/>
            <a:r>
              <a:t>Slide Title: "Enhancing LLM-Content Detection with Neural Networks: Leveraging Advanced Techniques for Accuracy"</a:t>
            </a:r>
            <a:br/>
            <a:br/>
            <a:r>
              <a:t>Content:</a:t>
            </a:r>
            <a:br/>
            <a:br/>
            <a:r>
              <a:t>- Neural networks play a crucial role in enhancing the detection of LLM-generated content due to their ability to analyze complex patterns and relationships within data.</a:t>
            </a:r>
            <a:br/>
            <a:r>
              <a:t>- By leveraging advanced deep learning techniques, neural networks can improve the accuracy and efficiency of detecting machine-generated content.</a:t>
            </a:r>
            <a:br/>
            <a:r>
              <a:t>- Neural networks, such as convolutional neural networks (CNNs) and recurrent neural networks (RNNs), are commonly used in content detection tasks to extract meaningful features and detect anomalies in text and images.</a:t>
            </a:r>
            <a:br/>
            <a:r>
              <a:t>- The integration of neural networks in LLM-content detection systems enables more precise identification of machine-generated content and enhances overall detection performance.</a:t>
            </a:r>
            <a:br/>
            <a:br/>
            <a:r>
              <a:t>Teaching Outline Context:</a:t>
            </a:r>
            <a:br/>
            <a:br/>
            <a:r>
              <a:t>- Neural networks are instrumental in enhancing the detection capabilities of LLM-generated content by analyzing intricate patterns and relationships in data.</a:t>
            </a:r>
            <a:br/>
            <a:r>
              <a:t>- Leveraging advanced deep learning techniques like CNNs and RNNs improves the accuracy and efficiency of detecting machine-generated content.</a:t>
            </a:r>
            <a:br/>
            <a:r>
              <a:t>- The utilization of neural networks in LLM-content detection systems enables the extraction of relevant features and the identification of anomalies in text and visual content.</a:t>
            </a:r>
            <a:br/>
            <a:r>
              <a:t>- By integrating neural networks, detection systems can achieve higher accuracy levels in differentiating between human and machine-generated content.</a:t>
            </a:r>
            <a:br/>
            <a:br/>
            <a:r>
              <a:t>Estimated number of slides: 6-8</a:t>
            </a:r>
            <a:br/>
            <a:br/>
            <a:r>
              <a:t>Source: The integration of neural networks in LLM-content detection systems enhances the accuracy and efficiency of identifying machine-generated content, improving overall detection performance.</a:t>
            </a:r>
            <a:br/>
            <a:br/>
            <a:r>
              <a:t>Sources: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"BERT: Enhancing LLM-Content Detection with Contextual Understanding"</a:t>
            </a:r>
          </a:p>
        </p:txBody>
      </p:sp>
      <p:sp>
        <p:nvSpPr>
          <p:cNvPr id="3" name="Content Placeholder 2"/>
          <p:cNvSpPr>
            <a:spLocks noGrp="1"/>
          </p:cNvSpPr>
          <p:nvPr>
            <p:ph idx="1"/>
          </p:nvPr>
        </p:nvSpPr>
        <p:spPr/>
        <p:txBody>
          <a:bodyPr/>
          <a:lstStyle/>
          <a:p>
            <a:pPr>
              <a:defRPr sz="1200"/>
            </a:pPr>
            <a:r>
              <a:t>Slide 7: Role of BERT in LLM-Content Detection</a:t>
            </a:r>
            <a:br/>
            <a:br/>
            <a:r>
              <a:t>Slide Title: "BERT: Enhancing LLM-Content Detection with Contextual Understanding"</a:t>
            </a:r>
            <a:br/>
            <a:br/>
            <a:r>
              <a:t>Content:</a:t>
            </a:r>
            <a:br/>
            <a:br/>
            <a:r>
              <a:t>- BERT (Bidirectional Encoder Representations from Transformers) plays a pivotal role in LLM-content detection by leveraging its ability to comprehend context and semantics in text data.</a:t>
            </a:r>
            <a:br/>
            <a:r>
              <a:t>- Fine-tuning BERT on labeled datasets enables effective identification of generated content produced by large language models, enhancing the accuracy and reliability of content detection systems.</a:t>
            </a:r>
            <a:br/>
            <a:r>
              <a:t>- BERT's bidirectional nature allows it to capture dependencies between words and phrases in both directions, providing a comprehensive understanding of the text and aiding in distinguishing between human and machine-generated content.</a:t>
            </a:r>
            <a:br/>
            <a:r>
              <a:t>- The contextual understanding provided by BERT enhances the detection capabilities of LLM-generated content, making it a valuable tool in combating the challenges associated with identifying machine-generated text.</a:t>
            </a:r>
            <a:br/>
            <a:br/>
            <a:r>
              <a:t>Teaching Outline Context:</a:t>
            </a:r>
            <a:br/>
            <a:br/>
            <a:r>
              <a:t>- BERT enhances LLM-content detection by utilizing its contextual understanding of text data to differentiate between human and machine-generated content effectively.</a:t>
            </a:r>
            <a:br/>
            <a:r>
              <a:t>- Fine-tuning BERT on labeled datasets improves the accuracy and reliability of content detection systems by leveraging its bidirectional nature to capture intricate relationships within the text.</a:t>
            </a:r>
            <a:br/>
            <a:r>
              <a:t>- The role of BERT in LLM-content detection is essential for addressing the challenges associated with identifying machine-generated content, providing a robust solution for enhancing detection performance.</a:t>
            </a:r>
            <a:br/>
            <a:r>
              <a:t>- By incorporating BERT into content detection systems, researchers and practitioners can achieve higher levels of accuracy and efficiency in distinguishing between human and machine-generated text.</a:t>
            </a:r>
            <a:br/>
            <a:br/>
            <a:r>
              <a:t>Estimated number of slides: 6-8</a:t>
            </a:r>
            <a:br/>
            <a:br/>
            <a:r>
              <a:t>Source: BERT's ability to understand context and semantics in text data enhances LLM-content detection by effectively identifying generated content produced by large language models through fine-tuning on labeled datasets.</a:t>
            </a:r>
            <a:br/>
            <a:br/>
            <a:r>
              <a:t>Sources: [6]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"Unveiling the Text Generation Wizardry of GPT-3: Harnessing the Power of Language Models for Coherent and Contextually Relevant Content"</a:t>
            </a:r>
          </a:p>
        </p:txBody>
      </p:sp>
      <p:sp>
        <p:nvSpPr>
          <p:cNvPr id="3" name="Content Placeholder 2"/>
          <p:cNvSpPr>
            <a:spLocks noGrp="1"/>
          </p:cNvSpPr>
          <p:nvPr>
            <p:ph idx="1"/>
          </p:nvPr>
        </p:nvSpPr>
        <p:spPr/>
        <p:txBody>
          <a:bodyPr/>
          <a:lstStyle/>
          <a:p>
            <a:pPr>
              <a:defRPr sz="1200"/>
            </a:pPr>
            <a:r>
              <a:t>Slide 8: Overview of GPT-3 for Content Generation</a:t>
            </a:r>
            <a:br/>
            <a:br/>
            <a:r>
              <a:t>Slide Title: "Unveiling the Text Generation Wizardry of GPT-3: Harnessing the Power of Language Models for Coherent and Contextually Relevant Content"</a:t>
            </a:r>
            <a:br/>
            <a:br/>
            <a:r>
              <a:t>Content:</a:t>
            </a:r>
            <a:br/>
            <a:br/>
            <a:r>
              <a:t>- GPT-3 (Generative Pre-trained Transformer 3) is a cutting-edge language model developed by OpenAI, known for its remarkable text generation capabilities through advanced natural language processing techniques.</a:t>
            </a:r>
            <a:br/>
            <a:r>
              <a:t>- Trained on an extensive corpus of text data, GPT-3 can generate human-like text responses across various applications, including chatbots, content creation, and language translation.</a:t>
            </a:r>
            <a:br/>
            <a:r>
              <a:t>- GPT-3 operates based on a transformer architecture, allowing it to capture long-range dependencies in text sequences and produce coherent and contextually relevant content.</a:t>
            </a:r>
            <a:br/>
            <a:r>
              <a:t>- The model's large-scale training data enables it to understand and generate text in multiple languages, adapt to diverse writing styles, and generate responses that mimic human language patterns.</a:t>
            </a:r>
            <a:br/>
            <a:r>
              <a:t>- GPT-3's versatility in generating text across different domains and contexts has made it a powerful tool for content creation, demonstrating the potential of large language models in revolutionizing natural language processing tasks.</a:t>
            </a:r>
            <a:br/>
            <a:br/>
            <a:r>
              <a:t>Teaching Outline Context:</a:t>
            </a:r>
            <a:br/>
            <a:br/>
            <a:r>
              <a:t>- GPT-3, developed by OpenAI, is a state-of-the-art language model renowned for its advanced text generation capabilities, leveraging transformer architecture for contextually relevant content creation.</a:t>
            </a:r>
            <a:br/>
            <a:r>
              <a:t>- Trained on vast amounts of text data, GPT-3 excels in generating human-like responses in multiple languages and adapting to diverse writing styles, showcasing its versatility in various applications.</a:t>
            </a:r>
            <a:br/>
            <a:r>
              <a:t>- The model's ability to capture long-range dependencies in text sequences enables it to produce coherent and contextually relevant content, making it a valuable resource for content creation tasks.</a:t>
            </a:r>
            <a:br/>
            <a:r>
              <a:t>- GPT-3's proficiency in generating text across different domains and contexts highlights the transformative potential of large language models in enhancing natural language processing tasks.</a:t>
            </a:r>
            <a:br/>
            <a:br/>
            <a:r>
              <a:t>Estimated number of slides: 5-7</a:t>
            </a:r>
            <a:br/>
            <a:br/>
            <a:r>
              <a:t>Source: GPT-3, developed by OpenAI, is a powerful language model known for its advanced text generation capabilities, operating on a transformer architecture to capture long-range dependencies in text sequences and produce coherent and contextually relevant content across various applications.</a:t>
            </a:r>
            <a:br/>
            <a:br/>
            <a:r>
              <a:t>Sources: [7]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"Mastering the Art of Evading Language Model Detection Systems: Advanced Techniques and Strategies"</a:t>
            </a:r>
          </a:p>
        </p:txBody>
      </p:sp>
      <p:sp>
        <p:nvSpPr>
          <p:cNvPr id="3" name="Content Placeholder 2"/>
          <p:cNvSpPr>
            <a:spLocks noGrp="1"/>
          </p:cNvSpPr>
          <p:nvPr>
            <p:ph idx="1"/>
          </p:nvPr>
        </p:nvSpPr>
        <p:spPr/>
        <p:txBody>
          <a:bodyPr/>
          <a:lstStyle/>
          <a:p>
            <a:pPr>
              <a:defRPr sz="1200"/>
            </a:pPr>
            <a:r>
              <a:t>Slide 9: Strategies for Evading Language Model Detection Systems</a:t>
            </a:r>
            <a:br/>
            <a:br/>
            <a:r>
              <a:t>Slide Title: "Mastering the Art of Evading Language Model Detection Systems: Advanced Techniques and Strategies"</a:t>
            </a:r>
            <a:br/>
            <a:br/>
            <a:r>
              <a:t>Content:</a:t>
            </a:r>
            <a:br/>
            <a:br/>
            <a:r>
              <a:t>- Evading language model detection systems involves utilizing techniques such as adversarial attacks, obfuscation, and data poisoning to manipulate the output of the model and evade detection.</a:t>
            </a:r>
            <a:br/>
            <a:r>
              <a:t>- Adversarial attacks involve making small, imperceptible changes to input data to cause the model to make incorrect predictions.</a:t>
            </a:r>
            <a:br/>
            <a:r>
              <a:t>- Obfuscation techniques involve adding noise or encryption to the input data to make it harder for the model to accurately classify it.</a:t>
            </a:r>
            <a:br/>
            <a:r>
              <a:t>- Data poisoning involves injecting malicious data into the training dataset to bias the model's predictions.</a:t>
            </a:r>
            <a:br/>
            <a:r>
              <a:t>- These techniques can be used to bypass LLM detectors and undermine their accuracy.</a:t>
            </a:r>
            <a:br/>
            <a:br/>
            <a:r>
              <a:t>Teaching Outline Context:</a:t>
            </a:r>
            <a:br/>
            <a:br/>
            <a:r>
              <a:t>- Strategies for evading language model detection systems require a deep understanding of adversarial attacks, obfuscation, and data poisoning to manipulate model outputs and avoid detection.</a:t>
            </a:r>
            <a:br/>
            <a:r>
              <a:t>- Adversarial attacks involve making subtle changes to input data to mislead the model, while obfuscation techniques add noise or encryption to disrupt accurate classification.</a:t>
            </a:r>
            <a:br/>
            <a:r>
              <a:t>- Data poisoning injects malicious data into training datasets to bias predictions, enabling evasion of detection mechanisms.</a:t>
            </a:r>
            <a:br/>
            <a:r>
              <a:t>- By employing these advanced techniques, individuals can evade LLM detectors and challenge the accuracy of language model detection systems.</a:t>
            </a:r>
            <a:br/>
            <a:br/>
            <a:r>
              <a:t>Estimated number of slides: 5-7</a:t>
            </a:r>
            <a:br/>
            <a:br/>
            <a:r>
              <a:t>Source: Adversarial attacks, obfuscation, and data poisoning are key techniques for evading language model detection systems, manipulating model outputs to bypass detection mechanisms and undermine accuracy (Source: Research Paper on LLM Content Detection).</a:t>
            </a:r>
            <a:br/>
            <a:br/>
            <a:r>
              <a:t>Sources: [8]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for Outsmarting LLM-Content Detection Systems: Unveiling Adversarial Attack Techniques"</a:t>
            </a:r>
          </a:p>
        </p:txBody>
      </p:sp>
      <p:sp>
        <p:nvSpPr>
          <p:cNvPr id="3" name="Content Placeholder 2"/>
          <p:cNvSpPr>
            <a:spLocks noGrp="1"/>
          </p:cNvSpPr>
          <p:nvPr>
            <p:ph idx="1"/>
          </p:nvPr>
        </p:nvSpPr>
        <p:spPr/>
        <p:txBody>
          <a:bodyPr/>
          <a:lstStyle/>
          <a:p>
            <a:pPr>
              <a:defRPr sz="1200"/>
            </a:pPr>
            <a:r>
              <a:t>Slide 10: Adversarial Attacks on LLM-content Detection</a:t>
            </a:r>
            <a:br/>
            <a:br/>
            <a:r>
              <a:t>Slide Title: Strategies for Outsmarting LLM-Content Detection Systems: Unveiling Adversarial Attack Techniques</a:t>
            </a:r>
            <a:br/>
            <a:br/>
            <a:r>
              <a:t>Content:</a:t>
            </a:r>
            <a:br/>
            <a:br/>
            <a:r>
              <a:t>- Adversarial attacks are sophisticated techniques used to outsmart LLM-content detection systems by manipulating the output of the model to evade detection.</a:t>
            </a:r>
            <a:br/>
            <a:r>
              <a:t>- These attacks involve making imperceptible changes to input data to deceive the model and produce incorrect predictions.</a:t>
            </a:r>
            <a:br/>
            <a:r>
              <a:t>- Adversarial attacks can be targeted towards various aspects of LLM-generated content, such as text, images, or multimedia, to bypass detection mechanisms.</a:t>
            </a:r>
            <a:br/>
            <a:r>
              <a:t>- By understanding and implementing adversarial attack techniques, individuals can challenge the accuracy and reliability of LLM-content detection systems.</a:t>
            </a:r>
            <a:br/>
            <a:r>
              <a:t>- It is crucial to be aware of these adversarial strategies to enhance the robustness and security of language model detection systems.</a:t>
            </a:r>
            <a:br/>
            <a:br/>
            <a:r>
              <a:t>Teaching Outline Context:</a:t>
            </a:r>
            <a:br/>
            <a:br/>
            <a:r>
              <a:t>- Adversarial attacks play a crucial role in outsmarting LLM-content detection systems by manipulating model outputs to evade detection and produce misleading results.</a:t>
            </a:r>
            <a:br/>
            <a:r>
              <a:t>- Understanding the intricacies of adversarial attacks is essential for challenging the accuracy and reliability of language model detection mechanisms.</a:t>
            </a:r>
            <a:br/>
            <a:r>
              <a:t>- By unveiling these attack techniques, individuals can gain insights into the vulnerabilities of LLM-content detection systems and enhance their defense strategies against adversarial threats.</a:t>
            </a:r>
            <a:br/>
            <a:r>
              <a:t>- Incorporating adversarial attack strategies into content detection frameworks can contribute to the development of more resilient and effective detection systems.</a:t>
            </a:r>
            <a:br/>
            <a:br/>
            <a:r>
              <a:t>Estimated number of slides: 5-7</a:t>
            </a:r>
            <a:br/>
            <a:br/>
            <a:r>
              <a:t>Source: Adversarial attacks are advanced techniques used to deceive LLM-content detection systems by making imperceptible changes to input data, leading to inaccurate predictions and evading detection mechanisms (Source: Research Paper on LLM Content Detection).</a:t>
            </a:r>
            <a:br/>
            <a:br/>
            <a:r>
              <a:t>Sources: [9]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"Navigating the Deceptive Terrain: Unraveling Evasion Attacks on Language Model Detection Systems"</a:t>
            </a:r>
          </a:p>
        </p:txBody>
      </p:sp>
      <p:sp>
        <p:nvSpPr>
          <p:cNvPr id="3" name="Content Placeholder 2"/>
          <p:cNvSpPr>
            <a:spLocks noGrp="1"/>
          </p:cNvSpPr>
          <p:nvPr>
            <p:ph idx="1"/>
          </p:nvPr>
        </p:nvSpPr>
        <p:spPr/>
        <p:txBody>
          <a:bodyPr/>
          <a:lstStyle/>
          <a:p>
            <a:pPr>
              <a:defRPr sz="1200"/>
            </a:pPr>
            <a:r>
              <a:t>Slide 11: Evasion Attacks on Language Model Detection Systems</a:t>
            </a:r>
            <a:br/>
            <a:br/>
            <a:r>
              <a:t>Slide Title: Navigating the Deceptive Terrain: Unraveling Evasion Attacks on Language Model Detection Systems</a:t>
            </a:r>
            <a:br/>
            <a:br/>
            <a:r>
              <a:t>Content:</a:t>
            </a:r>
            <a:br/>
            <a:br/>
            <a:r>
              <a:t>- Evasion attacks are strategic methods employed to circumvent language model detection systems by exploiting vulnerabilities in the model's detection mechanisms.</a:t>
            </a:r>
            <a:br/>
            <a:r>
              <a:t>- These attacks involve manipulating the input data in subtle ways to deceive the detection system and avoid detection.</a:t>
            </a:r>
            <a:br/>
            <a:r>
              <a:t>- Evasion attacks can target various aspects of language model-generated content, including text, images, and multimedia, to evade detection mechanisms effectively.</a:t>
            </a:r>
            <a:br/>
            <a:r>
              <a:t>- By understanding and implementing evasion attack techniques, individuals can challenge the effectiveness and accuracy of language model detection systems.</a:t>
            </a:r>
            <a:br/>
            <a:r>
              <a:t>- It is crucial to be aware of these evasion strategies to enhance the resilience and security of language model detection mechanisms.</a:t>
            </a:r>
            <a:br/>
            <a:br/>
            <a:r>
              <a:t>Teaching Outline Context:</a:t>
            </a:r>
            <a:br/>
            <a:br/>
            <a:r>
              <a:t>- Evasion attacks are critical in navigating the deceptive terrain of language model detection systems by exploiting weaknesses in detection mechanisms.</a:t>
            </a:r>
            <a:br/>
            <a:r>
              <a:t>- Understanding the nuances of evasion attacks is essential for evaluating the effectiveness and reliability of language model detection systems.</a:t>
            </a:r>
            <a:br/>
            <a:r>
              <a:t>- By unraveling these attack strategies, individuals can gain insights into the loopholes of language model detection systems and strengthen their defense strategies against evasion threats.</a:t>
            </a:r>
            <a:br/>
            <a:r>
              <a:t>- Integrating evasion attack techniques into content detection frameworks can contribute to the development of more robust and efficient detection systems.</a:t>
            </a:r>
            <a:br/>
            <a:br/>
            <a:r>
              <a:t>Estimated number of slides: 5-7</a:t>
            </a:r>
            <a:br/>
            <a:br/>
            <a:r>
              <a:t>Source: Evasion attacks are strategic methods used to bypass language model detection systems by manipulating input data to deceive detection mechanisms and avoid detection (Source: Research Paper on LLM Content Detection).</a:t>
            </a:r>
            <a:br/>
            <a:br/>
            <a:r>
              <a:t>Sources: [10]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"Mastering Evasion Tactics: Advanced Techniques for Outsmarting Language Model Detection Systems"</a:t>
            </a:r>
          </a:p>
        </p:txBody>
      </p:sp>
      <p:sp>
        <p:nvSpPr>
          <p:cNvPr id="3" name="Content Placeholder 2"/>
          <p:cNvSpPr>
            <a:spLocks noGrp="1"/>
          </p:cNvSpPr>
          <p:nvPr>
            <p:ph idx="1"/>
          </p:nvPr>
        </p:nvSpPr>
        <p:spPr/>
        <p:txBody>
          <a:bodyPr/>
          <a:lstStyle/>
          <a:p>
            <a:pPr>
              <a:defRPr sz="1200"/>
            </a:pPr>
            <a:r>
              <a:t>Slide 12: Techniques for Evading Detection Mechanisms</a:t>
            </a:r>
            <a:br/>
            <a:br/>
            <a:r>
              <a:t>Slide Title: "Mastering Evasion Tactics: Advanced Techniques for Outsmarting Language Model Detection Systems"</a:t>
            </a:r>
            <a:br/>
            <a:br/>
            <a:r>
              <a:t>Content:</a:t>
            </a:r>
            <a:br/>
            <a:br/>
            <a:r>
              <a:t>- Strategies and Techniques for Evading Language Model Detection Systems</a:t>
            </a:r>
            <a:br/>
            <a:br/>
            <a:r>
              <a:t>1. Adversarial Attacks:</a:t>
            </a:r>
            <a:br/>
            <a:r>
              <a:t>   - Adversarial attacks involve making imperceptible changes to input data to deceive the detection system.</a:t>
            </a:r>
            <a:br/>
            <a:r>
              <a:t>   - By exploiting vulnerabilities in the model's detection mechanisms, adversaries can evade detection effectively.</a:t>
            </a:r>
            <a:br/>
            <a:br/>
            <a:r>
              <a:t>2. Synonym Substitution and Paraphrasing:</a:t>
            </a:r>
            <a:br/>
            <a:r>
              <a:t>   - Using synonyms and paraphrasing techniques to alter the language while maintaining human understandability can confuse detection systems.</a:t>
            </a:r>
            <a:br/>
            <a:r>
              <a:t>   - These subtle changes can help evade detection by making the content appear different to the model.</a:t>
            </a:r>
            <a:br/>
            <a:br/>
            <a:r>
              <a:t>3. Obfuscation Techniques:</a:t>
            </a:r>
            <a:br/>
            <a:r>
              <a:t>   - Obfuscation involves adding noise or irrelevant information to the content to make it harder for the detection system to analyze accurately.</a:t>
            </a:r>
            <a:br/>
            <a:r>
              <a:t>   - By introducing complexity and ambiguity, obfuscation techniques can hinder detection mechanisms.</a:t>
            </a:r>
            <a:br/>
            <a:br/>
            <a:r>
              <a:t>4. Leveraging Limitations and Blind Spots:</a:t>
            </a:r>
            <a:br/>
            <a:r>
              <a:t>   - Understanding the blind spots and limitations of the detection model can be advantageous in evading detection.</a:t>
            </a:r>
            <a:br/>
            <a:r>
              <a:t>   - By exploiting these weaknesses, individuals can craft content that bypasses the detection mechanisms.</a:t>
            </a:r>
            <a:br/>
            <a:br/>
            <a:r>
              <a:t>5. Techniques and Methods for Evading Detection Mechanisms:</a:t>
            </a:r>
            <a:br/>
            <a:r>
              <a:t>   - Implementing a combination of evasion strategies tailored to the specific detection system can enhance the success rate of evading detection.</a:t>
            </a:r>
            <a:br/>
            <a:r>
              <a:t>   - Continuous research and experimentation with evasion techniques are essential for staying ahead of evolving detection systems.</a:t>
            </a:r>
            <a:br/>
            <a:br/>
            <a:r>
              <a:t>Teaching Outline Context:</a:t>
            </a:r>
            <a:br/>
            <a:br/>
            <a:r>
              <a:t>- Mastering evasion tactics is crucial for outsmarting language model detection systems and maintaining the integrity of content generation.</a:t>
            </a:r>
            <a:br/>
            <a:r>
              <a:t>- By exploring advanced evasion techniques, individuals can develop a deeper understanding of how to evade detection effectively.</a:t>
            </a:r>
            <a:br/>
            <a:r>
              <a:t>- Incorporating these strategies into content creation processes can help mitigate the risks associated with detection mechanisms.</a:t>
            </a:r>
            <a:br/>
            <a:r>
              <a:t>- Enhancing knowledge of evasion tactics is essential for safeguarding against potential threats to content authenticity and security.</a:t>
            </a:r>
            <a:br/>
            <a:br/>
            <a:r>
              <a:t>Estimated number of slides: 5-7</a:t>
            </a:r>
            <a:br/>
            <a:br/>
            <a:r>
              <a:t>Source: Adversarial attacks, synonym substitution, paraphrasing, obfuscation techniques, and leveraging limitations are effective strategies for evading language model detection systems (Source: Research Paper on LLM Content Detection).</a:t>
            </a:r>
            <a:br/>
            <a:br/>
            <a:r>
              <a:t>Sources: [11]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"Securing LLM Content: Unveiling the Power of Digital Watermarking Techniques"</a:t>
            </a:r>
          </a:p>
        </p:txBody>
      </p:sp>
      <p:sp>
        <p:nvSpPr>
          <p:cNvPr id="3" name="Content Placeholder 2"/>
          <p:cNvSpPr>
            <a:spLocks noGrp="1"/>
          </p:cNvSpPr>
          <p:nvPr>
            <p:ph idx="1"/>
          </p:nvPr>
        </p:nvSpPr>
        <p:spPr/>
        <p:txBody>
          <a:bodyPr/>
          <a:lstStyle/>
          <a:p>
            <a:pPr>
              <a:defRPr sz="1200"/>
            </a:pPr>
            <a:r>
              <a:t>Slide 13: Digital Watermarking Techniques for LLM Content Protection</a:t>
            </a:r>
            <a:br/>
            <a:br/>
            <a:r>
              <a:t>Slide Title: "Securing LLM Content: Unveiling the Power of Digital Watermarking Techniques"</a:t>
            </a:r>
            <a:br/>
            <a:br/>
            <a:r>
              <a:t>Content:</a:t>
            </a:r>
            <a:br/>
            <a:br/>
            <a:r>
              <a:t>- Watermarking techniques play a crucial role in protecting LLM-generated content by embedding imperceptible identifiers to prove ownership and authenticity.</a:t>
            </a:r>
            <a:br/>
            <a:r>
              <a:t>- These watermarks can be visible or invisible and are designed to withstand various manipulations and transformations.</a:t>
            </a:r>
            <a:br/>
            <a:r>
              <a:t>- Common methods include spatial domain watermarking, frequency domain watermarking, and robust watermarking techniques.</a:t>
            </a:r>
            <a:br/>
            <a:br/>
            <a:r>
              <a:t>1. Spatial Domain Watermarking:</a:t>
            </a:r>
            <a:br/>
            <a:r>
              <a:t>   - Spatial domain watermarking involves embedding watermarks directly into the pixel values of the image or text.</a:t>
            </a:r>
            <a:br/>
            <a:r>
              <a:t>   - This method is effective for ensuring the watermark remains intact even after resizing or cropping of the content.</a:t>
            </a:r>
            <a:br/>
            <a:br/>
            <a:r>
              <a:t>2. Frequency Domain Watermarking:</a:t>
            </a:r>
            <a:br/>
            <a:r>
              <a:t>   - Frequency domain watermarking operates by transforming the content into the frequency domain to embed the watermark.</a:t>
            </a:r>
            <a:br/>
            <a:r>
              <a:t>   - By manipulating the frequency components, the watermark can be embedded in a manner that is robust against common signal processing operations.</a:t>
            </a:r>
            <a:br/>
            <a:br/>
            <a:r>
              <a:t>3. Robust Watermarking Techniques:</a:t>
            </a:r>
            <a:br/>
            <a:r>
              <a:t>   - Robust watermarking techniques are designed to withstand intentional attacks and unintentional distortions.</a:t>
            </a:r>
            <a:br/>
            <a:r>
              <a:t>   - These methods use error correction codes and encryption to ensure the watermark remains detectable even in the presence of noise or alterations.</a:t>
            </a:r>
            <a:br/>
            <a:br/>
            <a:r>
              <a:t>4. Importance of Watermarking for Proving Ownership and Authenticity:</a:t>
            </a:r>
            <a:br/>
            <a:r>
              <a:t>   - Digital watermarks serve as a means of proving ownership and authenticity of LLM-generated content.</a:t>
            </a:r>
            <a:br/>
            <a:r>
              <a:t>   - By embedding unique identifiers, creators can protect their intellectual property rights and establish the original source of the content.</a:t>
            </a:r>
            <a:br/>
            <a:br/>
            <a:r>
              <a:t>5. Application of Watermarking in Language Model-Generated Content:</a:t>
            </a:r>
            <a:br/>
            <a:r>
              <a:t>   - Watermarking techniques are particularly valuable for content generated by language models like GPT-3 and DALL-E.</a:t>
            </a:r>
            <a:br/>
            <a:r>
              <a:t>   - By incorporating watermarks into the generated text or images, creators can safeguard their content from unauthorized use or distribution.</a:t>
            </a:r>
            <a:br/>
            <a:br/>
            <a:r>
              <a:t>6. Methods for Embedding Imperceptible Identifiers into Generated Content:</a:t>
            </a:r>
            <a:br/>
            <a:r>
              <a:t>   - Embedding imperceptible identifiers involves strategically inserting watermarks without compromising the visual or textual quality of the content.</a:t>
            </a:r>
            <a:br/>
            <a:r>
              <a:t>   - Techniques such as spread spectrum modulation and quantization index modulation are commonly used for seamless watermark embedding.</a:t>
            </a:r>
            <a:br/>
            <a:br/>
            <a:r>
              <a:t>Estimated number of slides: 4-6</a:t>
            </a:r>
            <a:br/>
            <a:br/>
            <a:r>
              <a:t>Source: Watermarking techniques for LLM content protection involve embedding imperceptible identifiers into the generated content to prove ownership or authenticity. These watermarks can be visible or invisible and can survive various manipulations and transformations. Common methods include spatial domain watermarking, frequency domain watermarking, and robust watermarking techniques.</a:t>
            </a:r>
            <a:br/>
            <a:br/>
            <a:r>
              <a:t>Sources: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"Protecting Intellectual Property: The Vital Role of Watermarking for Ownership and Authenticity"</a:t>
            </a:r>
          </a:p>
        </p:txBody>
      </p:sp>
      <p:sp>
        <p:nvSpPr>
          <p:cNvPr id="3" name="Content Placeholder 2"/>
          <p:cNvSpPr>
            <a:spLocks noGrp="1"/>
          </p:cNvSpPr>
          <p:nvPr>
            <p:ph idx="1"/>
          </p:nvPr>
        </p:nvSpPr>
        <p:spPr/>
        <p:txBody>
          <a:bodyPr/>
          <a:lstStyle/>
          <a:p>
            <a:pPr>
              <a:defRPr sz="1200"/>
            </a:pPr>
            <a:r>
              <a:t>Slide 14: Importance of Watermarking for Ownership and Authenticity</a:t>
            </a:r>
            <a:br/>
            <a:br/>
            <a:r>
              <a:t>Slide Title: "Protecting Intellectual Property: The Vital Role of Watermarking for Ownership and Authenticity"</a:t>
            </a:r>
            <a:br/>
            <a:br/>
            <a:r>
              <a:t>Content:</a:t>
            </a:r>
            <a:br/>
            <a:br/>
            <a:r>
              <a:t>- Watermarking techniques are essential for safeguarding LLM-generated content by embedding imperceptible identifiers to establish ownership and authenticity.</a:t>
            </a:r>
            <a:br/>
            <a:r>
              <a:t>- Digital watermarks can be visible or invisible and are designed to withstand various manipulations and transformations to prevent unauthorized use or distribution.</a:t>
            </a:r>
            <a:br/>
            <a:r>
              <a:t>- These methods play a crucial role in proving the original source of the content and deterring potential misuse.</a:t>
            </a:r>
            <a:br/>
            <a:br/>
            <a:r>
              <a:t>1. Spatial Domain Watermarking:</a:t>
            </a:r>
            <a:br/>
            <a:r>
              <a:t>   - Spatial domain watermarking involves directly embedding watermarks into the pixel values of the image or text.</a:t>
            </a:r>
            <a:br/>
            <a:r>
              <a:t>   - This method ensures that the watermark remains intact even after resizing or cropping of the content, making it effective for ownership verification.</a:t>
            </a:r>
            <a:br/>
            <a:br/>
            <a:r>
              <a:t>2. Frequency Domain Watermarking:</a:t>
            </a:r>
            <a:br/>
            <a:r>
              <a:t>   - Frequency domain watermarking transforms the content into the frequency domain to embed the watermark.</a:t>
            </a:r>
            <a:br/>
            <a:r>
              <a:t>   - By manipulating the frequency components, the watermark can be embedded in a robust manner against common signal processing operations, enhancing authenticity.</a:t>
            </a:r>
            <a:br/>
            <a:br/>
            <a:r>
              <a:t>3. Robust Watermarking Techniques:</a:t>
            </a:r>
            <a:br/>
            <a:r>
              <a:t>   - Robust watermarking techniques are specifically designed to withstand intentional attacks and unintentional distortions.</a:t>
            </a:r>
            <a:br/>
            <a:r>
              <a:t>   - Utilizing error correction codes and encryption, these methods ensure that the watermark remains detectable even in the presence of noise or alterations, reinforcing ownership protection.</a:t>
            </a:r>
            <a:br/>
            <a:br/>
            <a:r>
              <a:t>4. Importance of Watermarking for Proving Ownership and Authenticity:</a:t>
            </a:r>
            <a:br/>
            <a:r>
              <a:t>   - Digital watermarks serve as a crucial tool for proving ownership and authenticity of LLM-generated content.</a:t>
            </a:r>
            <a:br/>
            <a:r>
              <a:t>   - By embedding unique identifiers, creators can protect their intellectual property rights and establish the original source of the content, enhancing credibility and trustworthiness.</a:t>
            </a:r>
            <a:br/>
            <a:br/>
            <a:r>
              <a:t>5. Application of Watermarking in Language Model-Generated Content:</a:t>
            </a:r>
            <a:br/>
            <a:r>
              <a:t>   - Watermarking techniques are particularly valuable for content generated by advanced language models like GPT-3 and DALL-E.</a:t>
            </a:r>
            <a:br/>
            <a:r>
              <a:t>   - Incorporating watermarks into the generated text or images allows creators to safeguard their content from unauthorized use or distribution, ensuring the integrity of their work.</a:t>
            </a:r>
            <a:br/>
            <a:br/>
            <a:r>
              <a:t>6. Methods for Embedding Imperceptible Identifiers into Generated Content:</a:t>
            </a:r>
            <a:br/>
            <a:r>
              <a:t>   - Embedding imperceptible identifiers involves strategically inserting watermarks without compromising the visual or textual quality of the content.</a:t>
            </a:r>
            <a:br/>
            <a:r>
              <a:t>   - Techniques such as spread spectrum modulation and quantization index modulation are commonly used for seamless watermark embedding, maintaining the authenticity and ownership of the content.</a:t>
            </a:r>
            <a:br/>
            <a:br/>
            <a:r>
              <a:t>Estimated number of slides: 4-6</a:t>
            </a:r>
            <a:br/>
            <a:br/>
            <a:r>
              <a:t>Source: Watermarking techniques for LLM content protection involve embedding imperceptible identifiers into the generated content to prove ownership or authenticity. These watermarks can be visible or invisible and can survive various manipulations and transformations. Common methods include spatial domain watermarking, frequency domain watermarking, and robust watermarking techniques.</a:t>
            </a:r>
            <a:br/>
            <a:br/>
            <a:r>
              <a:t>Sources: [13]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"Securing LLM Content with Digital Watermarking: Safeguarding Ownership and Authenticity"</a:t>
            </a:r>
          </a:p>
        </p:txBody>
      </p:sp>
      <p:sp>
        <p:nvSpPr>
          <p:cNvPr id="3" name="Content Placeholder 2"/>
          <p:cNvSpPr>
            <a:spLocks noGrp="1"/>
          </p:cNvSpPr>
          <p:nvPr>
            <p:ph idx="1"/>
          </p:nvPr>
        </p:nvSpPr>
        <p:spPr/>
        <p:txBody>
          <a:bodyPr/>
          <a:lstStyle/>
          <a:p>
            <a:pPr>
              <a:defRPr sz="1200"/>
            </a:pPr>
            <a:r>
              <a:t>Slide 15: Application of Watermarking in LLM-generated Content</a:t>
            </a:r>
            <a:br/>
            <a:br/>
            <a:r>
              <a:t>Slide Title: Securing LLM Content with Digital Watermarking: Safeguarding Ownership and Authenticity</a:t>
            </a:r>
            <a:br/>
            <a:br/>
            <a:r>
              <a:t>Content:</a:t>
            </a:r>
            <a:br/>
            <a:br/>
            <a:r>
              <a:t>- Watermarking techniques are crucial for protecting LLM-generated content by embedding imperceptible identifiers to establish ownership and authenticity.</a:t>
            </a:r>
            <a:br/>
            <a:r>
              <a:t>- Digital watermarks can be visible or invisible and are designed to withstand manipulations and transformations to prevent unauthorized use or distribution.</a:t>
            </a:r>
            <a:br/>
            <a:r>
              <a:t>- These methods play a vital role in proving the original source of the content and deterring potential misuse.</a:t>
            </a:r>
            <a:br/>
            <a:br/>
            <a:r>
              <a:t>1. Spatial Domain Watermarking:</a:t>
            </a:r>
            <a:br/>
            <a:r>
              <a:t>   - Spatial domain watermarking involves directly embedding watermarks into the pixel values of the image or text.</a:t>
            </a:r>
            <a:br/>
            <a:r>
              <a:t>   - This method ensures that the watermark remains intact even after resizing or cropping of the content, making it effective for ownership verification.</a:t>
            </a:r>
            <a:br/>
            <a:br/>
            <a:r>
              <a:t>2. Frequency Domain Watermarking:</a:t>
            </a:r>
            <a:br/>
            <a:r>
              <a:t>   - Frequency domain watermarking transforms the content into the frequency domain to embed the watermark.</a:t>
            </a:r>
            <a:br/>
            <a:r>
              <a:t>   - By manipulating the frequency components, the watermark can be embedded in a robust manner against common signal processing operations, enhancing authenticity.</a:t>
            </a:r>
            <a:br/>
            <a:br/>
            <a:r>
              <a:t>3. Robust Watermarking Techniques:</a:t>
            </a:r>
            <a:br/>
            <a:r>
              <a:t>   - Robust watermarking techniques are specifically designed to withstand intentional attacks and unintentional distortions.</a:t>
            </a:r>
            <a:br/>
            <a:r>
              <a:t>   - Utilizing error correction codes and encryption, these methods ensure that the watermark remains detectable even in the presence of noise or alterations, reinforcing ownership protection.</a:t>
            </a:r>
            <a:br/>
            <a:br/>
            <a:r>
              <a:t>4. Importance of Watermarking for Proving Ownership and Authenticity:</a:t>
            </a:r>
            <a:br/>
            <a:r>
              <a:t>   - Digital watermarks serve as a crucial tool for proving ownership and authenticity of LLM-generated content.</a:t>
            </a:r>
            <a:br/>
            <a:r>
              <a:t>   - By embedding unique identifiers, creators can protect their intellectual property rights and establish the original source of the content, enhancing credibility and trustworthiness.</a:t>
            </a:r>
            <a:br/>
            <a:br/>
            <a:r>
              <a:t>5. Application of Watermarking in Language Model-Generated Content:</a:t>
            </a:r>
            <a:br/>
            <a:r>
              <a:t>   - Watermarking techniques are particularly valuable for content generated by advanced language models like GPT-3 and DALL-E.</a:t>
            </a:r>
            <a:br/>
            <a:r>
              <a:t>   - Incorporating watermarks into the generated text or images allows creators to safeguard their content from unauthorized use or distribution, ensuring the integrity of their work.</a:t>
            </a:r>
            <a:br/>
            <a:br/>
            <a:r>
              <a:t>6. Methods for Embedding Imperceptible Identifiers into Generated Content:</a:t>
            </a:r>
            <a:br/>
            <a:r>
              <a:t>   - Embedding imperceptible identifiers involves strategically inserting watermarks without compromising the visual or textual quality of the content.</a:t>
            </a:r>
            <a:br/>
            <a:r>
              <a:t>   - Techniques such as spread spectrum modulation and quantization index modulation are commonly used for seamless watermark embedding, maintaining the authenticity and ownership of the content.</a:t>
            </a:r>
            <a:br/>
            <a:br/>
            <a:r>
              <a:t>Estimated number of slides: 4-6</a:t>
            </a:r>
            <a:br/>
            <a:br/>
            <a:r>
              <a:t>Source: Watermarking techniques for LLM content protection involve embedding imperceptible identifiers into the generated content to prove ownership or authenticity. These watermarks can be visible or invisible and can survive various manipulations and transformations. Common methods include spatial domain watermarking, frequency domain watermarking, and robust watermarking techniques.</a:t>
            </a:r>
            <a:br/>
            <a:br/>
            <a:r>
              <a:t>Sources: [14]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Content Protection: Advanced Methods for Embedding Identifiers in LLM-Generated Content"</a:t>
            </a:r>
          </a:p>
        </p:txBody>
      </p:sp>
      <p:sp>
        <p:nvSpPr>
          <p:cNvPr id="3" name="Content Placeholder 2"/>
          <p:cNvSpPr>
            <a:spLocks noGrp="1"/>
          </p:cNvSpPr>
          <p:nvPr>
            <p:ph idx="1"/>
          </p:nvPr>
        </p:nvSpPr>
        <p:spPr/>
        <p:txBody>
          <a:bodyPr/>
          <a:lstStyle/>
          <a:p>
            <a:pPr>
              <a:defRPr sz="1200"/>
            </a:pPr>
            <a:r>
              <a:t>Slide 16: Methods for Embedding Identifiers into Generated Content</a:t>
            </a:r>
            <a:br/>
            <a:br/>
            <a:r>
              <a:t>Slide Title: "Enhancing Content Protection: Advanced Methods for Embedding Identifiers in LLM-Generated Content"</a:t>
            </a:r>
            <a:br/>
            <a:br/>
            <a:r>
              <a:t>Content:</a:t>
            </a:r>
            <a:br/>
            <a:br/>
            <a:r>
              <a:t>- Embedding identifiers in LLM-generated content is essential for establishing ownership and authenticity, safeguarding against unauthorized use and distribution.</a:t>
            </a:r>
            <a:br/>
            <a:r>
              <a:t>- Various techniques can be utilized to embed imperceptible identifiers seamlessly into generated content, ensuring the integrity and protection of the creator's work.</a:t>
            </a:r>
            <a:br/>
            <a:br/>
            <a:r>
              <a:t>1. Spatial Domain Watermarking:</a:t>
            </a:r>
            <a:br/>
            <a:r>
              <a:t>   - Spatial domain watermarking involves directly inserting watermarks into the pixel values of images or text.</a:t>
            </a:r>
            <a:br/>
            <a:r>
              <a:t>   - This method ensures that the watermark remains intact even after resizing or cropping, making it effective for ownership verification and protection against unauthorized use.</a:t>
            </a:r>
            <a:br/>
            <a:br/>
            <a:r>
              <a:t>2. Frequency Domain Watermarking:</a:t>
            </a:r>
            <a:br/>
            <a:r>
              <a:t>   - Frequency domain watermarking transforms content into the frequency domain to embed the watermark.</a:t>
            </a:r>
            <a:br/>
            <a:r>
              <a:t>   - By manipulating frequency components, the watermark can be embedded robustly against common signal processing operations, enhancing authenticity and ownership protection.</a:t>
            </a:r>
            <a:br/>
            <a:br/>
            <a:r>
              <a:t>3. Robust Watermarking Techniques:</a:t>
            </a:r>
            <a:br/>
            <a:r>
              <a:t>   - Robust watermarking techniques are designed to withstand intentional attacks and unintentional distortions.</a:t>
            </a:r>
            <a:br/>
            <a:r>
              <a:t>   - By utilizing error correction codes and encryption, these methods ensure detectability of the watermark even in the presence of noise or alterations, reinforcing ownership protection.</a:t>
            </a:r>
            <a:br/>
            <a:br/>
            <a:r>
              <a:t>4. Importance of Watermarking for Proving Ownership and Authenticity:</a:t>
            </a:r>
            <a:br/>
            <a:r>
              <a:t>   - Digital watermarks are crucial for proving ownership and authenticity of LLM-generated content.</a:t>
            </a:r>
            <a:br/>
            <a:r>
              <a:t>   - By embedding unique identifiers, creators can protect their intellectual property rights and establish the original source of the content, enhancing credibility and trustworthiness.</a:t>
            </a:r>
            <a:br/>
            <a:br/>
            <a:r>
              <a:t>5. Application of Watermarking in Language Model-Generated Content:</a:t>
            </a:r>
            <a:br/>
            <a:r>
              <a:t>   - Watermarking techniques are particularly valuable for content generated by advanced language models like GPT-3 and DALL-E.</a:t>
            </a:r>
            <a:br/>
            <a:r>
              <a:t>   - Incorporating watermarks into the generated text or images allows creators to safeguard their content from unauthorized use or distribution, ensuring the integrity of their work.</a:t>
            </a:r>
            <a:br/>
            <a:br/>
            <a:r>
              <a:t>6. Methods for Embedding Imperceptible Identifiers into Generated Content:</a:t>
            </a:r>
            <a:br/>
            <a:r>
              <a:t>   - Embedding imperceptible identifiers involves strategically inserting watermarks without compromising the visual or textual quality of the content.</a:t>
            </a:r>
            <a:br/>
            <a:r>
              <a:t>   - Techniques such as spread spectrum modulation and quantization index modulation are commonly used for seamless watermark embedding, maintaining the authenticity and ownership of the content.</a:t>
            </a:r>
            <a:br/>
            <a:br/>
            <a:r>
              <a:t>Estimated number of slides: 4-6</a:t>
            </a:r>
            <a:br/>
            <a:br/>
            <a:r>
              <a:t>Source: Watermarking techniques for LLM content protection involve embedding imperceptible identifiers into the generated content to prove ownership or authenticity. These watermarks can be visible or invisible and can survive various manipulations and transformations. Common methods include spatial domain watermarking, frequency domain watermarking, and robust watermarking techniques.</a:t>
            </a:r>
            <a:br/>
            <a:br/>
            <a:r>
              <a:t>Sources: [15]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Exploring the Comprehensive COCO Dataset for Object Segmentation Mastery</a:t>
            </a:r>
          </a:p>
        </p:txBody>
      </p:sp>
      <p:sp>
        <p:nvSpPr>
          <p:cNvPr id="3" name="Content Placeholder 2"/>
          <p:cNvSpPr>
            <a:spLocks noGrp="1"/>
          </p:cNvSpPr>
          <p:nvPr>
            <p:ph idx="1"/>
          </p:nvPr>
        </p:nvSpPr>
        <p:spPr/>
        <p:txBody>
          <a:bodyPr/>
          <a:lstStyle/>
          <a:p>
            <a:pPr>
              <a:defRPr sz="1200"/>
            </a:pPr>
            <a:r>
              <a:t>Slide 17: Understanding COCO Dataset for Object Segmentation</a:t>
            </a:r>
            <a:br/>
            <a:br/>
            <a:r>
              <a:t>Slide Title: Exploring the Comprehensive COCO Dataset for Object Segmentation Mastery</a:t>
            </a:r>
            <a:br/>
            <a:br/>
            <a:r>
              <a:t>Content:</a:t>
            </a:r>
            <a:br/>
            <a:br/>
            <a:r>
              <a:t>- The MS COCO (Common Objects in Context) dataset is a crucial resource for evaluating the accuracy of Large Language Model (LLM) detection systems.</a:t>
            </a:r>
            <a:br/>
            <a:r>
              <a:t>- It comprises a vast collection of annotated images used for tasks like object detection, image classification, and captioning.</a:t>
            </a:r>
            <a:br/>
            <a:r>
              <a:t>- Researchers rely on the complexity and diversity of the COCO dataset to assess LLM models' performance in comprehending and identifying visual content.</a:t>
            </a:r>
            <a:br/>
            <a:br/>
            <a:r>
              <a:t>1. Key Features of COCO Dataset:</a:t>
            </a:r>
            <a:br/>
            <a:r>
              <a:t>   - Annotations for object detection, segmentation, and captioning tasks.</a:t>
            </a:r>
            <a:br/>
            <a:r>
              <a:t>   - Diverse range of objects and scenes for comprehensive evaluation.</a:t>
            </a:r>
            <a:br/>
            <a:r>
              <a:t>   - Large-scale dataset with over 300,000 images and 2.5 million object instances.</a:t>
            </a:r>
            <a:br/>
            <a:br/>
            <a:r>
              <a:t>2. Importance of COCO Dataset for Object Segmentation:</a:t>
            </a:r>
            <a:br/>
            <a:r>
              <a:t>   - Enables training and testing of object segmentation models.</a:t>
            </a:r>
            <a:br/>
            <a:r>
              <a:t>   - Enhances understanding of spatial relationships between objects.</a:t>
            </a:r>
            <a:br/>
            <a:r>
              <a:t>   - Facilitates benchmarking and comparison of segmentation algorithms.</a:t>
            </a:r>
            <a:br/>
            <a:br/>
            <a:r>
              <a:t>3. Application of COCO Dataset in LLM Research:</a:t>
            </a:r>
            <a:br/>
            <a:r>
              <a:t>   - Evaluating LLM models' ability to generate accurate object descriptions.</a:t>
            </a:r>
            <a:br/>
            <a:r>
              <a:t>   - Assessing the performance of LLM detectors in identifying objects in images.</a:t>
            </a:r>
            <a:br/>
            <a:r>
              <a:t>   - Testing the robustness of LLM content generation against visual context.</a:t>
            </a:r>
            <a:br/>
            <a:br/>
            <a:r>
              <a:t>4. Utilization of COCO Dataset in Object Segmentation Mastery:</a:t>
            </a:r>
            <a:br/>
            <a:r>
              <a:t>   - Leveraging COCO annotations for training deep learning models.</a:t>
            </a:r>
            <a:br/>
            <a:r>
              <a:t>   - Enhancing object segmentation algorithms through real-world image data.</a:t>
            </a:r>
            <a:br/>
            <a:r>
              <a:t>   - Improving the accuracy and efficiency of object segmentation tasks.</a:t>
            </a:r>
            <a:br/>
            <a:br/>
            <a:r>
              <a:t>5. Role of COCO Dataset in Advancing LLM Technologies:</a:t>
            </a:r>
            <a:br/>
            <a:r>
              <a:t>   - Driving innovation in LLM content generation and detection.</a:t>
            </a:r>
            <a:br/>
            <a:r>
              <a:t>   - Providing a standardized benchmark for evaluating LLM performance.</a:t>
            </a:r>
            <a:br/>
            <a:r>
              <a:t>   - Enabling researchers to push the boundaries of object understanding in language models.</a:t>
            </a:r>
            <a:br/>
            <a:br/>
            <a:r>
              <a:t>Estimated number of slides: 5</a:t>
            </a:r>
            <a:br/>
            <a:br/>
            <a:r>
              <a:t>Source: The MS COCO dataset serves as a valuable resource for evaluating LLM content detection systems, offering a diverse and extensive collection of images with annotations for various visual tasks. Researchers utilize the dataset to assess the performance of LLM models in understanding and detecting objects within images.</a:t>
            </a:r>
            <a:br/>
            <a:br/>
            <a:r>
              <a:t>Sources: [16]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"Unveiling the Richness of MSCOCO Dataset: A Comprehensive Exploration for Captioning Tasks"</a:t>
            </a:r>
          </a:p>
        </p:txBody>
      </p:sp>
      <p:sp>
        <p:nvSpPr>
          <p:cNvPr id="3" name="Content Placeholder 2"/>
          <p:cNvSpPr>
            <a:spLocks noGrp="1"/>
          </p:cNvSpPr>
          <p:nvPr>
            <p:ph idx="1"/>
          </p:nvPr>
        </p:nvSpPr>
        <p:spPr/>
        <p:txBody>
          <a:bodyPr/>
          <a:lstStyle/>
          <a:p>
            <a:pPr>
              <a:defRPr sz="1200"/>
            </a:pPr>
            <a:r>
              <a:t>Slide 18: Overview of MSCOCO Dataset for Captioning Tasks</a:t>
            </a:r>
            <a:br/>
            <a:br/>
            <a:r>
              <a:t>Slide Title: "Unveiling the Richness of MSCOCO Dataset: A Comprehensive Exploration for Captioning Tasks"</a:t>
            </a:r>
            <a:br/>
            <a:br/>
            <a:r>
              <a:t>Content:</a:t>
            </a:r>
            <a:br/>
            <a:br/>
            <a:r>
              <a:t>- The MSCOCO (Microsoft Common Objects in Context) dataset is a widely used benchmark dataset for evaluating captioning tasks in the context of Large Language Models (LLM).</a:t>
            </a:r>
            <a:br/>
            <a:r>
              <a:t>- It consists of a diverse collection of annotated images that are utilized for object detection, segmentation, and caption generation tasks.</a:t>
            </a:r>
            <a:br/>
            <a:r>
              <a:t>- Researchers rely on the complexity and richness of the MSCOCO dataset to assess the performance of LLM models in generating coherent and contextually relevant captions.</a:t>
            </a:r>
            <a:br/>
            <a:br/>
            <a:r>
              <a:t>1. Key Features of MSCOCO Dataset:</a:t>
            </a:r>
            <a:br/>
            <a:r>
              <a:t>   - Annotated images for captioning tasks, providing context for objects and scenes.</a:t>
            </a:r>
            <a:br/>
            <a:r>
              <a:t>   - Varied range of objects and scenarios for comprehensive evaluation.</a:t>
            </a:r>
            <a:br/>
            <a:r>
              <a:t>   - Large-scale dataset with over 120,000 images and 5 human-generated captions per image.</a:t>
            </a:r>
            <a:br/>
            <a:br/>
            <a:r>
              <a:t>2. Importance of MSCOCO Dataset for Captioning Tasks:</a:t>
            </a:r>
            <a:br/>
            <a:r>
              <a:t>   - Facilitates training and testing of caption generation models.</a:t>
            </a:r>
            <a:br/>
            <a:r>
              <a:t>   - Enhances understanding of generating descriptive and informative captions.</a:t>
            </a:r>
            <a:br/>
            <a:r>
              <a:t>   - Enables benchmarking and comparison of captioning algorithms.</a:t>
            </a:r>
            <a:br/>
            <a:br/>
            <a:r>
              <a:t>3. Application of MSCOCO Dataset in LLM Research:</a:t>
            </a:r>
            <a:br/>
            <a:r>
              <a:t>   - Evaluating LLM models' ability to generate meaningful and accurate captions.</a:t>
            </a:r>
            <a:br/>
            <a:r>
              <a:t>   - Assessing the performance of LLM detectors in identifying objects and context for captioning.</a:t>
            </a:r>
            <a:br/>
            <a:r>
              <a:t>   - Testing the robustness of LLM content generation against visual context in captioning tasks.</a:t>
            </a:r>
            <a:br/>
            <a:br/>
            <a:r>
              <a:t>4. Utilization of MSCOCO Dataset in Captioning Tasks Mastery:</a:t>
            </a:r>
            <a:br/>
            <a:r>
              <a:t>   - Leveraging MSCOCO annotations for training deep learning models for caption generation.</a:t>
            </a:r>
            <a:br/>
            <a:r>
              <a:t>   - Enhancing captioning algorithms through real-world image data with diverse contexts.</a:t>
            </a:r>
            <a:br/>
            <a:r>
              <a:t>   - Improving the quality and coherence of captions generated by LLM models.</a:t>
            </a:r>
            <a:br/>
            <a:br/>
            <a:r>
              <a:t>5. Role of MSCOCO Dataset in Advancing LLM Technologies:</a:t>
            </a:r>
            <a:br/>
            <a:r>
              <a:t>   - Driving innovation in LLM content generation for captioning tasks.</a:t>
            </a:r>
            <a:br/>
            <a:r>
              <a:t>   - Providing a standardized benchmark for evaluating LLM performance in generating captions.</a:t>
            </a:r>
            <a:br/>
            <a:r>
              <a:t>   - Enabling researchers to push the boundaries of caption generation capabilities in language models.</a:t>
            </a:r>
            <a:br/>
            <a:br/>
            <a:r>
              <a:t>Estimated number of slides: 5</a:t>
            </a:r>
            <a:br/>
            <a:br/>
            <a:r>
              <a:t>Source: The MSCOCO dataset serves as a valuable resource for evaluating LLM content generation models' ability to generate descriptive and contextually relevant captions. Researchers utilize the dataset to assess the performance of LLM models in generating captions that accurately describe objects and scenes within images.</a:t>
            </a:r>
            <a:br/>
            <a:br/>
            <a:r>
              <a:t>Sources: [17]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"Evaluating LLM-content Generation with COCO Dataset: Uncovering Insights with Diverse Image and Object Instances"</a:t>
            </a:r>
          </a:p>
        </p:txBody>
      </p:sp>
      <p:sp>
        <p:nvSpPr>
          <p:cNvPr id="3" name="Content Placeholder 2"/>
          <p:cNvSpPr>
            <a:spLocks noGrp="1"/>
          </p:cNvSpPr>
          <p:nvPr>
            <p:ph idx="1"/>
          </p:nvPr>
        </p:nvSpPr>
        <p:spPr/>
        <p:txBody>
          <a:bodyPr/>
          <a:lstStyle/>
          <a:p>
            <a:pPr>
              <a:defRPr sz="1200"/>
            </a:pPr>
            <a:r>
              <a:t>Slide 19: Evaluating LLM-content Generation with COCO Dataset</a:t>
            </a:r>
            <a:br/>
            <a:br/>
            <a:r>
              <a:t>Slide Title: "Evaluating LLM-content Generation with COCO Dataset: Uncovering Insights with Diverse Image and Object Instances"</a:t>
            </a:r>
            <a:br/>
            <a:br/>
            <a:r>
              <a:t>Content:</a:t>
            </a:r>
            <a:br/>
            <a:br/>
            <a:r>
              <a:t>- The COCO (Common Objects in Context) dataset is a vital benchmark dataset used for evaluating LLM-content generation models alongside other datasets like CLEVR, ImageNet, VQA, and SQuAD.</a:t>
            </a:r>
            <a:br/>
            <a:r>
              <a:t>- COCO dataset is renowned for its diverse collection of annotated images that serve as a foundation for object detection, segmentation, and captioning tasks.</a:t>
            </a:r>
            <a:br/>
            <a:r>
              <a:t>- Researchers leverage the complexity and richness of the COCO dataset to evaluate the performance of LLM models in generating coherent and contextually relevant content.</a:t>
            </a:r>
            <a:br/>
            <a:br/>
            <a:r>
              <a:t>1. Key Features of COCO Dataset:</a:t>
            </a:r>
            <a:br/>
            <a:r>
              <a:t>   - Annotated images encompassing various object instances and scene contexts.</a:t>
            </a:r>
            <a:br/>
            <a:r>
              <a:t>   - Diverse range of objects and scenarios for comprehensive evaluation of LLM models.</a:t>
            </a:r>
            <a:br/>
            <a:r>
              <a:t>   - Large-scale dataset with over 328,000 images and 2.5 million object instances.</a:t>
            </a:r>
            <a:br/>
            <a:br/>
            <a:r>
              <a:t>2. Importance of COCO Dataset for LLM-content Generation:</a:t>
            </a:r>
            <a:br/>
            <a:r>
              <a:t>   - Facilitates training and testing of LLM models for generating diverse content types.</a:t>
            </a:r>
            <a:br/>
            <a:r>
              <a:t>   - Enhances understanding of LLM models' ability to capture object relationships and scene contexts.</a:t>
            </a:r>
            <a:br/>
            <a:r>
              <a:t>   - Enables benchmarking and comparison of LLM models' performance in content generation tasks.</a:t>
            </a:r>
            <a:br/>
            <a:br/>
            <a:r>
              <a:t>3. Application of COCO Dataset in LLM Research:</a:t>
            </a:r>
            <a:br/>
            <a:r>
              <a:t>   - Evaluating LLM models' capability to generate meaningful and contextually relevant content.</a:t>
            </a:r>
            <a:br/>
            <a:r>
              <a:t>   - Assessing the performance of LLM detectors in identifying objects and scene contexts.</a:t>
            </a:r>
            <a:br/>
            <a:r>
              <a:t>   - Testing the robustness of LLM-generated content against diverse object instances and scene contexts.</a:t>
            </a:r>
            <a:br/>
            <a:br/>
            <a:r>
              <a:t>4. Utilization of COCO Dataset in LLM-content Generation Mastery:</a:t>
            </a:r>
            <a:br/>
            <a:r>
              <a:t>   - Leveraging COCO annotations for training deep learning models for content generation tasks.</a:t>
            </a:r>
            <a:br/>
            <a:r>
              <a:t>   - Enhancing content generation algorithms through real-world image data with diverse objects and contexts.</a:t>
            </a:r>
            <a:br/>
            <a:r>
              <a:t>   - Improving the quality and diversity of content generated by LLM models.</a:t>
            </a:r>
            <a:br/>
            <a:br/>
            <a:r>
              <a:t>5. Role of COCO Dataset in Advancing LLM Technologies:</a:t>
            </a:r>
            <a:br/>
            <a:r>
              <a:t>   - Driving innovation in LLM content generation for various tasks such as object detection, segmentation, and captioning.</a:t>
            </a:r>
            <a:br/>
            <a:r>
              <a:t>   - Providing a standardized benchmark for evaluating LLM performance in generating diverse content types.</a:t>
            </a:r>
            <a:br/>
            <a:r>
              <a:t>   - Enabling researchers to push the boundaries of content generation capabilities in language models.</a:t>
            </a:r>
            <a:br/>
            <a:br/>
            <a:r>
              <a:t>Estimated number of slides: 5</a:t>
            </a:r>
            <a:br/>
            <a:br/>
            <a:r>
              <a:t>Source: The COCO dataset provides a diverse and comprehensive set of annotated images for evaluating LLM-content generation models, allowing researchers to assess the models' performance in generating contextually relevant content across various object instances and scene contexts.</a:t>
            </a:r>
            <a:br/>
            <a:br/>
            <a:r>
              <a:t>Sources: [18]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Leveraging ImageNet for Advancing LLM-Content Detection: Enhancing Deep Learning Models with Diverse Image Data</a:t>
            </a:r>
          </a:p>
        </p:txBody>
      </p:sp>
      <p:sp>
        <p:nvSpPr>
          <p:cNvPr id="3" name="Content Placeholder 2"/>
          <p:cNvSpPr>
            <a:spLocks noGrp="1"/>
          </p:cNvSpPr>
          <p:nvPr>
            <p:ph idx="1"/>
          </p:nvPr>
        </p:nvSpPr>
        <p:spPr/>
        <p:txBody>
          <a:bodyPr/>
          <a:lstStyle/>
          <a:p>
            <a:pPr>
              <a:defRPr sz="1200"/>
            </a:pPr>
            <a:r>
              <a:t>Slide 20: Leveraging ImageNet for Advancing LLM-Content Detection: Enhancing Deep Learning Models with Diverse Image Data</a:t>
            </a:r>
            <a:br/>
            <a:br/>
            <a:r>
              <a:t>Content:</a:t>
            </a:r>
            <a:br/>
            <a:br/>
            <a:r>
              <a:t>- ImageNet plays a crucial role in enhancing deep learning models used for LLM-content detection by providing a vast and diverse collection of labeled images for training neural networks.</a:t>
            </a:r>
            <a:br/>
            <a:r>
              <a:t>- ImageNet consists of over 14 million labeled images across 22,000 categories, enabling deep learning models to learn and generalize patterns effectively.</a:t>
            </a:r>
            <a:br/>
            <a:r>
              <a:t>- Training deep learning models on ImageNet helps improve their ability to detect and understand visual information, which is essential for LLM-content detection tasks.</a:t>
            </a:r>
            <a:br/>
            <a:r>
              <a:t>- The diverse range of images in ImageNet allows deep learning models to recognize various objects, scenes, and contexts, enhancing their performance in detecting LLM-generated content accurately.</a:t>
            </a:r>
            <a:br/>
            <a:br/>
            <a:r>
              <a:t>1. Key Contributions of ImageNet in Deep Learning Models:</a:t>
            </a:r>
            <a:br/>
            <a:r>
              <a:t>   - Enabling the training of convolutional neural networks (CNNs) for image recognition tasks.</a:t>
            </a:r>
            <a:br/>
            <a:r>
              <a:t>   - Improving the generalization and robustness of deep learning models through exposure to a wide variety of visual data.</a:t>
            </a:r>
            <a:br/>
            <a:r>
              <a:t>   - Enhancing the performance of deep learning models in object detection, segmentation, and classification tasks.</a:t>
            </a:r>
            <a:br/>
            <a:br/>
            <a:r>
              <a:t>2. Importance of ImageNet for Training Deep Learning Models:</a:t>
            </a:r>
            <a:br/>
            <a:r>
              <a:t>   - Serving as a benchmark dataset for evaluating the performance of deep learning models in visual recognition tasks.</a:t>
            </a:r>
            <a:br/>
            <a:r>
              <a:t>   - Providing a rich source of annotated images for training models to detect and understand visual content effectively.</a:t>
            </a:r>
            <a:br/>
            <a:r>
              <a:t>   - Enhancing the accuracy and efficiency of deep learning models in detecting LLM-generated content by leveraging diverse image data.</a:t>
            </a:r>
            <a:br/>
            <a:br/>
            <a:r>
              <a:t>3. Role of ImageNet in Advancing LLM-Content Detection:</a:t>
            </a:r>
            <a:br/>
            <a:r>
              <a:t>   - Improving the capability of deep learning models to detect and classify visual information relevant to LLM content.</a:t>
            </a:r>
            <a:br/>
            <a:r>
              <a:t>   - Enhancing the accuracy and reliability of LLM-content detection systems through robust training on ImageNet data.</a:t>
            </a:r>
            <a:br/>
            <a:r>
              <a:t>   - Enabling researchers to develop more sophisticated and effective deep learning models for detecting LLM-generated content in various applications.</a:t>
            </a:r>
            <a:br/>
            <a:br/>
            <a:r>
              <a:t>4. Leveraging ImageNet for Enhanced Deep Learning Models:</a:t>
            </a:r>
            <a:br/>
            <a:r>
              <a:t>   - Incorporating ImageNet data into the training process of deep learning models for LLM-content detection tasks.</a:t>
            </a:r>
            <a:br/>
            <a:r>
              <a:t>   - Optimizing model performance by fine-tuning on ImageNet pre-trained models for improved accuracy and efficiency.</a:t>
            </a:r>
            <a:br/>
            <a:r>
              <a:t>   - Utilizing ImageNet as a foundation for developing state-of-the-art deep learning models capable of effectively detecting LLM-generated content.</a:t>
            </a:r>
            <a:br/>
            <a:br/>
            <a:r>
              <a:t>Estimated number of slides: 6</a:t>
            </a:r>
            <a:br/>
            <a:br/>
            <a:r>
              <a:t>Source: Leveraging the vast and diverse ImageNet dataset enhances the performance of deep learning models in LLM-content detection tasks by providing a rich source of labeled images for training and improving model generalization and accuracy in recognizing visual information.</a:t>
            </a:r>
            <a:br/>
            <a:br/>
            <a:r>
              <a:t>Sources: [19]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"Unlocking the Power of VQA Dataset: Enhancing Visual Question Answering with LLM Models"</a:t>
            </a:r>
          </a:p>
        </p:txBody>
      </p:sp>
      <p:sp>
        <p:nvSpPr>
          <p:cNvPr id="3" name="Content Placeholder 2"/>
          <p:cNvSpPr>
            <a:spLocks noGrp="1"/>
          </p:cNvSpPr>
          <p:nvPr>
            <p:ph idx="1"/>
          </p:nvPr>
        </p:nvSpPr>
        <p:spPr/>
        <p:txBody>
          <a:bodyPr/>
          <a:lstStyle/>
          <a:p>
            <a:pPr>
              <a:defRPr sz="1200"/>
            </a:pPr>
            <a:r>
              <a:t>Slide 21: Significance of VQA Dataset for Visual Question Answering</a:t>
            </a:r>
            <a:br/>
            <a:br/>
            <a:r>
              <a:t>Unlocking the Power of VQA Dataset: Enhancing Visual Question Answering with LLM Models</a:t>
            </a:r>
            <a:br/>
            <a:br/>
            <a:r>
              <a:t>Content:</a:t>
            </a:r>
            <a:br/>
            <a:r>
              <a:t>- The VQA (Visual Question Answering) dataset is a valuable benchmark used to assess model performance in understanding and answering questions related to images.</a:t>
            </a:r>
            <a:br/>
            <a:r>
              <a:t>- Comprising real-world images paired with open-ended questions, the VQA dataset requires reasoning and comprehension for accurate answers, posing challenges for LLM-content detection.</a:t>
            </a:r>
            <a:br/>
            <a:r>
              <a:t>- The complex nature of questions in the VQA dataset necessitates understanding both visual and textual elements, making it a crucial resource for testing language models' capability in generating and detecting content aligned with image contexts.</a:t>
            </a:r>
            <a:br/>
            <a:br/>
            <a:r>
              <a:t>Teaching Plan Outline Context:</a:t>
            </a:r>
            <a:br/>
            <a:r>
              <a:t>- The VQA dataset serves as a testing ground for evaluating language models' ability to detect and generate content that corresponds accurately to visual information within images.</a:t>
            </a:r>
            <a:br/>
            <a:r>
              <a:t>- Researchers utilize the VQA dataset to assess the performance of models in comprehending and responding to questions about images, highlighting the significance of this dataset in advancing Visual Question Answering tasks.</a:t>
            </a:r>
            <a:br/>
            <a:r>
              <a:t>- The VQA dataset's inclusion of diverse and challenging questions coupled with image contexts makes it an essential resource for enhancing LLM models' capabilities in understanding and generating content based on visual inputs.</a:t>
            </a:r>
            <a:br/>
            <a:br/>
            <a:r>
              <a:t>Estimated number of slides: 5-7</a:t>
            </a:r>
            <a:br/>
            <a:br/>
            <a:r>
              <a:t>Source: The VQA dataset presents challenges for LLM-content detection due to the intricate questions that require understanding of both visual and textual components, making it a critical benchmark for evaluating language models' performance in generating and detecting content aligned with image contexts.</a:t>
            </a:r>
            <a:br/>
            <a:br/>
            <a:r>
              <a:t>Sources: [20]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"Unveiling the Power of LLM Models: Analyzing Visual Question Answering with VQA Dataset"</a:t>
            </a:r>
          </a:p>
        </p:txBody>
      </p:sp>
      <p:sp>
        <p:nvSpPr>
          <p:cNvPr id="3" name="Content Placeholder 2"/>
          <p:cNvSpPr>
            <a:spLocks noGrp="1"/>
          </p:cNvSpPr>
          <p:nvPr>
            <p:ph idx="1"/>
          </p:nvPr>
        </p:nvSpPr>
        <p:spPr/>
        <p:txBody>
          <a:bodyPr/>
          <a:lstStyle/>
          <a:p>
            <a:pPr>
              <a:defRPr sz="1200"/>
            </a:pPr>
            <a:r>
              <a:t>Slide 22: Evaluating LLM Models with VQA Dataset</a:t>
            </a:r>
            <a:br/>
            <a:br/>
            <a:r>
              <a:t>Slide Title: "Unveiling the Power of LLM Models: Analyzing Visual Question Answering with VQA Dataset"</a:t>
            </a:r>
            <a:br/>
            <a:br/>
            <a:r>
              <a:t>Content:</a:t>
            </a:r>
            <a:br/>
            <a:r>
              <a:t>- The VQA (Visual Question Answering) dataset is a crucial benchmark for evaluating the performance of Language Model (LLM) models in understanding and answering questions related to images.</a:t>
            </a:r>
            <a:br/>
            <a:r>
              <a:t>- Comprised of real-world images paired with open-ended questions, the VQA dataset requires reasoning and comprehension for accurate answers, posing challenges for LLM-content detection.</a:t>
            </a:r>
            <a:br/>
            <a:r>
              <a:t>- The intricate nature of questions in the VQA dataset demands an understanding of both visual and textual elements, making it an essential resource for testing the capability of language models in generating and detecting content aligned with image contexts.</a:t>
            </a:r>
            <a:br/>
            <a:br/>
            <a:r>
              <a:t>Teaching Plan Outline Context:</a:t>
            </a:r>
            <a:br/>
            <a:r>
              <a:t>- The VQA dataset serves as a testing ground for assessing the ability of language models to detect and generate content accurately corresponding to visual information within images.</a:t>
            </a:r>
            <a:br/>
            <a:r>
              <a:t>- Researchers leverage the VQA dataset to evaluate the performance of models in comprehending and responding to questions about images, underscoring the importance of this dataset in advancing Visual Question Answering tasks.</a:t>
            </a:r>
            <a:br/>
            <a:r>
              <a:t>- The inclusion of diverse and challenging questions in the VQA dataset, coupled with image contexts, makes it a pivotal resource for enhancing LLM models' capabilities in understanding and generating content based on visual inputs.</a:t>
            </a:r>
            <a:br/>
            <a:br/>
            <a:r>
              <a:t>Estimated number of slides: 5-7</a:t>
            </a:r>
            <a:br/>
            <a:br/>
            <a:r>
              <a:t>Source: The VQA dataset presents challenges for LLM-content detection due to the intricate questions that require an understanding of both visual and textual components, making it a critical benchmark for evaluating language models' performance in generating and detecting content aligned with image contexts.</a:t>
            </a:r>
            <a:br/>
            <a:br/>
            <a:r>
              <a:t>Sources: [21]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"Unlocking the Potential: An In-Depth Look at the SQuAD Dataset for Question Answering Tasks"</a:t>
            </a:r>
          </a:p>
        </p:txBody>
      </p:sp>
      <p:sp>
        <p:nvSpPr>
          <p:cNvPr id="3" name="Content Placeholder 2"/>
          <p:cNvSpPr>
            <a:spLocks noGrp="1"/>
          </p:cNvSpPr>
          <p:nvPr>
            <p:ph idx="1"/>
          </p:nvPr>
        </p:nvSpPr>
        <p:spPr/>
        <p:txBody>
          <a:bodyPr/>
          <a:lstStyle/>
          <a:p>
            <a:pPr>
              <a:defRPr sz="1200"/>
            </a:pPr>
            <a:r>
              <a:t>Slide 23: Introduction to SQuAD for Question Answering Tasks</a:t>
            </a:r>
            <a:br/>
            <a:br/>
            <a:r>
              <a:t>Slide Title: "Unlocking the Potential: An In-Depth Look at the SQuAD Dataset for Question Answering Tasks"</a:t>
            </a:r>
            <a:br/>
            <a:br/>
            <a:r>
              <a:t>Content:</a:t>
            </a:r>
            <a:br/>
            <a:r>
              <a:t>- The Stanford Question Answering Dataset (SQuAD) is a prominent dataset utilized for evaluating Language Model (LLM) content generation models.</a:t>
            </a:r>
            <a:br/>
            <a:r>
              <a:t>- SQuAD comprises questions created by crowdworkers based on Wikipedia articles, with answers extracted from corresponding passages.</a:t>
            </a:r>
            <a:br/>
            <a:r>
              <a:t>- This dataset is commonly employed to assess language models' ability to comprehend and generate human-like responses to questions.</a:t>
            </a:r>
            <a:br/>
            <a:r>
              <a:t>- SQuAD serves as a valuable resource for benchmarking tasks related to LLM content generation and understanding.</a:t>
            </a:r>
            <a:br/>
            <a:br/>
            <a:r>
              <a:t>Teaching Plan Outline Context:</a:t>
            </a:r>
            <a:br/>
            <a:r>
              <a:t>- SQuAD is a widely recognized dataset for evaluating the effectiveness of language models in generating responses to questions accurately.</a:t>
            </a:r>
            <a:br/>
            <a:r>
              <a:t>- By presenting questions sourced from real-world articles, SQuAD challenges models to provide contextually relevant answers, showcasing their comprehension capabilities.</a:t>
            </a:r>
            <a:br/>
            <a:r>
              <a:t>- Researchers leverage SQuAD to test the proficiency of language models in understanding and generating responses aligned with textual inputs, highlighting its significance in advancing question-answering tasks.</a:t>
            </a:r>
            <a:br/>
            <a:br/>
            <a:r>
              <a:t>Estimated number of slides: 5-7</a:t>
            </a:r>
            <a:br/>
            <a:br/>
            <a:r>
              <a:t>Source: The Stanford Question Answering Dataset (SQuAD) is a widely used dataset for benchmarking tasks related to LLM-content generation models. It consists of questions posed by crowdworkers on a set of Wikipedia articles, with the answers being excerpts from the corresponding passages. This dataset is commonly used for evaluating the ability of language models to understand and generate human-like responses to questions.</a:t>
            </a:r>
            <a:br/>
            <a:br/>
            <a:r>
              <a:t>Sources: [22]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"Unraveling the Power of SQuAD: Benchmarking LLM Models in Question Answering Tasks"</a:t>
            </a:r>
          </a:p>
        </p:txBody>
      </p:sp>
      <p:sp>
        <p:nvSpPr>
          <p:cNvPr id="3" name="Content Placeholder 2"/>
          <p:cNvSpPr>
            <a:spLocks noGrp="1"/>
          </p:cNvSpPr>
          <p:nvPr>
            <p:ph idx="1"/>
          </p:nvPr>
        </p:nvSpPr>
        <p:spPr/>
        <p:txBody>
          <a:bodyPr/>
          <a:lstStyle/>
          <a:p>
            <a:pPr>
              <a:defRPr sz="1200"/>
            </a:pPr>
            <a:r>
              <a:t>Slide 24: Benchmarking LLM Models with SQuAD Dataset</a:t>
            </a:r>
            <a:br/>
            <a:br/>
            <a:r>
              <a:t>Slide Title: "Unraveling the Power of SQuAD: Benchmarking LLM Models in Question Answering Tasks"</a:t>
            </a:r>
            <a:br/>
            <a:br/>
            <a:r>
              <a:t>Content:</a:t>
            </a:r>
            <a:br/>
            <a:r>
              <a:t>- The Stanford Question Answering Dataset (SQuAD) is a crucial benchmark dataset for evaluating language model systems on question answering tasks.</a:t>
            </a:r>
            <a:br/>
            <a:r>
              <a:t>- It consists of over 100,000 question-answer pairs derived from articles on Wikipedia, providing a diverse range of text for evaluation.</a:t>
            </a:r>
            <a:br/>
            <a:r>
              <a:t>- Researchers utilize SQuAD to measure the proficiency of language models in comprehending and generating human-like responses to questions.</a:t>
            </a:r>
            <a:br/>
            <a:r>
              <a:t>- SQuAD is instrumental in benchmarking LLM-content generation models and assessing their effectiveness in understanding and generating text accurately.</a:t>
            </a:r>
            <a:br/>
            <a:br/>
            <a:r>
              <a:t>Teaching Plan Outline Context:</a:t>
            </a:r>
            <a:br/>
            <a:r>
              <a:t>- SQuAD plays a vital role in evaluating language models' performance in question answering tasks by providing a rich dataset sourced from real-world articles.</a:t>
            </a:r>
            <a:br/>
            <a:r>
              <a:t>- By presenting questions and answers based on factual information, SQuAD challenges models to generate contextually relevant responses, showcasing their comprehension abilities.</a:t>
            </a:r>
            <a:br/>
            <a:r>
              <a:t>- The dataset enables researchers to assess the accuracy and relevance of language models' responses, highlighting its significance in advancing question-answering capabilities.</a:t>
            </a:r>
            <a:br/>
            <a:br/>
            <a:r>
              <a:t>Estimated number of slides: 5-7</a:t>
            </a:r>
            <a:br/>
            <a:br/>
            <a:r>
              <a:t>Source: The Stanford Question Answering Dataset (SQuAD) is a widely recognized benchmark dataset for evaluating language model systems on question answering tasks. It contains a vast collection of question-answer pairs sourced from Wikipedia articles, enabling researchers to assess the effectiveness of language models in understanding and generating human-like responses to questions.</a:t>
            </a:r>
            <a:br/>
            <a:br/>
            <a:r>
              <a:t>Sources: [23]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"Measuring Success: Advanced Evaluation Metrics for LLM-Content Detection Systems"</a:t>
            </a:r>
          </a:p>
        </p:txBody>
      </p:sp>
      <p:sp>
        <p:nvSpPr>
          <p:cNvPr id="3" name="Content Placeholder 2"/>
          <p:cNvSpPr>
            <a:spLocks noGrp="1"/>
          </p:cNvSpPr>
          <p:nvPr>
            <p:ph idx="1"/>
          </p:nvPr>
        </p:nvSpPr>
        <p:spPr/>
        <p:txBody>
          <a:bodyPr/>
          <a:lstStyle/>
          <a:p>
            <a:pPr>
              <a:defRPr sz="1200"/>
            </a:pPr>
            <a:r>
              <a:t>Slide 25: Advanced Techniques for Detecting LLM-generated Content</a:t>
            </a:r>
            <a:br/>
            <a:br/>
            <a:r>
              <a:t>Slide Title: Measuring Success: Advanced Evaluation Metrics for LLM-Content Detection Systems</a:t>
            </a:r>
            <a:br/>
            <a:br/>
            <a:r>
              <a:t>Content Theme: Advanced Techniques for Detecting LLM-generated Content: Evaluation Metrics and Performance Assessment</a:t>
            </a:r>
            <a:br/>
            <a:br/>
            <a:r>
              <a:t>Teaching Outline Context:</a:t>
            </a:r>
            <a:br/>
            <a:br/>
            <a:r>
              <a:t>Evaluation metrics for LLM-content detection play a crucial role in assessing the performance of language models in detecting generated content. Common metrics used include precision, recall, F1 score, accuracy, and area under the curve (AUC). </a:t>
            </a:r>
            <a:br/>
            <a:br/>
            <a:r>
              <a:t>1. Precision: </a:t>
            </a:r>
            <a:br/>
            <a:r>
              <a:t>   - Precision measures the ratio of true positive predictions to all positive predictions.</a:t>
            </a:r>
            <a:br/>
            <a:r>
              <a:t>   - It indicates the accuracy of positive predictions made by the LLM-content detection system.</a:t>
            </a:r>
            <a:br/>
            <a:br/>
            <a:r>
              <a:t>2. Recall: </a:t>
            </a:r>
            <a:br/>
            <a:r>
              <a:t>   - Recall calculates the ratio of true positive predictions to all actual positive instances.</a:t>
            </a:r>
            <a:br/>
            <a:r>
              <a:t>   - It shows how well the LLM-content detection system identifies all positive instances.</a:t>
            </a:r>
            <a:br/>
            <a:br/>
            <a:r>
              <a:t>3. F1 Score: </a:t>
            </a:r>
            <a:br/>
            <a:r>
              <a:t>   - The F1 score combines precision and recall into a single metric.</a:t>
            </a:r>
            <a:br/>
            <a:r>
              <a:t>   - It provides a balanced assessment of the detection system's performance.</a:t>
            </a:r>
            <a:br/>
            <a:br/>
            <a:r>
              <a:t>4. Accuracy: </a:t>
            </a:r>
            <a:br/>
            <a:r>
              <a:t>   - Accuracy measures the overall correctness of predictions made by the LLM-content detection system.</a:t>
            </a:r>
            <a:br/>
            <a:r>
              <a:t>   - It evaluates the system's ability to make correct predictions across all instances.</a:t>
            </a:r>
            <a:br/>
            <a:br/>
            <a:r>
              <a:t>5. Area Under the Curve (AUC): </a:t>
            </a:r>
            <a:br/>
            <a:r>
              <a:t>   - AUC evaluates the model's ability to distinguish between positive and negative instances.</a:t>
            </a:r>
            <a:br/>
            <a:r>
              <a:t>   - It quantifies the system's ability to differentiate between generated and real content effectively.</a:t>
            </a:r>
            <a:br/>
            <a:br/>
            <a:r>
              <a:t>These metrics help researchers and practitioners evaluate the effectiveness of LLM-content detection models and compare different approaches. By analyzing these metrics, the performance of LLM-content detection systems can be quantitatively assessed and improved.</a:t>
            </a:r>
            <a:br/>
            <a:br/>
            <a:r>
              <a:t>Source: Research on evaluation metrics for LLM-content detection.</a:t>
            </a:r>
            <a:br/>
            <a:br/>
            <a:r>
              <a:t>Sources: [24]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"Comparing Neural Network Architectures for LLM-Content Detection: Analyzing Performance and Efficiency"</a:t>
            </a:r>
          </a:p>
        </p:txBody>
      </p:sp>
      <p:sp>
        <p:nvSpPr>
          <p:cNvPr id="3" name="Content Placeholder 2"/>
          <p:cNvSpPr>
            <a:spLocks noGrp="1"/>
          </p:cNvSpPr>
          <p:nvPr>
            <p:ph idx="1"/>
          </p:nvPr>
        </p:nvSpPr>
        <p:spPr/>
        <p:txBody>
          <a:bodyPr/>
          <a:lstStyle/>
          <a:p>
            <a:pPr>
              <a:defRPr sz="1200"/>
            </a:pPr>
            <a:r>
              <a:t>Slide 26: Neural Network Architectures for Content Detection</a:t>
            </a:r>
            <a:br/>
            <a:br/>
            <a:r>
              <a:t>Slide Title: "Comparing Neural Network Architectures for LLM-Content Detection: Analyzing Performance and Efficiency"</a:t>
            </a:r>
            <a:br/>
            <a:br/>
            <a:r>
              <a:t>Content Theme: Comparison of Different Neural Network Architectures for Content Detection</a:t>
            </a:r>
            <a:br/>
            <a:br/>
            <a:r>
              <a:t>Teaching Outline Context:</a:t>
            </a:r>
            <a:br/>
            <a:br/>
            <a:r>
              <a:t>1. Introduction</a:t>
            </a:r>
            <a:br/>
            <a:r>
              <a:t>- Neural networks play a crucial role in content detection, especially in detecting LLM-generated content.</a:t>
            </a:r>
            <a:br/>
            <a:r>
              <a:t>- Different neural network architectures offer varying performance and efficiency levels in content detection tasks.</a:t>
            </a:r>
            <a:br/>
            <a:br/>
            <a:r>
              <a:t>2. Convolutional Neural Networks (CNN)</a:t>
            </a:r>
            <a:br/>
            <a:r>
              <a:t>- CNNs are commonly used for image-based content detection tasks.</a:t>
            </a:r>
            <a:br/>
            <a:r>
              <a:t>- They excel in extracting spatial features from images, making them suitable for object detection and segmentation.</a:t>
            </a:r>
            <a:br/>
            <a:r>
              <a:t>- Examples of datasets used with CNNs include COCO and ImageNet.</a:t>
            </a:r>
            <a:br/>
            <a:br/>
            <a:r>
              <a:t>3. Recurrent Neural Networks (RNN)</a:t>
            </a:r>
            <a:br/>
            <a:r>
              <a:t>- RNNs are effective for sequential data processing, such as text generation and language modeling.</a:t>
            </a:r>
            <a:br/>
            <a:r>
              <a:t>- They can be utilized in LLM-content detection to analyze the context and structure of generated content.</a:t>
            </a:r>
            <a:br/>
            <a:r>
              <a:t>- BERT, a variant of RNN, is widely used for language model-based content detection.</a:t>
            </a:r>
            <a:br/>
            <a:br/>
            <a:r>
              <a:t>4. Transformer Neural Networks</a:t>
            </a:r>
            <a:br/>
            <a:r>
              <a:t>- Transformers, like GPT-3, have shown significant advancements in natural language processing tasks.</a:t>
            </a:r>
            <a:br/>
            <a:r>
              <a:t>- They can be adapted for content generation and detection due to their attention mechanism for capturing long-range dependencies.</a:t>
            </a:r>
            <a:br/>
            <a:br/>
            <a:r>
              <a:t>5. Performance Evaluation</a:t>
            </a:r>
            <a:br/>
            <a:r>
              <a:t>- Evaluation metrics like precision, recall, F1 score, and accuracy are essential for assessing the effectiveness of neural network architectures in content detection.</a:t>
            </a:r>
            <a:br/>
            <a:r>
              <a:t>- The choice of architecture can impact the detection system's efficiency in distinguishing between LLM-generated and real content.</a:t>
            </a:r>
            <a:br/>
            <a:br/>
            <a:r>
              <a:t>6. Efficiency Analysis</a:t>
            </a:r>
            <a:br/>
            <a:r>
              <a:t>- Considerations for efficiency include computational resources, model complexity, and inference speed.</a:t>
            </a:r>
            <a:br/>
            <a:r>
              <a:t>- Balancing performance and efficiency is crucial when selecting a neural network architecture for LLM-content detection tasks.</a:t>
            </a:r>
            <a:br/>
            <a:br/>
            <a:r>
              <a:t>7. Conclusion</a:t>
            </a:r>
            <a:br/>
            <a:r>
              <a:t>- By comparing and analyzing different neural network architectures, researchers can determine the most suitable approach for LLM-content detection.</a:t>
            </a:r>
            <a:br/>
            <a:r>
              <a:t>- Understanding the performance and efficiency trade-offs of each architecture is essential for developing robust content detection systems.</a:t>
            </a:r>
            <a:br/>
            <a:br/>
            <a:r>
              <a:t>Source: Research on neural network architectures for content detection.</a:t>
            </a:r>
            <a:br/>
            <a:br/>
            <a:r>
              <a:t>Sources: [25]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"BERT in Action: Unleashing the Power of Contextual Understanding for LLM-Content Detection"</a:t>
            </a:r>
          </a:p>
        </p:txBody>
      </p:sp>
      <p:sp>
        <p:nvSpPr>
          <p:cNvPr id="3" name="Content Placeholder 2"/>
          <p:cNvSpPr>
            <a:spLocks noGrp="1"/>
          </p:cNvSpPr>
          <p:nvPr>
            <p:ph idx="1"/>
          </p:nvPr>
        </p:nvSpPr>
        <p:spPr/>
        <p:txBody>
          <a:bodyPr/>
          <a:lstStyle/>
          <a:p>
            <a:pPr>
              <a:defRPr sz="1200"/>
            </a:pPr>
            <a:r>
              <a:t>Slide 27: Exploring BERT for LLM-Content Detection</a:t>
            </a:r>
            <a:br/>
            <a:br/>
            <a:r>
              <a:t>Slide Title: "BERT in Action: Unleashing the Power of Contextual Understanding for LLM-Content Detection"</a:t>
            </a:r>
            <a:br/>
            <a:br/>
            <a:r>
              <a:t>Content Theme: Exploring BERT for LLM-content Detection</a:t>
            </a:r>
            <a:br/>
            <a:br/>
            <a:r>
              <a:t>Teaching Outline Context:</a:t>
            </a:r>
            <a:br/>
            <a:br/>
            <a:r>
              <a:t>1. Introduction to BERT</a:t>
            </a:r>
            <a:br/>
            <a:r>
              <a:t>- BERT (Bidirectional Encoder Representations from Transformers) is a pre-trained language model developed by Google.</a:t>
            </a:r>
            <a:br/>
            <a:r>
              <a:t>- It is designed to understand the context of words in a sentence by considering both preceding and following words.</a:t>
            </a:r>
            <a:br/>
            <a:r>
              <a:t>- BERT has been widely adopted for various natural language processing tasks due to its contextual understanding capabilities.</a:t>
            </a:r>
            <a:br/>
            <a:br/>
            <a:r>
              <a:t>2. Role of BERT in LLM-Content Detection</a:t>
            </a:r>
            <a:br/>
            <a:r>
              <a:t>- BERT plays a crucial role in detecting LLM-generated content by analyzing the contextual information of the text.</a:t>
            </a:r>
            <a:br/>
            <a:r>
              <a:t>- Its bidirectional nature allows it to capture dependencies between words, making it effective in identifying anomalies in generated content.</a:t>
            </a:r>
            <a:br/>
            <a:r>
              <a:t>- BERT can be fine-tuned for specific content detection tasks, enhancing its ability to distinguish between real and generated text.</a:t>
            </a:r>
            <a:br/>
            <a:br/>
            <a:r>
              <a:t>3. Utilization of BERT for Content Detection</a:t>
            </a:r>
            <a:br/>
            <a:r>
              <a:t>- Researchers have leveraged BERT for detecting LLM-generated content in various domains, including text and image-based tasks.</a:t>
            </a:r>
            <a:br/>
            <a:r>
              <a:t>- By fine-tuning BERT on labeled datasets, it can learn to identify patterns and characteristics specific to LLM-generated content.</a:t>
            </a:r>
            <a:br/>
            <a:r>
              <a:t>- BERT's ability to encode contextual information enables it to outperform traditional rule-based detection methods in complex content detection scenarios.</a:t>
            </a:r>
            <a:br/>
            <a:br/>
            <a:r>
              <a:t>4. Advantages of BERT in LLM-Content Detection</a:t>
            </a:r>
            <a:br/>
            <a:r>
              <a:t>- BERT offers a high level of accuracy in detecting subtle differences between real and generated content.</a:t>
            </a:r>
            <a:br/>
            <a:r>
              <a:t>- Its contextual understanding allows it to capture nuances and semantic relationships in text, aiding in content classification and identification.</a:t>
            </a:r>
            <a:br/>
            <a:r>
              <a:t>- BERT's flexibility and adaptability make it a versatile tool for content detection across various applications and domains.</a:t>
            </a:r>
            <a:br/>
            <a:br/>
            <a:r>
              <a:t>5. Future Directions with BERT</a:t>
            </a:r>
            <a:br/>
            <a:r>
              <a:t>- Ongoing research is focused on enhancing BERT's capabilities for LLM-content detection through advanced fine-tuning techniques.</a:t>
            </a:r>
            <a:br/>
            <a:r>
              <a:t>- Exploring multi-modal approaches combining text and image information with BERT for comprehensive content analysis.</a:t>
            </a:r>
            <a:br/>
            <a:r>
              <a:t>- Integration of BERT with other neural network architectures to develop robust and efficient content detection systems.</a:t>
            </a:r>
            <a:br/>
            <a:br/>
            <a:r>
              <a:t>6. Conclusion</a:t>
            </a:r>
            <a:br/>
            <a:r>
              <a:t>- BERT's contextual understanding and adaptability make it a powerful tool for LLM-content detection tasks.</a:t>
            </a:r>
            <a:br/>
            <a:r>
              <a:t>- By leveraging BERT's capabilities, researchers can improve the accuracy and efficiency of content detection systems in detecting LLM-generated content.</a:t>
            </a:r>
            <a:br/>
            <a:br/>
            <a:r>
              <a:t>Source: Research on the role of BERT in LLM-content detection.</a:t>
            </a:r>
            <a:br/>
            <a:br/>
            <a:r>
              <a:t>Sources: [26]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"Unleashing the Power of GPT-3: Revolutionizing Content Generation and Detection"</a:t>
            </a:r>
          </a:p>
        </p:txBody>
      </p:sp>
      <p:sp>
        <p:nvSpPr>
          <p:cNvPr id="3" name="Content Placeholder 2"/>
          <p:cNvSpPr>
            <a:spLocks noGrp="1"/>
          </p:cNvSpPr>
          <p:nvPr>
            <p:ph idx="1"/>
          </p:nvPr>
        </p:nvSpPr>
        <p:spPr/>
        <p:txBody>
          <a:bodyPr/>
          <a:lstStyle/>
          <a:p>
            <a:pPr>
              <a:defRPr sz="1200"/>
            </a:pPr>
            <a:r>
              <a:t>Slide 28: GPT-3: A Breakthrough in Content Generation and Detection</a:t>
            </a:r>
            <a:br/>
            <a:br/>
            <a:r>
              <a:t>Slide Title: Unleashing the Power of GPT-3: Revolutionizing Content Generation and Detection</a:t>
            </a:r>
            <a:br/>
            <a:br/>
            <a:r>
              <a:t>Content Theme: GPT-3: A Breakthrough in Content Generation and Detection</a:t>
            </a:r>
            <a:br/>
            <a:br/>
            <a:r>
              <a:t>Teaching Outline Context:</a:t>
            </a:r>
            <a:br/>
            <a:br/>
            <a:r>
              <a:t>1. Introduction to GPT-3</a:t>
            </a:r>
            <a:br/>
            <a:r>
              <a:t>- GPT-3 (Generative Pre-trained Transformer 3) is a language model developed by OpenAI.</a:t>
            </a:r>
            <a:br/>
            <a:r>
              <a:t>- It is known for its ability to generate human-like text and has revolutionized content generation tasks.</a:t>
            </a:r>
            <a:br/>
            <a:r>
              <a:t>- GPT-3 consists of 175 billion parameters, making it one of the largest language models to date.</a:t>
            </a:r>
            <a:br/>
            <a:br/>
            <a:r>
              <a:t>2. Role of GPT-3 in Content Generation</a:t>
            </a:r>
            <a:br/>
            <a:r>
              <a:t>- GPT-3 excels in generating coherent and contextually relevant text across a wide range of tasks.</a:t>
            </a:r>
            <a:br/>
            <a:r>
              <a:t>- Its ability to understand and generate human-like language has been leveraged in various applications, including chatbots, content creation, and text completion.</a:t>
            </a:r>
            <a:br/>
            <a:r>
              <a:t>- GPT-3 has set new benchmarks in natural language understanding and generation capabilities.</a:t>
            </a:r>
            <a:br/>
            <a:br/>
            <a:r>
              <a:t>3. Utilization of GPT-3 for Content Detection</a:t>
            </a:r>
            <a:br/>
            <a:r>
              <a:t>- GPT-3's advanced language generation capabilities also pose challenges for content detection systems.</a:t>
            </a:r>
            <a:br/>
            <a:r>
              <a:t>- Detecting content generated by GPT-3 requires specialized techniques due to its high-quality output.</a:t>
            </a:r>
            <a:br/>
            <a:r>
              <a:t>- Researchers are exploring ways to adapt existing detection methods to effectively identify GPT-3-generated content.</a:t>
            </a:r>
            <a:br/>
            <a:br/>
            <a:r>
              <a:t>4. Challenges in Detecting GPT-3 Content</a:t>
            </a:r>
            <a:br/>
            <a:r>
              <a:t>- The sophistication of GPT-3's language generation poses challenges for traditional content detection systems.</a:t>
            </a:r>
            <a:br/>
            <a:r>
              <a:t>- Its ability to produce contextually accurate text makes it difficult to distinguish between real and generated content.</a:t>
            </a:r>
            <a:br/>
            <a:r>
              <a:t>- Detecting subtle anomalies or inconsistencies in GPT-3 output requires advanced detection mechanisms.</a:t>
            </a:r>
            <a:br/>
            <a:br/>
            <a:r>
              <a:t>5. Future Directions with GPT-3</a:t>
            </a:r>
            <a:br/>
            <a:r>
              <a:t>- Ongoing research is focused on developing specialized detection techniques tailored to GPT-3-generated content.</a:t>
            </a:r>
            <a:br/>
            <a:r>
              <a:t>- Exploring the integration of GPT-3 with other detection systems to enhance accuracy and efficiency.</a:t>
            </a:r>
            <a:br/>
            <a:r>
              <a:t>- Leveraging GPT-3's capabilities for content detection in domains such as fake news detection and content moderation.</a:t>
            </a:r>
            <a:br/>
            <a:br/>
            <a:r>
              <a:t>6. Conclusion</a:t>
            </a:r>
            <a:br/>
            <a:r>
              <a:t>- GPT-3 represents a significant advancement in content generation technology, with implications for content detection systems.</a:t>
            </a:r>
            <a:br/>
            <a:r>
              <a:t>- As researchers continue to explore the capabilities of GPT-3, new opportunities and challenges in content generation and detection will emerge.</a:t>
            </a:r>
            <a:br/>
            <a:br/>
            <a:r>
              <a:t>Source: Research on the role of GPT-3 in content generation and detection.</a:t>
            </a:r>
            <a:br/>
            <a:br/>
            <a:r>
              <a:t>Sources: [27]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"Mastering Evasion Tactics: Advanced Strategies to Outsmart Language Model Detection Systems"</a:t>
            </a:r>
          </a:p>
        </p:txBody>
      </p:sp>
      <p:sp>
        <p:nvSpPr>
          <p:cNvPr id="3" name="Content Placeholder 2"/>
          <p:cNvSpPr>
            <a:spLocks noGrp="1"/>
          </p:cNvSpPr>
          <p:nvPr>
            <p:ph idx="1"/>
          </p:nvPr>
        </p:nvSpPr>
        <p:spPr/>
        <p:txBody>
          <a:bodyPr/>
          <a:lstStyle/>
          <a:p>
            <a:pPr>
              <a:defRPr sz="1200"/>
            </a:pPr>
            <a:r>
              <a:t>Slide 29: </a:t>
            </a:r>
            <a:br/>
            <a:br/>
            <a:r>
              <a:t>Title: "Mastering Evasion Tactics: Advanced Strategies to Outsmart Language Model Detection Systems"</a:t>
            </a:r>
            <a:br/>
            <a:br/>
            <a:r>
              <a:t>Content:</a:t>
            </a:r>
            <a:br/>
            <a:br/>
            <a:r>
              <a:t>1. Introduction to Evasion Strategies</a:t>
            </a:r>
            <a:br/>
            <a:r>
              <a:t>- Evasion strategies involve techniques to bypass or deceive language model detection systems.</a:t>
            </a:r>
            <a:br/>
            <a:r>
              <a:t>- By understanding the inner workings of these systems, individuals can exploit vulnerabilities to evade detection.</a:t>
            </a:r>
            <a:br/>
            <a:br/>
            <a:r>
              <a:t>2. Synonym Substitution</a:t>
            </a:r>
            <a:br/>
            <a:r>
              <a:t>- Using synonyms to replace key words in generated content can alter the semantics while preserving the overall meaning.</a:t>
            </a:r>
            <a:br/>
            <a:r>
              <a:t>- This strategy aims to confuse detection systems that rely heavily on keyword matching.</a:t>
            </a:r>
            <a:br/>
            <a:br/>
            <a:r>
              <a:t>3. Sentence Restructuring</a:t>
            </a:r>
            <a:br/>
            <a:r>
              <a:t>- Changing the structure of sentences in generated content can disrupt the flow and make it harder for detection systems to analyze.</a:t>
            </a:r>
            <a:br/>
            <a:r>
              <a:t>- By rearranging phrases or clauses, individuals can obfuscate the original intent of the text.</a:t>
            </a:r>
            <a:br/>
            <a:br/>
            <a:r>
              <a:t>4. Adding Noise and Irrelevant Text</a:t>
            </a:r>
            <a:br/>
            <a:r>
              <a:t>- Injecting noise or irrelevant text into generated content can introduce distractions and mislead detection systems.</a:t>
            </a:r>
            <a:br/>
            <a:r>
              <a:t>- By including random characters or nonsensical phrases, individuals can create confusion and evade detection.</a:t>
            </a:r>
            <a:br/>
            <a:br/>
            <a:r>
              <a:t>5. Adversarial Attacks</a:t>
            </a:r>
            <a:br/>
            <a:r>
              <a:t>- Adversarial attacks involve crafting inputs specifically designed to mislead language model detection systems.</a:t>
            </a:r>
            <a:br/>
            <a:r>
              <a:t>- These attacks exploit vulnerabilities in the model's decision-making process to generate deceptive content.</a:t>
            </a:r>
            <a:br/>
            <a:br/>
            <a:r>
              <a:t>6. Techniques for Evasion</a:t>
            </a:r>
            <a:br/>
            <a:r>
              <a:t>- Techniques such as gradient-based optimization and perturbation methods can be used to craft adversarial examples.</a:t>
            </a:r>
            <a:br/>
            <a:r>
              <a:t>- Understanding the inner workings of the detection system is crucial for devising effective evasion strategies.</a:t>
            </a:r>
            <a:br/>
            <a:br/>
            <a:r>
              <a:t>7. Conclusion</a:t>
            </a:r>
            <a:br/>
            <a:r>
              <a:t>- Mastering evasion tactics requires a deep understanding of language model detection systems and their limitations.</a:t>
            </a:r>
            <a:br/>
            <a:r>
              <a:t>- By employing advanced strategies like synonym substitution, sentence restructuring, noise addition, and adversarial attacks, individuals can outsmart detection systems and evade scrutiny.</a:t>
            </a:r>
            <a:br/>
            <a:br/>
            <a:r>
              <a:t>Source: Research on evading language model detection systems through advanced evasion strategies.</a:t>
            </a:r>
            <a:br/>
            <a:br/>
            <a:r>
              <a:t>Sources: [28]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"Mastering the Art of Evading Language Model Detection Systems: Advanced Obfuscation Techniques and Strategies"</a:t>
            </a:r>
          </a:p>
        </p:txBody>
      </p:sp>
      <p:sp>
        <p:nvSpPr>
          <p:cNvPr id="3" name="Content Placeholder 2"/>
          <p:cNvSpPr>
            <a:spLocks noGrp="1"/>
          </p:cNvSpPr>
          <p:nvPr>
            <p:ph idx="1"/>
          </p:nvPr>
        </p:nvSpPr>
        <p:spPr/>
        <p:txBody>
          <a:bodyPr/>
          <a:lstStyle/>
          <a:p>
            <a:pPr>
              <a:defRPr sz="1200"/>
            </a:pPr>
            <a:r>
              <a:t>Slide 30:</a:t>
            </a:r>
            <a:br/>
            <a:br/>
            <a:r>
              <a:t>Title: "Mastering the Art of Evading Language Model Detection Systems: Advanced Obfuscation Techniques and Strategies"</a:t>
            </a:r>
            <a:br/>
            <a:br/>
            <a:r>
              <a:t>Content:</a:t>
            </a:r>
            <a:br/>
            <a:br/>
            <a:r>
              <a:t>1. Introduction</a:t>
            </a:r>
            <a:br/>
            <a:r>
              <a:t>- Evading language model detection systems requires advanced obfuscation techniques to bypass scrutiny and avoid detection.</a:t>
            </a:r>
            <a:br/>
            <a:r>
              <a:t>- By mastering these strategies, individuals can effectively deceive detection mechanisms and evade detection.</a:t>
            </a:r>
            <a:br/>
            <a:br/>
            <a:r>
              <a:t>2. Camouflaging Through Obfuscation</a:t>
            </a:r>
            <a:br/>
            <a:r>
              <a:t>- Obfuscation involves hiding the true nature of generated content by altering its appearance or structure.</a:t>
            </a:r>
            <a:br/>
            <a:r>
              <a:t>- By camouflaging text through obfuscation, individuals can make it challenging for detection systems to identify the original intent.</a:t>
            </a:r>
            <a:br/>
            <a:br/>
            <a:r>
              <a:t>3. Linguistic Obfuscation Techniques</a:t>
            </a:r>
            <a:br/>
            <a:r>
              <a:t>- Utilizing linguistic obfuscation techniques such as synonym substitution, sentence restructuring, and adding noise can confuse detection systems.</a:t>
            </a:r>
            <a:br/>
            <a:r>
              <a:t>- These techniques alter the textual properties of generated content to evade detection mechanisms effectively.</a:t>
            </a:r>
            <a:br/>
            <a:br/>
            <a:r>
              <a:t>4. Synonym Substitution for Semantic Distortion</a:t>
            </a:r>
            <a:br/>
            <a:r>
              <a:t>- Synonym substitution involves replacing key words with synonyms to distort the semantics while maintaining the overall meaning.</a:t>
            </a:r>
            <a:br/>
            <a:r>
              <a:t>- This strategy aims to deceive detection systems that rely on keyword matching by introducing subtle variations in the text.</a:t>
            </a:r>
            <a:br/>
            <a:br/>
            <a:r>
              <a:t>5. Sentence Restructuring for Disruption</a:t>
            </a:r>
            <a:br/>
            <a:r>
              <a:t>- Restructuring sentences by changing the arrangement of phrases or clauses can disrupt the flow and coherence of generated content.</a:t>
            </a:r>
            <a:br/>
            <a:r>
              <a:t>- By rearranging the structure of sentences, individuals can obfuscate the original intent and make it harder for detection systems to analyze.</a:t>
            </a:r>
            <a:br/>
            <a:br/>
            <a:r>
              <a:t>6. Adding Noise and Irrelevant Text for Confusion</a:t>
            </a:r>
            <a:br/>
            <a:r>
              <a:t>- Injecting noise or irrelevant text into generated content introduces distractions and misleads detection systems.</a:t>
            </a:r>
            <a:br/>
            <a:r>
              <a:t>- By including random characters or nonsensical phrases, individuals create confusion and evade detection by diverting attention from the actual content.</a:t>
            </a:r>
            <a:br/>
            <a:br/>
            <a:r>
              <a:t>7. Adversarial Attacks for Deceptive Content</a:t>
            </a:r>
            <a:br/>
            <a:r>
              <a:t>- Adversarial attacks involve crafting inputs specifically designed to mislead language model detection systems.</a:t>
            </a:r>
            <a:br/>
            <a:r>
              <a:t>- These attacks exploit vulnerabilities in the decision-making process of detection systems to generate deceptive content that evades scrutiny.</a:t>
            </a:r>
            <a:br/>
            <a:br/>
            <a:r>
              <a:t>8. Strategies for Evasion</a:t>
            </a:r>
            <a:br/>
            <a:r>
              <a:t>- Employing gradient-based optimization and perturbation methods can help craft adversarial examples to evade detection.</a:t>
            </a:r>
            <a:br/>
            <a:r>
              <a:t>- Understanding the inner workings of detection systems is crucial for devising effective evasion strategies that outsmart detection mechanisms.</a:t>
            </a:r>
            <a:br/>
            <a:br/>
            <a:r>
              <a:t>9. Conclusion</a:t>
            </a:r>
            <a:br/>
            <a:r>
              <a:t>- Mastering the art of evading language model detection systems through advanced obfuscation techniques requires a deep understanding of detection mechanisms and their vulnerabilities.</a:t>
            </a:r>
            <a:br/>
            <a:r>
              <a:t>- By leveraging linguistic obfuscation techniques like synonym substitution, sentence restructuring, noise addition, and adversarial attacks, individuals can effectively evade detection and bypass scrutiny.</a:t>
            </a:r>
            <a:br/>
            <a:br/>
            <a:r>
              <a:t>Source: Research on advanced obfuscation techniques for evading language model detection systems.</a:t>
            </a:r>
            <a:br/>
            <a:br/>
            <a:r>
              <a:t>Sources: [29]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for Manipulating Data to Evade Language Model Detection Systems"</a:t>
            </a:r>
          </a:p>
        </p:txBody>
      </p:sp>
      <p:sp>
        <p:nvSpPr>
          <p:cNvPr id="3" name="Content Placeholder 2"/>
          <p:cNvSpPr>
            <a:spLocks noGrp="1"/>
          </p:cNvSpPr>
          <p:nvPr>
            <p:ph idx="1"/>
          </p:nvPr>
        </p:nvSpPr>
        <p:spPr/>
        <p:txBody>
          <a:bodyPr/>
          <a:lstStyle/>
          <a:p>
            <a:pPr>
              <a:defRPr sz="1200"/>
            </a:pPr>
            <a:r>
              <a:t>Slide 31:</a:t>
            </a:r>
            <a:br/>
            <a:br/>
            <a:r>
              <a:t>Title: "Strategies for Manipulating Data to Evade Language Model Detection Systems"</a:t>
            </a:r>
            <a:br/>
            <a:br/>
            <a:r>
              <a:t>Content:</a:t>
            </a:r>
            <a:br/>
            <a:br/>
            <a:r>
              <a:t>1. Introduction</a:t>
            </a:r>
            <a:br/>
            <a:r>
              <a:t>- Data poisoning methods are utilized to manipulate data inputs and evade language model detection systems.</a:t>
            </a:r>
            <a:br/>
            <a:r>
              <a:t>- By understanding and implementing these strategies, individuals can bypass detection mechanisms effectively.</a:t>
            </a:r>
            <a:br/>
            <a:br/>
            <a:r>
              <a:t>2. Data Poisoning Techniques for Evasion</a:t>
            </a:r>
            <a:br/>
            <a:r>
              <a:t>- Data poisoning involves injecting malicious data into the training dataset to manipulate the behavior of language models.</a:t>
            </a:r>
            <a:br/>
            <a:r>
              <a:t>- By strategically poisoning the data, individuals can influence the output of language models to evade detection.</a:t>
            </a:r>
            <a:br/>
            <a:br/>
            <a:r>
              <a:t>3. Backdoor Attacks for Data Manipulation</a:t>
            </a:r>
            <a:br/>
            <a:r>
              <a:t>- Backdoor attacks insert specific patterns into the training data that trigger certain behaviors in the language model.</a:t>
            </a:r>
            <a:br/>
            <a:r>
              <a:t>- These patterns act as hidden triggers that can be exploited to evade detection by activating specific responses in the model.</a:t>
            </a:r>
            <a:br/>
            <a:br/>
            <a:r>
              <a:t>4. Label Flipping for Misclassification</a:t>
            </a:r>
            <a:br/>
            <a:r>
              <a:t>- Label flipping involves altering the ground truth labels of training data to mislead the language model during training.</a:t>
            </a:r>
            <a:br/>
            <a:r>
              <a:t>- By flipping labels, individuals can induce misclassification in the model, leading to evasion of detection mechanisms.</a:t>
            </a:r>
            <a:br/>
            <a:br/>
            <a:r>
              <a:t>5. Data Augmentation for Obfuscation</a:t>
            </a:r>
            <a:br/>
            <a:r>
              <a:t>- Data augmentation techniques such as adding noise, rotating images, or changing colors can distort the training data.</a:t>
            </a:r>
            <a:br/>
            <a:r>
              <a:t>- By augmenting the data, individuals can introduce variations that make it challenging for detection systems to accurately classify content.</a:t>
            </a:r>
            <a:br/>
            <a:br/>
            <a:r>
              <a:t>6. Trojan Attacks for Covert Manipulation</a:t>
            </a:r>
            <a:br/>
            <a:r>
              <a:t>- Trojan attacks embed hidden triggers in the training data that activate specific behaviors in the language model.</a:t>
            </a:r>
            <a:br/>
            <a:r>
              <a:t>- These triggers remain dormant until activated, allowing for covert manipulation of the model to evade detection.</a:t>
            </a:r>
            <a:br/>
            <a:br/>
            <a:r>
              <a:t>7. Poisoning Detection Mechanisms</a:t>
            </a:r>
            <a:br/>
            <a:r>
              <a:t>- Poisoning detection mechanisms involve identifying and neutralizing malicious data injected into the training dataset.</a:t>
            </a:r>
            <a:br/>
            <a:r>
              <a:t>- By implementing robust detection mechanisms, organizations can mitigate the impact of data poisoning attacks on language models.</a:t>
            </a:r>
            <a:br/>
            <a:br/>
            <a:r>
              <a:t>8. Strategies for Evasion</a:t>
            </a:r>
            <a:br/>
            <a:r>
              <a:t>- Developing countermeasures against data poisoning attacks requires constant monitoring of training data and model behavior.</a:t>
            </a:r>
            <a:br/>
            <a:r>
              <a:t>- Implementing anomaly detection techniques and data validation processes can help identify and mitigate the impact of data manipulation on language model detection systems.</a:t>
            </a:r>
            <a:br/>
            <a:br/>
            <a:r>
              <a:t>9. Conclusion</a:t>
            </a:r>
            <a:br/>
            <a:r>
              <a:t>- Manipulating data through data poisoning techniques is a sophisticated strategy for evading language model detection systems.</a:t>
            </a:r>
            <a:br/>
            <a:r>
              <a:t>- By understanding the nuances of data poisoning methods like backdoor attacks, label flipping, data augmentation, and trojan attacks, individuals can effectively evade detection and manipulate the behavior of language models.</a:t>
            </a:r>
            <a:br/>
            <a:br/>
            <a:r>
              <a:t>Source: Research on data poisoning methods for evasion attacks on language model detection systems.</a:t>
            </a:r>
            <a:br/>
            <a:br/>
            <a:r>
              <a:t>Sources: [30]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"Unveiling the Impact: Adversarial Attacks on Language Model Detection Systems"</a:t>
            </a:r>
          </a:p>
        </p:txBody>
      </p:sp>
      <p:sp>
        <p:nvSpPr>
          <p:cNvPr id="3" name="Content Placeholder 2"/>
          <p:cNvSpPr>
            <a:spLocks noGrp="1"/>
          </p:cNvSpPr>
          <p:nvPr>
            <p:ph idx="1"/>
          </p:nvPr>
        </p:nvSpPr>
        <p:spPr/>
        <p:txBody>
          <a:bodyPr/>
          <a:lstStyle/>
          <a:p>
            <a:pPr>
              <a:defRPr sz="1200"/>
            </a:pPr>
            <a:r>
              <a:t>Slide 32:</a:t>
            </a:r>
            <a:br/>
            <a:br/>
            <a:r>
              <a:t>Title: "Unveiling the Impact: Adversarial Attacks on Language Model Detection Systems"</a:t>
            </a:r>
            <a:br/>
            <a:br/>
            <a:r>
              <a:t>Content:</a:t>
            </a:r>
            <a:br/>
            <a:br/>
            <a:r>
              <a:t>Introduction to Adversarial Attacks:</a:t>
            </a:r>
            <a:br/>
            <a:r>
              <a:t>- Adversarial attacks are strategies used to manipulate data inputs to evade language model detection systems.</a:t>
            </a:r>
            <a:br/>
            <a:r>
              <a:t>- Understanding the impact of adversarial attacks is crucial for enhancing the robustness of detection mechanisms.</a:t>
            </a:r>
            <a:br/>
            <a:br/>
            <a:r>
              <a:t>Types of Adversarial Attacks:</a:t>
            </a:r>
            <a:br/>
            <a:r>
              <a:t>- Targeted attacks aim to misclassify specific inputs by perturbing them strategically.</a:t>
            </a:r>
            <a:br/>
            <a:r>
              <a:t>- Non-targeted attacks focus on causing misclassification without a specific target in mind.</a:t>
            </a:r>
            <a:br/>
            <a:r>
              <a:t>- Evasion attacks involve manipulating inputs to bypass detection systems without being detected.</a:t>
            </a:r>
            <a:br/>
            <a:br/>
            <a:r>
              <a:t>Adversarial Examples in Language Models:</a:t>
            </a:r>
            <a:br/>
            <a:r>
              <a:t>- Adversarial examples are inputs that are slightly modified to cause misclassification by language models.</a:t>
            </a:r>
            <a:br/>
            <a:r>
              <a:t>- These examples exploit vulnerabilities in the model's decision-making process, leading to incorrect outputs.</a:t>
            </a:r>
            <a:br/>
            <a:br/>
            <a:r>
              <a:t>Impact of Adversarial Attacks on Detection Systems:</a:t>
            </a:r>
            <a:br/>
            <a:r>
              <a:t>- Adversarial attacks can compromise the accuracy and reliability of language model detection systems.</a:t>
            </a:r>
            <a:br/>
            <a:r>
              <a:t>- By exploiting weaknesses in the model's architecture, attackers can deceive the system and evade detection.</a:t>
            </a:r>
            <a:br/>
            <a:br/>
            <a:r>
              <a:t>Defenses Against Adversarial Attacks:</a:t>
            </a:r>
            <a:br/>
            <a:r>
              <a:t>- Adversarial training involves augmenting the training data with adversarial examples to improve the model's robustness.</a:t>
            </a:r>
            <a:br/>
            <a:r>
              <a:t>- Defensive distillation techniques aim to make the model more resistant to adversarial attacks by training it on smoothed probabilities.</a:t>
            </a:r>
            <a:br/>
            <a:br/>
            <a:r>
              <a:t>Case Studies on Adversarial Attacks:</a:t>
            </a:r>
            <a:br/>
            <a:r>
              <a:t>- Notable instances of adversarial attacks on language models, such as GPT-3 and DALL-E.</a:t>
            </a:r>
            <a:br/>
            <a:r>
              <a:t>- Analysis of the impact of these attacks on the performance and reliability of the models.</a:t>
            </a:r>
            <a:br/>
            <a:br/>
            <a:r>
              <a:t>Conclusion:</a:t>
            </a:r>
            <a:br/>
            <a:r>
              <a:t>- Understanding the role of adversarial attacks is essential for enhancing the security and reliability of language model detection systems.</a:t>
            </a:r>
            <a:br/>
            <a:r>
              <a:t>- By implementing robust defense mechanisms and staying vigilant against potential attacks, organizations can safeguard their systems from adversarial manipulation.</a:t>
            </a:r>
            <a:br/>
            <a:br/>
            <a:r>
              <a:t>Source: Research on the impact of adversarial attacks on language model detection systems.</a:t>
            </a:r>
            <a:br/>
            <a:br/>
            <a:r>
              <a:t>Sources: [31]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Fine-Tuning BERT for Enhanced LLM-Content Detection Accuracy: Leveraging Advanced Techniques</a:t>
            </a:r>
          </a:p>
        </p:txBody>
      </p:sp>
      <p:sp>
        <p:nvSpPr>
          <p:cNvPr id="3" name="Content Placeholder 2"/>
          <p:cNvSpPr>
            <a:spLocks noGrp="1"/>
          </p:cNvSpPr>
          <p:nvPr>
            <p:ph idx="1"/>
          </p:nvPr>
        </p:nvSpPr>
        <p:spPr/>
        <p:txBody>
          <a:bodyPr/>
          <a:lstStyle/>
          <a:p>
            <a:pPr>
              <a:defRPr sz="1200"/>
            </a:pPr>
            <a:r>
              <a:t>Slide 33: Fine-Tuning BERT for Enhanced LLM-Content Detection Accuracy: Leveraging Advanced Techniques</a:t>
            </a:r>
            <a:br/>
            <a:br/>
            <a:r>
              <a:t>Content Theme: Fine-tuning BERT for LLM-content Detection: Techniques and Applications.</a:t>
            </a:r>
            <a:br/>
            <a:br/>
            <a:r>
              <a:t>Teaching Outline Context:</a:t>
            </a:r>
            <a:br/>
            <a:br/>
            <a:r>
              <a:t>Topic 2: LLM-content Detection</a:t>
            </a:r>
            <a:br/>
            <a:r>
              <a:t>- Challenges in detecting LLM-generated content</a:t>
            </a:r>
            <a:br/>
            <a:r>
              <a:t>- Utilization of deep learning techniques, such as neural networks, for content detection</a:t>
            </a:r>
            <a:br/>
            <a:r>
              <a:t>- Role of BERT in LLM-content detection</a:t>
            </a:r>
            <a:br/>
            <a:r>
              <a:t>- Overview of GPT-3 for content generation and detection</a:t>
            </a:r>
            <a:br/>
            <a:br/>
            <a:r>
              <a:t>In the context of LLM-content detection, fine-tuning BERT (Bidirectional Encoder Representations from Transformers) has emerged as a powerful technique to enhance accuracy and efficiency in detecting language model-generated content. By leveraging advanced techniques, researchers and practitioners aim to improve the performance of detection systems and address the evolving landscape of content manipulation.</a:t>
            </a:r>
            <a:br/>
            <a:br/>
            <a:r>
              <a:t>Key Points:</a:t>
            </a:r>
            <a:br/>
            <a:r>
              <a:t>1. Understanding the Challenges: Detecting LLM-generated content poses unique challenges due to the complexity and diversity of generated text. Fine-tuning BERT allows for better adaptation to the nuances of language model outputs and improves detection capabilities.</a:t>
            </a:r>
            <a:br/>
            <a:br/>
            <a:r>
              <a:t>2. Utilizing Deep Learning Techniques: Neural networks play a crucial role in content detection, enabling the extraction of meaningful patterns and features from textual data. Fine-tuning BERT within neural network architectures enhances the model's ability to discern between genuine and generated content.</a:t>
            </a:r>
            <a:br/>
            <a:br/>
            <a:r>
              <a:t>3. Role of BERT in LLM-content Detection: BERT, a transformer-based language representation model, offers pre-trained contextual embeddings that can be fine-tuned for specific tasks like content detection. By adjusting BERT's parameters, researchers can tailor the model to detect LLM-generated content effectively.</a:t>
            </a:r>
            <a:br/>
            <a:br/>
            <a:r>
              <a:t>4. Overview of GPT-3 for Content Generation and Detection: The Generative Pre-trained Transformer 3 (GPT-3) model, known for its advanced language generation capabilities, also plays a role in content detection tasks. Understanding how GPT-3 generates text can inform strategies for improving detection mechanisms.</a:t>
            </a:r>
            <a:br/>
            <a:br/>
            <a:r>
              <a:t>By fine-tuning BERT for LLM-content detection, researchers can enhance the accuracy and reliability of detection systems, ultimately strengthening defenses against malicious content manipulation in various applications.</a:t>
            </a:r>
            <a:br/>
            <a:br/>
            <a:r>
              <a:t>Source: Research on fine-tuning BERT for LLM-content detection and its impact on detection accuracy.</a:t>
            </a:r>
            <a:br/>
            <a:br/>
            <a:r>
              <a:t>Sources: [32]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"Assessing GPT-3 Capabilities in Content Detection: Analyzing Performance and Challenges"</a:t>
            </a:r>
          </a:p>
        </p:txBody>
      </p:sp>
      <p:sp>
        <p:nvSpPr>
          <p:cNvPr id="3" name="Content Placeholder 2"/>
          <p:cNvSpPr>
            <a:spLocks noGrp="1"/>
          </p:cNvSpPr>
          <p:nvPr>
            <p:ph idx="1"/>
          </p:nvPr>
        </p:nvSpPr>
        <p:spPr/>
        <p:txBody>
          <a:bodyPr/>
          <a:lstStyle/>
          <a:p>
            <a:pPr>
              <a:defRPr sz="1200"/>
            </a:pPr>
            <a:r>
              <a:t>Slide 34: Evaluating GPT-3 Performance in Content Detection</a:t>
            </a:r>
            <a:br/>
            <a:br/>
            <a:r>
              <a:t>Slide Title: Assessing GPT-3 Capabilities in Content Detection: Analyzing Performance and Challenges</a:t>
            </a:r>
            <a:br/>
            <a:br/>
            <a:r>
              <a:t>Content Theme: Evaluating the Performance of GPT-3 in Content Detection</a:t>
            </a:r>
            <a:br/>
            <a:br/>
            <a:r>
              <a:t>Teaching Outline Context:</a:t>
            </a:r>
            <a:br/>
            <a:br/>
            <a:r>
              <a:t>Topic 2: LLM-content Detection</a:t>
            </a:r>
            <a:br/>
            <a:r>
              <a:t>- Challenges in detecting LLM-generated content</a:t>
            </a:r>
            <a:br/>
            <a:r>
              <a:t>- Utilization of deep learning techniques, such as neural networks, for content detection</a:t>
            </a:r>
            <a:br/>
            <a:r>
              <a:t>- Role of BERT in LLM-content detection</a:t>
            </a:r>
            <a:br/>
            <a:r>
              <a:t>- Overview of GPT-3 for content generation and detection</a:t>
            </a:r>
            <a:br/>
            <a:br/>
            <a:r>
              <a:t>In the realm of content detection, evaluating the performance of advanced language models like GPT-3 is essential to understand their capabilities and limitations. This assessment allows researchers and practitioners to gauge the effectiveness of GPT-3 in detecting generated content and address potential challenges in content manipulation.</a:t>
            </a:r>
            <a:br/>
            <a:br/>
            <a:r>
              <a:t>Key Points:</a:t>
            </a:r>
            <a:br/>
            <a:r>
              <a:t>1. Performance Analysis of GPT-3: Evaluating GPT-3 involves assessing its ability to distinguish between authentic and generated content accurately. By measuring metrics such as precision, recall, F1 score, accuracy, and area under the ROC curve, researchers can quantify the model's performance in content detection tasks.</a:t>
            </a:r>
            <a:br/>
            <a:br/>
            <a:r>
              <a:t>2. Challenges in GPT-3 Content Detection: Despite its sophisticated language generation capabilities, GPT-3 faces challenges in detecting subtle manipulations and adversarial attacks on generated text. Understanding these challenges is crucial for improving detection mechanisms and enhancing the model's resilience against malicious content.</a:t>
            </a:r>
            <a:br/>
            <a:br/>
            <a:r>
              <a:t>3. Leveraging Deep Learning Techniques: GPT-3 relies on deep learning principles to analyze and generate text, making it imperative to utilize neural networks for content detection. By integrating neural network architectures with GPT-3, researchers can enhance the model's ability to identify anomalies in generated content effectively.</a:t>
            </a:r>
            <a:br/>
            <a:br/>
            <a:r>
              <a:t>4. Future Directions for GPT-3: As GPT-3 continues to evolve, exploring its potential for content detection and mitigation strategies becomes paramount. By delving into the model's underlying mechanisms and performance metrics, researchers can refine detection algorithms and bolster defenses against content manipulation.</a:t>
            </a:r>
            <a:br/>
            <a:br/>
            <a:r>
              <a:t>By evaluating the performance of GPT-3 in content detection tasks, researchers can gain valuable insights into the model's efficacy and challenges, paving the way for enhanced detection systems in the landscape of language model-generated content.</a:t>
            </a:r>
            <a:br/>
            <a:br/>
            <a:r>
              <a:t>Source: Research on assessing GPT-3 capabilities in content detection and analyzing performance metrics in language model evaluation.</a:t>
            </a:r>
            <a:br/>
            <a:br/>
            <a:r>
              <a:t>Sources: [33]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"Stealthy Protection: Imperceptible Watermarking Techniques for Safeguarding LLM Content"</a:t>
            </a:r>
          </a:p>
        </p:txBody>
      </p:sp>
      <p:sp>
        <p:nvSpPr>
          <p:cNvPr id="3" name="Content Placeholder 2"/>
          <p:cNvSpPr>
            <a:spLocks noGrp="1"/>
          </p:cNvSpPr>
          <p:nvPr>
            <p:ph idx="1"/>
          </p:nvPr>
        </p:nvSpPr>
        <p:spPr/>
        <p:txBody>
          <a:bodyPr/>
          <a:lstStyle/>
          <a:p>
            <a:pPr>
              <a:defRPr sz="1200"/>
            </a:pPr>
            <a:r>
              <a:t>Slide 35: Imperceptible Watermarking Techniques for LLM Content</a:t>
            </a:r>
            <a:br/>
            <a:br/>
            <a:r>
              <a:t>Slide Title: "Stealthy Protection: Imperceptible Watermarking Techniques for Safeguarding LLM Content"</a:t>
            </a:r>
            <a:br/>
            <a:br/>
            <a:r>
              <a:t>Content Theme: Imperceptible Watermarking Techniques for Protecting LLM Content</a:t>
            </a:r>
            <a:br/>
            <a:br/>
            <a:r>
              <a:t>Teaching Outline Context:</a:t>
            </a:r>
            <a:br/>
            <a:br/>
            <a:r>
              <a:t>Topic 4: Watermarking LLM Content</a:t>
            </a:r>
            <a:br/>
            <a:r>
              <a:t>- Digital watermarking techniques for LLM content protection</a:t>
            </a:r>
            <a:br/>
            <a:r>
              <a:t>- Importance of watermarking for proving ownership and authenticity</a:t>
            </a:r>
            <a:br/>
            <a:r>
              <a:t>- Application of watermarking in language model-generated content</a:t>
            </a:r>
            <a:br/>
            <a:r>
              <a:t>- Methods for embedding imperceptible identifiers into generated content</a:t>
            </a:r>
            <a:br/>
            <a:br/>
            <a:r>
              <a:t>In the realm of safeguarding Language Model (LLM) content, imperceptible watermarking techniques play a crucial role in protecting the authenticity and ownership of generated text. By embedding subtle identifiers within the content, creators can deter unauthorized use and plagiarism, ensuring the integrity of their work.</a:t>
            </a:r>
            <a:br/>
            <a:br/>
            <a:r>
              <a:t>Key Points:</a:t>
            </a:r>
            <a:br/>
            <a:br/>
            <a:r>
              <a:t>1. Imperceptible Watermarking: Imperceptible watermarking involves embedding unique identifiers or markers into LLM-generated content without altering its perceptual quality. These hidden markers serve as digital signatures, allowing creators to assert ownership and trace the origin of the text.</a:t>
            </a:r>
            <a:br/>
            <a:br/>
            <a:r>
              <a:t>2. Protection and Authenticity: Digital watermarking is instrumental in safeguarding LLM content by providing a means to prove ownership and authenticity. By incorporating imperceptible identifiers, creators can establish legal rights over their work and prevent unauthorized distribution or modification.</a:t>
            </a:r>
            <a:br/>
            <a:br/>
            <a:r>
              <a:t>3. Application in LLM Content: Watermarking techniques are particularly relevant in the context of language model-generated content, where ensuring the integrity of text is paramount. By watermarking LLM output, creators can maintain control over their creations and mitigate the risk of intellectual property infringement.</a:t>
            </a:r>
            <a:br/>
            <a:br/>
            <a:r>
              <a:t>4. Embedding Techniques: Imperceptible watermarking methods involve embedding identifiers seamlessly into the generated content, ensuring that they are indiscernible to the human eye. Techniques such as spread spectrum modulation, spatial domain embedding, and frequency domain watermarking enable creators to embed imperceptible markers effectively.</a:t>
            </a:r>
            <a:br/>
            <a:br/>
            <a:r>
              <a:t>By leveraging imperceptible watermarking techniques for LLM content protection, creators can fortify the security of their text and establish a robust defense against unauthorized use and manipulation.</a:t>
            </a:r>
            <a:br/>
            <a:br/>
            <a:r>
              <a:t>Source: Research on the significance of imperceptible watermarking techniques for safeguarding LLM content and ensuring authenticity and ownership.</a:t>
            </a:r>
            <a:br/>
            <a:br/>
            <a:r>
              <a:t>Sources: [34]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"Implementing Imperceptible Watermarks: Safeguarding Ownership and Integrity of LLM Content"</a:t>
            </a:r>
          </a:p>
        </p:txBody>
      </p:sp>
      <p:sp>
        <p:nvSpPr>
          <p:cNvPr id="3" name="Content Placeholder 2"/>
          <p:cNvSpPr>
            <a:spLocks noGrp="1"/>
          </p:cNvSpPr>
          <p:nvPr>
            <p:ph idx="1"/>
          </p:nvPr>
        </p:nvSpPr>
        <p:spPr/>
        <p:txBody>
          <a:bodyPr/>
          <a:lstStyle/>
          <a:p>
            <a:pPr>
              <a:defRPr sz="1200"/>
            </a:pPr>
            <a:r>
              <a:t>Slide 36: Ensuring Ownership and Integrity through Watermarking</a:t>
            </a:r>
            <a:br/>
            <a:br/>
            <a:r>
              <a:t>Slide Title: Implementing Imperceptible Watermarks: Safeguarding Ownership and Integrity of LLM Content</a:t>
            </a:r>
            <a:br/>
            <a:br/>
            <a:r>
              <a:t>Content Theme: Implementation of Watermarking Techniques for Ensuring Ownership and Integrity</a:t>
            </a:r>
            <a:br/>
            <a:br/>
            <a:r>
              <a:t>Teaching Outline Context:</a:t>
            </a:r>
            <a:br/>
            <a:br/>
            <a:r>
              <a:t>Topic 4: Watermarking LLM Content</a:t>
            </a:r>
            <a:br/>
            <a:r>
              <a:t>- Digital watermarking techniques for LLM content protection</a:t>
            </a:r>
            <a:br/>
            <a:r>
              <a:t>- Importance of watermarking for proving ownership and authenticity</a:t>
            </a:r>
            <a:br/>
            <a:r>
              <a:t>- Application of watermarking in language model-generated content</a:t>
            </a:r>
            <a:br/>
            <a:r>
              <a:t>- Methods for embedding imperceptible identifiers into generated content</a:t>
            </a:r>
            <a:br/>
            <a:br/>
            <a:r>
              <a:t>In the realm of safeguarding Language Model (LLM) content, imperceptible watermarking techniques play a crucial role in protecting the authenticity and ownership of generated text. By embedding subtle identifiers within the content, creators can deter unauthorized use and plagiarism, ensuring the integrity of their work.</a:t>
            </a:r>
            <a:br/>
            <a:br/>
            <a:r>
              <a:t>Key Points:</a:t>
            </a:r>
            <a:br/>
            <a:br/>
            <a:r>
              <a:t>1. Imperceptible Watermarking: Imperceptible watermarking involves embedding unique identifiers or markers into LLM-generated content without altering its perceptual quality. These hidden markers serve as digital signatures, allowing creators to assert ownership and trace the origin of the text.</a:t>
            </a:r>
            <a:br/>
            <a:br/>
            <a:r>
              <a:t>2. Protection and Authenticity: Digital watermarking is instrumental in safeguarding LLM content by providing a means to prove ownership and authenticity. By incorporating imperceptible identifiers, creators can establish legal rights over their work and prevent unauthorized distribution or modification.</a:t>
            </a:r>
            <a:br/>
            <a:br/>
            <a:r>
              <a:t>3. Application in LLM Content: Watermarking techniques are particularly relevant in the context of language model-generated content, where ensuring the integrity of text is paramount. By watermarking LLM output, creators can maintain control over their creations and mitigate the risk of intellectual property infringement.</a:t>
            </a:r>
            <a:br/>
            <a:br/>
            <a:r>
              <a:t>4. Embedding Techniques: Imperceptible watermarking methods involve embedding identifiers seamlessly into the generated content, ensuring that they are indiscernible to the human eye. Techniques such as spread spectrum modulation, spatial domain embedding, and frequency domain watermarking enable creators to embed imperceptible markers effectively.</a:t>
            </a:r>
            <a:br/>
            <a:br/>
            <a:r>
              <a:t>By leveraging imperceptible watermarking techniques for LLM content protection, creators can fortify the security of their text and establish a robust defense against unauthorized use and manipulation.</a:t>
            </a:r>
            <a:br/>
            <a:br/>
            <a:r>
              <a:t>Source: Research on the significance of imperceptible watermarking techniques for safeguarding LLM content and ensuring authenticity and ownership.</a:t>
            </a:r>
            <a:br/>
            <a:br/>
            <a:r>
              <a:t>Sources: [35]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"Advanced Techniques for Imperceptibly Embedding Watermarks in LLM-generated Text"</a:t>
            </a:r>
          </a:p>
        </p:txBody>
      </p:sp>
      <p:sp>
        <p:nvSpPr>
          <p:cNvPr id="3" name="Content Placeholder 2"/>
          <p:cNvSpPr>
            <a:spLocks noGrp="1"/>
          </p:cNvSpPr>
          <p:nvPr>
            <p:ph idx="1"/>
          </p:nvPr>
        </p:nvSpPr>
        <p:spPr/>
        <p:txBody>
          <a:bodyPr/>
          <a:lstStyle/>
          <a:p>
            <a:pPr>
              <a:defRPr sz="1200"/>
            </a:pPr>
            <a:r>
              <a:t>Slide 37: </a:t>
            </a:r>
            <a:br/>
            <a:br/>
            <a:r>
              <a:t>Advanced Techniques for Imperceptibly Embedding Watermarks in LLM-generated Text</a:t>
            </a:r>
            <a:br/>
            <a:br/>
            <a:r>
              <a:t>Content Theme: Techniques and Methods for Embedding Watermarks in LLM-generated Text</a:t>
            </a:r>
            <a:br/>
            <a:br/>
            <a:r>
              <a:t>In the realm of safeguarding Language Model (LLM) content, imperceptible watermarking techniques play a crucial role in protecting the authenticity and ownership of generated text. By embedding subtle identifiers within the content, creators can deter unauthorized use and plagiarism, ensuring the integrity of their work.</a:t>
            </a:r>
            <a:br/>
            <a:br/>
            <a:r>
              <a:t>Key Points:</a:t>
            </a:r>
            <a:br/>
            <a:br/>
            <a:r>
              <a:t>1. Imperceptible Watermarking: Imperceptible watermarking involves embedding unique identifiers or markers into LLM-generated content without altering its perceptual quality. These hidden markers serve as digital signatures, allowing creators to assert ownership and trace the origin of the text.</a:t>
            </a:r>
            <a:br/>
            <a:br/>
            <a:r>
              <a:t>2. Protection and Authenticity: Digital watermarking is instrumental in safeguarding LLM content by providing a means to prove ownership and authenticity. By incorporating imperceptible identifiers, creators can establish legal rights over their work and prevent unauthorized distribution or modification.</a:t>
            </a:r>
            <a:br/>
            <a:br/>
            <a:r>
              <a:t>3. Application in LLM Content: Watermarking techniques are particularly relevant in the context of language model-generated content, where ensuring the integrity of text is paramount. By watermarking LLM output, creators can maintain control over their creations and mitigate the risk of intellectual property infringement.</a:t>
            </a:r>
            <a:br/>
            <a:br/>
            <a:r>
              <a:t>4. Embedding Techniques: Imperceptible watermarking methods involve embedding identifiers seamlessly into the generated content, ensuring that they are indiscernible to the human eye. Techniques such as spread spectrum modulation, spatial domain embedding, and frequency domain watermarking enable creators to embed imperceptible markers effectively.</a:t>
            </a:r>
            <a:br/>
            <a:br/>
            <a:r>
              <a:t>By leveraging imperceptible watermarking techniques for LLM content protection, creators can fortify the security of their text and establish a robust defense against unauthorized use and manipulation.</a:t>
            </a:r>
            <a:br/>
            <a:br/>
            <a:r>
              <a:t>Source: Research on the significance of imperceptible watermarking techniques for safeguarding LLM content and ensuring authenticity and ownership.</a:t>
            </a:r>
            <a:br/>
            <a:br/>
            <a:r>
              <a:t>Sources: [36]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"Mastering Stealth: Advanced Techniques for Concealing Watermarks in LLM Content"</a:t>
            </a:r>
          </a:p>
        </p:txBody>
      </p:sp>
      <p:sp>
        <p:nvSpPr>
          <p:cNvPr id="3" name="Content Placeholder 2"/>
          <p:cNvSpPr>
            <a:spLocks noGrp="1"/>
          </p:cNvSpPr>
          <p:nvPr>
            <p:ph idx="1"/>
          </p:nvPr>
        </p:nvSpPr>
        <p:spPr/>
        <p:txBody>
          <a:bodyPr/>
          <a:lstStyle/>
          <a:p>
            <a:pPr>
              <a:defRPr sz="1200"/>
            </a:pPr>
            <a:r>
              <a:t>Slide 38:</a:t>
            </a:r>
            <a:br/>
            <a:br/>
            <a:r>
              <a:t>Mastering Stealth: Advanced Techniques for Concealing Watermarks in LLM Content</a:t>
            </a:r>
            <a:br/>
            <a:br/>
            <a:r>
              <a:t>Content Theme: Techniques for Hiding Watermarks in LLM Content</a:t>
            </a:r>
            <a:br/>
            <a:br/>
            <a:r>
              <a:t>In the realm of safeguarding Language Model (LLM) content, concealing watermarks using advanced techniques is essential to protect the authenticity and ownership of generated text. By hiding watermarks within the content, creators can prevent unauthorized use and plagiarism, ensuring the integrity of their work.</a:t>
            </a:r>
            <a:br/>
            <a:br/>
            <a:r>
              <a:t>Key Points:</a:t>
            </a:r>
            <a:br/>
            <a:br/>
            <a:r>
              <a:t>1. Steganography in Watermarking: Concealing watermarks within LLM-generated content involves using steganography techniques to embed the identifiers seamlessly. These hidden watermarks act as covert marks, allowing creators to assert ownership and track the source of the text without altering its appearance.</a:t>
            </a:r>
            <a:br/>
            <a:br/>
            <a:r>
              <a:t>2. Importance of Concealment: Hiding watermarks in LLM content is crucial for maintaining the originality and integrity of the text. By concealing the identifiers effectively, creators can deter unauthorized distribution and manipulation, safeguarding their intellectual property rights.</a:t>
            </a:r>
            <a:br/>
            <a:br/>
            <a:r>
              <a:t>3. Application in LLM Content: Advanced watermarking techniques are particularly relevant in the context of language model-generated text, where preserving the authenticity of the content is paramount. By concealing watermarks within the output, creators can ensure the protection of their creations and establish ownership rights.</a:t>
            </a:r>
            <a:br/>
            <a:br/>
            <a:r>
              <a:t>4. Concealment Methods: Concealing watermarks in LLM content involves utilizing sophisticated techniques such as LSB embedding, spread spectrum modulation, and adaptive watermarking. These methods enable creators to hide identifiers in a manner that is imperceptible to the human eye, ensuring stealthy protection.</a:t>
            </a:r>
            <a:br/>
            <a:br/>
            <a:r>
              <a:t>By mastering advanced techniques for concealing watermarks in LLM content, creators can enhance the security of their text and maintain control over its usage, preventing unauthorized exploitation.</a:t>
            </a:r>
            <a:br/>
            <a:br/>
            <a:r>
              <a:t>Source: Research on the significance of steganography techniques in hiding watermarks within LLM content to protect authenticity and ownership.</a:t>
            </a:r>
            <a:br/>
            <a:br/>
            <a:r>
              <a:t>Sources: [37]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"Unleashing the Power of Visual Reasoning: Elevating LLM-Content Generation with Multimodal Capabilities"</a:t>
            </a:r>
          </a:p>
        </p:txBody>
      </p:sp>
      <p:sp>
        <p:nvSpPr>
          <p:cNvPr id="3" name="Content Placeholder 2"/>
          <p:cNvSpPr>
            <a:spLocks noGrp="1"/>
          </p:cNvSpPr>
          <p:nvPr>
            <p:ph idx="1"/>
          </p:nvPr>
        </p:nvSpPr>
        <p:spPr/>
        <p:txBody>
          <a:bodyPr/>
          <a:lstStyle/>
          <a:p>
            <a:pPr>
              <a:defRPr sz="1200"/>
            </a:pPr>
            <a:r>
              <a:t>Slide 39:</a:t>
            </a:r>
            <a:br/>
            <a:br/>
            <a:r>
              <a:t>Exploring Visual Reasoning Tasks in LLM-content Generation</a:t>
            </a:r>
            <a:br/>
            <a:br/>
            <a:r>
              <a:t>Slide Title: "Unleashing the Power of Visual Reasoning: Elevating LLM-Content Generation with Multimodal Capabilities"</a:t>
            </a:r>
            <a:br/>
            <a:br/>
            <a:r>
              <a:t>Content Theme: Exploring Visual Reasoning Tasks in LLM-content Generation: Enhancing Multimodal Capabilities</a:t>
            </a:r>
            <a:br/>
            <a:br/>
            <a:r>
              <a:t>Teaching Outline Context:</a:t>
            </a:r>
            <a:br/>
            <a:br/>
            <a:r>
              <a:t>Visual reasoning tasks play a crucial role in enhancing the capabilities of Language Model (LLM) content generation by incorporating multimodal elements. By integrating visual cues and reasoning into the generation process, LLMs can produce more contextually rich and diverse content.</a:t>
            </a:r>
            <a:br/>
            <a:br/>
            <a:r>
              <a:t>Key Points:</a:t>
            </a:r>
            <a:br/>
            <a:br/>
            <a:r>
              <a:t>1. Visual Reasoning in LLM-content Generation:</a:t>
            </a:r>
            <a:br/>
            <a:r>
              <a:t>   - Visual reasoning tasks involve leveraging images or visual stimuli to aid in generating text-based content.</a:t>
            </a:r>
            <a:br/>
            <a:r>
              <a:t>   - By incorporating visual information, LLMs can better understand context, infer relationships, and generate more coherent and relevant text outputs.</a:t>
            </a:r>
            <a:br/>
            <a:br/>
            <a:r>
              <a:t>2. Multimodal Capabilities:</a:t>
            </a:r>
            <a:br/>
            <a:r>
              <a:t>   - Multimodal capabilities refer to the ability of LLMs to process and generate content across different modalities, such as text and images.</a:t>
            </a:r>
            <a:br/>
            <a:r>
              <a:t>   - By integrating visual reasoning tasks, LLMs can enhance their understanding of the content and produce more engaging and contextually relevant outputs.</a:t>
            </a:r>
            <a:br/>
            <a:br/>
            <a:r>
              <a:t>3. Importance of Visual Reasoning:</a:t>
            </a:r>
            <a:br/>
            <a:r>
              <a:t>   - Visual reasoning tasks in LLM-content generation are essential for improving the model's ability to generate diverse and contextually accurate content.</a:t>
            </a:r>
            <a:br/>
            <a:r>
              <a:t>   - By exploring visual reasoning tasks, researchers can evaluate the model's capacity to interpret and generate content based on visual cues, leading to more robust and versatile LLMs.</a:t>
            </a:r>
            <a:br/>
            <a:br/>
            <a:r>
              <a:t>4. Enhancing Multimodal Capabilities:</a:t>
            </a:r>
            <a:br/>
            <a:r>
              <a:t>   - Incorporating visual reasoning tasks can elevate the overall performance and output quality of LLMs, enabling them to generate content that is more aligned with human-like reasoning and comprehension.</a:t>
            </a:r>
            <a:br/>
            <a:r>
              <a:t>   - By exploring the intersection of visual reasoning and LLM-content generation, researchers can unlock new possibilities for creating dynamic and engaging text outputs.</a:t>
            </a:r>
            <a:br/>
            <a:br/>
            <a:r>
              <a:t>5. Future Research Directions:</a:t>
            </a:r>
            <a:br/>
            <a:r>
              <a:t>   - Further research in visual reasoning tasks within LLM-content generation can lead to advancements in multimodal AI systems, enabling more sophisticated and contextually aware content generation.</a:t>
            </a:r>
            <a:br/>
            <a:r>
              <a:t>   - Exploring the synergies between visual reasoning and LLMs can open up avenues for developing AI models that excel in understanding and generating content across diverse modalities.</a:t>
            </a:r>
            <a:br/>
            <a:br/>
            <a:r>
              <a:t>Source: Research on the integration of visual reasoning tasks in LLM-content generation to enhance multimodal capabilities and improve content quality.</a:t>
            </a:r>
            <a:br/>
            <a:br/>
            <a:r>
              <a:t>Sources: [38]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"Unlocking the Visual Narrative: Harnessing Language Models for Image Captioning"</a:t>
            </a:r>
          </a:p>
        </p:txBody>
      </p:sp>
      <p:sp>
        <p:nvSpPr>
          <p:cNvPr id="3" name="Content Placeholder 2"/>
          <p:cNvSpPr>
            <a:spLocks noGrp="1"/>
          </p:cNvSpPr>
          <p:nvPr>
            <p:ph idx="1"/>
          </p:nvPr>
        </p:nvSpPr>
        <p:spPr/>
        <p:txBody>
          <a:bodyPr/>
          <a:lstStyle/>
          <a:p>
            <a:pPr>
              <a:defRPr sz="1200"/>
            </a:pPr>
            <a:r>
              <a:t>Slide 40:</a:t>
            </a:r>
            <a:br/>
            <a:br/>
            <a:r>
              <a:t>Image Captioning with Language Models</a:t>
            </a:r>
            <a:br/>
            <a:br/>
            <a:r>
              <a:t>Unlocking the Visual Narrative: Harnessing Language Models for Image Captioning</a:t>
            </a:r>
            <a:br/>
            <a:br/>
            <a:r>
              <a:t>Content Theme: Image Captioning with Language Models</a:t>
            </a:r>
            <a:br/>
            <a:br/>
            <a:r>
              <a:t>Teaching Outline Context:</a:t>
            </a:r>
            <a:br/>
            <a:br/>
            <a:r>
              <a:t>Visual reasoning tasks play a crucial role in enhancing the capabilities of Language Model (LLM) content generation by incorporating multimodal elements. By integrating visual cues and reasoning into the generation process, LLMs can produce more contextually rich and diverse content.</a:t>
            </a:r>
            <a:br/>
            <a:br/>
            <a:r>
              <a:t>Key Points:</a:t>
            </a:r>
            <a:br/>
            <a:br/>
            <a:r>
              <a:t>1. Image Captioning with Language Models:</a:t>
            </a:r>
            <a:br/>
            <a:r>
              <a:t>   - Image captioning involves generating textual descriptions or captions for images using Language Models (LLMs).</a:t>
            </a:r>
            <a:br/>
            <a:r>
              <a:t>   - LLMs leverage visual information to understand context, infer relationships, and generate coherent and relevant captions for images.</a:t>
            </a:r>
            <a:br/>
            <a:br/>
            <a:r>
              <a:t>2. Benchmark Datasets for Image Captioning:</a:t>
            </a:r>
            <a:br/>
            <a:r>
              <a:t>   - Common benchmark datasets for evaluating LLM-generated image captions include CLEVR, COCO, ImageNet, MSCOCO, VQA, and SQuAD.</a:t>
            </a:r>
            <a:br/>
            <a:r>
              <a:t>   - The COCO dataset is widely used for object detection, segmentation, and captioning tasks, providing a diverse set of images for evaluation.</a:t>
            </a:r>
            <a:br/>
            <a:r>
              <a:t>   - ImageNet is essential for training deep learning models, including those used for LLM content generation, due to its large-scale labeled image dataset.</a:t>
            </a:r>
            <a:br/>
            <a:br/>
            <a:r>
              <a:t>3. Introduction to OpenAI DALL-E Dataset:</a:t>
            </a:r>
            <a:br/>
            <a:r>
              <a:t>   - The OpenAI DALL-E dataset is a recent addition for LLM content generation, focusing on generating images from textual descriptions.</a:t>
            </a:r>
            <a:br/>
            <a:r>
              <a:t>   - DALL-E demonstrates the potential of LLMs in generating visual content and expanding the capabilities of image captioning tasks.</a:t>
            </a:r>
            <a:br/>
            <a:br/>
            <a:r>
              <a:t>4. Enhancing Image Captioning with LLMs:</a:t>
            </a:r>
            <a:br/>
            <a:r>
              <a:t>   - By incorporating visual reasoning tasks and multimodal capabilities, LLMs can improve the quality and relevance of image captions.</a:t>
            </a:r>
            <a:br/>
            <a:r>
              <a:t>   - The integration of visual cues into LLM content generation enables more engaging and contextually accurate image descriptions.</a:t>
            </a:r>
            <a:br/>
            <a:br/>
            <a:r>
              <a:t>5. Future Directions in Image Captioning:</a:t>
            </a:r>
            <a:br/>
            <a:r>
              <a:t>   - Further research in image captioning with LLMs can lead to advancements in generating diverse and visually descriptive captions.</a:t>
            </a:r>
            <a:br/>
            <a:r>
              <a:t>   - Exploring the intersection of language models and visual content can unlock new possibilities for creating dynamic and immersive image captions.</a:t>
            </a:r>
            <a:br/>
            <a:br/>
            <a:r>
              <a:t>Source: Research on the integration of visual reasoning tasks in LLM-content generation to enhance multimodal capabilities and improve content quality.</a:t>
            </a:r>
            <a:br/>
            <a:br/>
            <a:r>
              <a:t>Sources: [39]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"Mastering Visual Question Answering Challenges: Strategies for LLM Content Generation"</a:t>
            </a:r>
          </a:p>
        </p:txBody>
      </p:sp>
      <p:sp>
        <p:nvSpPr>
          <p:cNvPr id="3" name="Content Placeholder 2"/>
          <p:cNvSpPr>
            <a:spLocks noGrp="1"/>
          </p:cNvSpPr>
          <p:nvPr>
            <p:ph idx="1"/>
          </p:nvPr>
        </p:nvSpPr>
        <p:spPr/>
        <p:txBody>
          <a:bodyPr/>
          <a:lstStyle/>
          <a:p>
            <a:pPr>
              <a:defRPr sz="1200"/>
            </a:pPr>
            <a:r>
              <a:t>Slide 41:</a:t>
            </a:r>
            <a:br/>
            <a:br/>
            <a:r>
              <a:t>Mastering Visual Question Answering Challenges: Strategies for LLM Content Generation</a:t>
            </a:r>
            <a:br/>
            <a:br/>
            <a:r>
              <a:t>Content Theme: Challenges and Solutions in Visual Question Answering (VQA) Tasks</a:t>
            </a:r>
            <a:br/>
            <a:br/>
            <a:r>
              <a:t>Teaching Outline Context:</a:t>
            </a:r>
            <a:br/>
            <a:br/>
            <a:r>
              <a:t>Topic 1: LLM-content Benchmarking Datasets</a:t>
            </a:r>
            <a:br/>
            <a:r>
              <a:t>- Common benchmark datasets used for evaluating LLM-content generation models</a:t>
            </a:r>
            <a:br/>
            <a:r>
              <a:t>  - CLEVR, COCO, ImageNet, MSCOCO, VQA, SQuAD</a:t>
            </a:r>
            <a:br/>
            <a:r>
              <a:t>- Overview of COCO dataset for object detection, segmentation, and captioning tasks</a:t>
            </a:r>
            <a:br/>
            <a:r>
              <a:t>- Importance of ImageNet for training deep learning models</a:t>
            </a:r>
            <a:br/>
            <a:r>
              <a:t>- Introduction to OpenAI DALL-E dataset for LLM content generation</a:t>
            </a:r>
            <a:br/>
            <a:br/>
            <a:r>
              <a:t>Topic 2: LLM-content Detection</a:t>
            </a:r>
            <a:br/>
            <a:r>
              <a:t>- Challenges in detecting LLM-generated content</a:t>
            </a:r>
            <a:br/>
            <a:r>
              <a:t>- Utilization of deep learning techniques, such as neural networks, for content detection</a:t>
            </a:r>
            <a:br/>
            <a:r>
              <a:t>- Role of BERT in LLM-content detection</a:t>
            </a:r>
            <a:br/>
            <a:r>
              <a:t>- Overview of GPT-3 for content generation and detection</a:t>
            </a:r>
            <a:br/>
            <a:br/>
            <a:r>
              <a:t>Topic 3: Evading LLM Detectors</a:t>
            </a:r>
            <a:br/>
            <a:r>
              <a:t>- Strategies for evading language model detection systems</a:t>
            </a:r>
            <a:br/>
            <a:r>
              <a:t>- Adversarial attacks on LLM-content detection systems</a:t>
            </a:r>
            <a:br/>
            <a:r>
              <a:t>- Evasion attacks on language model detection systems</a:t>
            </a:r>
            <a:br/>
            <a:r>
              <a:t>- Techniques and methods for evading detection mechanisms</a:t>
            </a:r>
            <a:br/>
            <a:br/>
            <a:r>
              <a:t>Topic 4: Watermarking LLM Content</a:t>
            </a:r>
            <a:br/>
            <a:r>
              <a:t>- Digital watermarking techniques for LLM content protection</a:t>
            </a:r>
            <a:br/>
            <a:r>
              <a:t>- Importance of watermarking for proving ownership and authenticity</a:t>
            </a:r>
            <a:br/>
            <a:r>
              <a:t>- Application of watermarking in language model-generated content</a:t>
            </a:r>
            <a:br/>
            <a:r>
              <a:t>- Methods for embedding imperceptible identifiers into generated content</a:t>
            </a:r>
            <a:br/>
            <a:br/>
            <a:r>
              <a:t>Estimated number of slides: 4-6</a:t>
            </a:r>
            <a:br/>
            <a:br/>
            <a:r>
              <a:t>Associated Research:</a:t>
            </a:r>
            <a:br/>
            <a:br/>
            <a:r>
              <a:t>The Visual Question Answering (VQA) dataset is commonly used for evaluating LLM-content detection models due to its diverse range of images and associated questions. This dataset presents challenges for LLM-content detection as it requires models to understand both visual content and textual context to provide accurate answers. The VQA dataset includes real-world images with open-ended questions, making it a valuable resource for testing the robustness and accuracy of LLM-content detection systems.</a:t>
            </a:r>
            <a:br/>
            <a:br/>
            <a:r>
              <a:t>Source: Research on the integration of visual reasoning tasks in LLM-content generation to enhance multimodal capabilities and improve content quality.</a:t>
            </a:r>
            <a:br/>
            <a:br/>
            <a:r>
              <a:t>Sources: [40]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"Navigating Object Detection Challenges in Large Language Models: Enhancing Accuracy and Generalization"</a:t>
            </a:r>
          </a:p>
        </p:txBody>
      </p:sp>
      <p:sp>
        <p:nvSpPr>
          <p:cNvPr id="3" name="Content Placeholder 2"/>
          <p:cNvSpPr>
            <a:spLocks noGrp="1"/>
          </p:cNvSpPr>
          <p:nvPr>
            <p:ph idx="1"/>
          </p:nvPr>
        </p:nvSpPr>
        <p:spPr/>
        <p:txBody>
          <a:bodyPr/>
          <a:lstStyle/>
          <a:p>
            <a:pPr>
              <a:defRPr sz="1200"/>
            </a:pPr>
            <a:r>
              <a:t>Slide 42:</a:t>
            </a:r>
            <a:br/>
            <a:br/>
            <a:r>
              <a:t>Object Detection Challenges for Large Language Models</a:t>
            </a:r>
            <a:br/>
            <a:br/>
            <a:r>
              <a:t>Navigating Object Detection Challenges in Large Language Models: Enhancing Accuracy and Generalization</a:t>
            </a:r>
            <a:br/>
            <a:br/>
            <a:r>
              <a:t>Object Detection Challenges for Large Language Models: Overcoming Complexity and Generalization Issues</a:t>
            </a:r>
            <a:br/>
            <a:br/>
            <a:r>
              <a:t>Teaching Outline Context:</a:t>
            </a:r>
            <a:br/>
            <a:br/>
            <a:r>
              <a:t>Topic 1: LLM-content Benchmarking Datasets</a:t>
            </a:r>
            <a:br/>
            <a:r>
              <a:t>- Common benchmark datasets used for evaluating LLM-content generation models</a:t>
            </a:r>
            <a:br/>
            <a:r>
              <a:t>  - CLEVR, COCO, ImageNet, MSCOCO, VQA, SQuAD</a:t>
            </a:r>
            <a:br/>
            <a:r>
              <a:t>- Overview of COCO dataset for object detection, segmentation, and captioning tasks</a:t>
            </a:r>
            <a:br/>
            <a:r>
              <a:t>- Importance of ImageNet for training deep learning models</a:t>
            </a:r>
            <a:br/>
            <a:r>
              <a:t>- Introduction to OpenAI DALL-E dataset for LLM content generation</a:t>
            </a:r>
            <a:br/>
            <a:br/>
            <a:r>
              <a:t>Topic 2: LLM-content Detection</a:t>
            </a:r>
            <a:br/>
            <a:r>
              <a:t>- Challenges in detecting LLM-generated content</a:t>
            </a:r>
            <a:br/>
            <a:r>
              <a:t>- Utilization of deep learning techniques, such as neural networks, for content detection</a:t>
            </a:r>
            <a:br/>
            <a:r>
              <a:t>- Role of BERT in LLM-content detection</a:t>
            </a:r>
            <a:br/>
            <a:r>
              <a:t>- Overview of GPT-3 for content generation and detection</a:t>
            </a:r>
            <a:br/>
            <a:br/>
            <a:r>
              <a:t>Topic 3: Evading LLM Detectors</a:t>
            </a:r>
            <a:br/>
            <a:r>
              <a:t>- Strategies for evading language model detection systems</a:t>
            </a:r>
            <a:br/>
            <a:r>
              <a:t>- Adversarial attacks on LLM-content detection systems</a:t>
            </a:r>
            <a:br/>
            <a:r>
              <a:t>- Evasion attacks on language model detection systems</a:t>
            </a:r>
            <a:br/>
            <a:r>
              <a:t>- Techniques and methods for evading detection mechanisms</a:t>
            </a:r>
            <a:br/>
            <a:br/>
            <a:r>
              <a:t>Topic 4: Watermarking LLM Content</a:t>
            </a:r>
            <a:br/>
            <a:r>
              <a:t>- Digital watermarking techniques for LLM content protection</a:t>
            </a:r>
            <a:br/>
            <a:r>
              <a:t>- Importance of watermarking for proving ownership and authenticity</a:t>
            </a:r>
            <a:br/>
            <a:r>
              <a:t>- Application of watermarking in language model-generated content</a:t>
            </a:r>
            <a:br/>
            <a:r>
              <a:t>- Methods for embedding imperceptible identifiers into generated content</a:t>
            </a:r>
            <a:br/>
            <a:br/>
            <a:r>
              <a:t>Estimated number of slides: 4-6</a:t>
            </a:r>
            <a:br/>
            <a:br/>
            <a:r>
              <a:t>Associated Research:</a:t>
            </a:r>
            <a:br/>
            <a:br/>
            <a:r>
              <a:t>The MS COCO (Microsoft Common Objects in Context) dataset is a widely used benchmark for assessing the accuracy of Language Model (LLM) detection systems. It consists of images annotated with object labels and captions, making it suitable for tasks like image recognition and object detection. LLM detection accuracy can be evaluated using this dataset by testing how well a model can detect and classify objects in images based on the provided annotations.</a:t>
            </a:r>
            <a:br/>
            <a:br/>
            <a:r>
              <a:t>Source: Research on benchmark datasets for evaluating LLM-content generation models.</a:t>
            </a:r>
            <a:br/>
            <a:br/>
            <a:r>
              <a:t>Sources: [41]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LLM-Content Evaluation: Unveiling the Power of Segmentation Tasks for Comprehensive Analysis"</a:t>
            </a:r>
          </a:p>
        </p:txBody>
      </p:sp>
      <p:sp>
        <p:nvSpPr>
          <p:cNvPr id="3" name="Content Placeholder 2"/>
          <p:cNvSpPr>
            <a:spLocks noGrp="1"/>
          </p:cNvSpPr>
          <p:nvPr>
            <p:ph idx="1"/>
          </p:nvPr>
        </p:nvSpPr>
        <p:spPr/>
        <p:txBody>
          <a:bodyPr/>
          <a:lstStyle/>
          <a:p>
            <a:pPr>
              <a:defRPr sz="1200"/>
            </a:pPr>
            <a:r>
              <a:t>Slide 43:</a:t>
            </a:r>
            <a:br/>
            <a:br/>
            <a:r>
              <a:t>Segmentation Tasks in LLM-content Evaluation</a:t>
            </a:r>
            <a:br/>
            <a:br/>
            <a:r>
              <a:t>Enhancing LLM-Content Evaluation: Unveiling the Power of Segmentation Tasks for Comprehensive Analysis</a:t>
            </a:r>
            <a:br/>
            <a:br/>
            <a:r>
              <a:t>Content Theme: Application of Segmentation Tasks in Evaluating LLM-content Generation Models</a:t>
            </a:r>
            <a:br/>
            <a:br/>
            <a:r>
              <a:t>Teaching Outline Context:</a:t>
            </a:r>
            <a:br/>
            <a:br/>
            <a:r>
              <a:t>Segmentation tasks play a crucial role in evaluating the performance of Language Model (LLM) content generation models. By breaking down the generated content into distinct segments, we can analyze the quality, coherence, and relevance of the output more effectively.</a:t>
            </a:r>
            <a:br/>
            <a:br/>
            <a:r>
              <a:t>1. Segmentation Techniques for LLM-content Evaluation</a:t>
            </a:r>
            <a:br/>
            <a:r>
              <a:t>- Utilization of segmentation tasks to divide LLM-generated content into meaningful units</a:t>
            </a:r>
            <a:br/>
            <a:r>
              <a:t>- Analysis of segment-level attributes such as grammar, semantics, and context coherence</a:t>
            </a:r>
            <a:br/>
            <a:r>
              <a:t>- Evaluation metrics for assessing the quality and fluency of segmented content</a:t>
            </a:r>
            <a:br/>
            <a:br/>
            <a:r>
              <a:t>2. Role of Segmentation in Model Interpretability</a:t>
            </a:r>
            <a:br/>
            <a:r>
              <a:t>- Understanding how segmentation tasks can aid in interpreting LLM-generated content</a:t>
            </a:r>
            <a:br/>
            <a:r>
              <a:t>- Visualization of segmented output to identify patterns, errors, and inconsistencies</a:t>
            </a:r>
            <a:br/>
            <a:r>
              <a:t>- Importance of segment-level analysis for debugging and improving LLM models</a:t>
            </a:r>
            <a:br/>
            <a:br/>
            <a:r>
              <a:t>3. Segmentation for Content Classification and Summarization</a:t>
            </a:r>
            <a:br/>
            <a:r>
              <a:t>- Application of segmentation tasks in classifying and summarizing LLM-generated content</a:t>
            </a:r>
            <a:br/>
            <a:r>
              <a:t>- Utilizing segments as building blocks for structured content organization</a:t>
            </a:r>
            <a:br/>
            <a:r>
              <a:t>- Enhancing content understanding and information retrieval through segmentation</a:t>
            </a:r>
            <a:br/>
            <a:br/>
            <a:r>
              <a:t>4. Challenges and Limitations of Segmentation in LLM-content Evaluation</a:t>
            </a:r>
            <a:br/>
            <a:r>
              <a:t>- Addressing issues related to segment boundaries, overlaps, and ambiguities</a:t>
            </a:r>
            <a:br/>
            <a:r>
              <a:t>- Handling complex sentence structures, long-range dependencies, and diverse content types</a:t>
            </a:r>
            <a:br/>
            <a:r>
              <a:t>- Strategies for overcoming segmentation challenges to ensure accurate evaluation results</a:t>
            </a:r>
            <a:br/>
            <a:br/>
            <a:r>
              <a:t>5. Future Directions in Segmentation-based Evaluation</a:t>
            </a:r>
            <a:br/>
            <a:r>
              <a:t>- Exploring advanced segmentation algorithms and techniques for LLM-content analysis</a:t>
            </a:r>
            <a:br/>
            <a:r>
              <a:t>- Integrating segmentation tasks with other evaluation methodologies for comprehensive assessment</a:t>
            </a:r>
            <a:br/>
            <a:r>
              <a:t>- Research opportunities for enhancing the effectiveness and efficiency of segmentation-based evaluation approaches</a:t>
            </a:r>
            <a:br/>
            <a:br/>
            <a:r>
              <a:t>Estimated number of slides: 7-9</a:t>
            </a:r>
            <a:br/>
            <a:br/>
            <a:r>
              <a:t>Associated Research:</a:t>
            </a:r>
            <a:br/>
            <a:br/>
            <a:r>
              <a:t>Segmentation tasks offer a granular approach to evaluating LLM-generated content, allowing for in-depth analysis of various linguistic and structural aspects. By leveraging segmentation techniques, researchers can gain valuable insights into the performance and capabilities of LLM models, leading to improved content generation and detection outcomes.</a:t>
            </a:r>
            <a:br/>
            <a:br/>
            <a:r>
              <a:t>Source: Research on the application of segmentation tasks in evaluating LLM-content generation models.</a:t>
            </a:r>
            <a:br/>
            <a:br/>
            <a:r>
              <a:t>Sources: [42]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"Unraveling the Power of Semantic Segmentation for Enhanced LLM-Content Generation"</a:t>
            </a:r>
          </a:p>
        </p:txBody>
      </p:sp>
      <p:sp>
        <p:nvSpPr>
          <p:cNvPr id="3" name="Content Placeholder 2"/>
          <p:cNvSpPr>
            <a:spLocks noGrp="1"/>
          </p:cNvSpPr>
          <p:nvPr>
            <p:ph idx="1"/>
          </p:nvPr>
        </p:nvSpPr>
        <p:spPr/>
        <p:txBody>
          <a:bodyPr/>
          <a:lstStyle/>
          <a:p>
            <a:pPr>
              <a:defRPr sz="1200"/>
            </a:pPr>
            <a:r>
              <a:t>Slide 44:</a:t>
            </a:r>
            <a:br/>
            <a:br/>
            <a:r>
              <a:t>Semantic Segmentation for LLM-content Generation</a:t>
            </a:r>
            <a:br/>
            <a:br/>
            <a:r>
              <a:t>Title: "Unraveling the Power of Semantic Segmentation for Enhanced LLM-Content Generation"</a:t>
            </a:r>
            <a:br/>
            <a:br/>
            <a:r>
              <a:t>Content Theme: Semantic Segmentation for LLM-content Generation</a:t>
            </a:r>
            <a:br/>
            <a:br/>
            <a:r>
              <a:t>Teaching Outline Context:</a:t>
            </a:r>
            <a:br/>
            <a:br/>
            <a:r>
              <a:t>Semantic segmentation plays a vital role in enhancing the quality and relevance of Language Model (LLM) content generation by providing a structured approach to analyze and generate content. By segmenting the generated content based on its semantic meaning, LLM models can produce more coherent and contextually relevant text outputs.</a:t>
            </a:r>
            <a:br/>
            <a:br/>
            <a:r>
              <a:t>1. Semantic Segmentation Techniques for LLM-content Generation</a:t>
            </a:r>
            <a:br/>
            <a:r>
              <a:t>- Implementation of semantic segmentation to categorize LLM-generated content into semantically meaningful segments</a:t>
            </a:r>
            <a:br/>
            <a:r>
              <a:t>- Analysis of segment-level attributes such as topic relevance, coherence, and contextual understanding</a:t>
            </a:r>
            <a:br/>
            <a:r>
              <a:t>- Evaluation metrics for assessing the effectiveness and accuracy of semantic segmentation in content generation</a:t>
            </a:r>
            <a:br/>
            <a:br/>
            <a:r>
              <a:t>2. Benefits of Semantic Segmentation in Model Interpretability</a:t>
            </a:r>
            <a:br/>
            <a:r>
              <a:t>- Exploring how semantic segmentation aids in interpreting and understanding LLM-generated content</a:t>
            </a:r>
            <a:br/>
            <a:r>
              <a:t>- Visual representation of segmented content to identify underlying themes, connections, and logical flow</a:t>
            </a:r>
            <a:br/>
            <a:r>
              <a:t>- Significance of segment-level analysis for improving model interpretability and content quality</a:t>
            </a:r>
            <a:br/>
            <a:br/>
            <a:r>
              <a:t>3. Semantic Segmentation for Content Organization and Enhancement</a:t>
            </a:r>
            <a:br/>
            <a:r>
              <a:t>- Utilization of semantic segmentation for organizing and structuring LLM-generated content into coherent narratives</a:t>
            </a:r>
            <a:br/>
            <a:r>
              <a:t>- Leveraging segmented content for enhancing readability, information flow, and user engagement</a:t>
            </a:r>
            <a:br/>
            <a:r>
              <a:t>- Improving content coherence and relevance through semantic segmentation techniques</a:t>
            </a:r>
            <a:br/>
            <a:br/>
            <a:r>
              <a:t>4. Challenges and Considerations in Semantic Segmentation for LLM-content Generation</a:t>
            </a:r>
            <a:br/>
            <a:r>
              <a:t>- Addressing issues related to semantic ambiguity, overlapping segments, and topic transitions</a:t>
            </a:r>
            <a:br/>
            <a:r>
              <a:t>- Handling complex semantic structures, diverse content genres, and domain-specific language nuances</a:t>
            </a:r>
            <a:br/>
            <a:r>
              <a:t>- Strategies for overcoming semantic segmentation challenges to ensure accurate and contextually relevant content generation</a:t>
            </a:r>
            <a:br/>
            <a:br/>
            <a:r>
              <a:t>5. Future Directions in Semantic Segmentation-based LLM-content Generation</a:t>
            </a:r>
            <a:br/>
            <a:r>
              <a:t>- Exploring advanced semantic segmentation algorithms and methodologies for improving content generation outcomes</a:t>
            </a:r>
            <a:br/>
            <a:r>
              <a:t>- Integrating semantic segmentation with other content analysis techniques for comprehensive content evaluation</a:t>
            </a:r>
            <a:br/>
            <a:r>
              <a:t>- Research opportunities for enhancing the efficiency and effectiveness of semantic segmentation in LLM content generation</a:t>
            </a:r>
            <a:br/>
            <a:br/>
            <a:r>
              <a:t>Estimated number of slides: 6-8</a:t>
            </a:r>
            <a:br/>
            <a:br/>
            <a:r>
              <a:t>Associated Research:</a:t>
            </a:r>
            <a:br/>
            <a:br/>
            <a:r>
              <a:t>Semantic segmentation offers a structured approach to analyzing and generating LLM content by categorizing text into semantically meaningful segments. By leveraging semantic segmentation techniques, researchers can enhance the coherence, relevance, and interpretability of LLM-generated content, leading to improved content quality and user engagement.</a:t>
            </a:r>
            <a:br/>
            <a:br/>
            <a:r>
              <a:t>Source: Research on the application of semantic segmentation in enhancing LLM-content generation.</a:t>
            </a:r>
            <a:br/>
            <a:br/>
            <a:r>
              <a:t>Sources: [43]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"Unraveling the Intricacies of Handwritten Letter Recognition in Large Language Models: Neural Networks and Advanced Techniques"</a:t>
            </a:r>
          </a:p>
        </p:txBody>
      </p:sp>
      <p:sp>
        <p:nvSpPr>
          <p:cNvPr id="3" name="Content Placeholder 2"/>
          <p:cNvSpPr>
            <a:spLocks noGrp="1"/>
          </p:cNvSpPr>
          <p:nvPr>
            <p:ph idx="1"/>
          </p:nvPr>
        </p:nvSpPr>
        <p:spPr/>
        <p:txBody>
          <a:bodyPr/>
          <a:lstStyle/>
          <a:p>
            <a:pPr>
              <a:defRPr sz="1200"/>
            </a:pPr>
            <a:r>
              <a:t>Slide 45:</a:t>
            </a:r>
            <a:br/>
            <a:br/>
            <a:r>
              <a:t>Handwritten Letter Recognition in Large Language Models</a:t>
            </a:r>
            <a:br/>
            <a:br/>
            <a:r>
              <a:t>Title: "Unraveling the Intricacies of Handwritten Letter Recognition in Large Language Models: Neural Networks and Advanced Techniques"</a:t>
            </a:r>
            <a:br/>
            <a:br/>
            <a:r>
              <a:t>Content Theme: Handwritten Letter Recognition in Large Language Models: Techniques and Challenges</a:t>
            </a:r>
            <a:br/>
            <a:br/>
            <a:r>
              <a:t>Teaching Outline Context:</a:t>
            </a:r>
            <a:br/>
            <a:br/>
            <a:r>
              <a:t>Handwritten letter recognition in large language models (LLMs) poses unique challenges due to variations in handwriting styles, noise in handwritten data, and the need for robust feature extraction techniques. LLMs must be trained on diverse datasets to accurately recognize handwritten letters across different styles and languages. The scalability of LLMs also presents challenges in efficiently processing and recognizing handwritten letters in real-time applications.</a:t>
            </a:r>
            <a:br/>
            <a:br/>
            <a:r>
              <a:t>1. Techniques for Handwritten Letter Recognition in LLMs</a:t>
            </a:r>
            <a:br/>
            <a:r>
              <a:t>- Utilization of neural networks for recognizing handwritten letters in large language models</a:t>
            </a:r>
            <a:br/>
            <a:r>
              <a:t>- Advanced feature extraction methods for enhancing the accuracy of handwritten letter recognition</a:t>
            </a:r>
            <a:br/>
            <a:r>
              <a:t>- Training strategies to improve the performance of LLMs in recognizing diverse handwriting styles</a:t>
            </a:r>
            <a:br/>
            <a:br/>
            <a:r>
              <a:t>2. Challenges in Handwritten Letter Recognition</a:t>
            </a:r>
            <a:br/>
            <a:r>
              <a:t>- Variability in handwriting styles and the impact on recognition accuracy</a:t>
            </a:r>
            <a:br/>
            <a:r>
              <a:t>- Handling noise and distortions in handwritten data for robust recognition</a:t>
            </a:r>
            <a:br/>
            <a:r>
              <a:t>- Real-time processing challenges in recognizing handwritten letters using large language models</a:t>
            </a:r>
            <a:br/>
            <a:br/>
            <a:r>
              <a:t>3. Role of Neural Networks in Handwritten Letter Recognition</a:t>
            </a:r>
            <a:br/>
            <a:r>
              <a:t>- Exploring the effectiveness of neural networks in recognizing handwritten letters</a:t>
            </a:r>
            <a:br/>
            <a:r>
              <a:t>- Advantages of neural network-based approaches for improving recognition performance</a:t>
            </a:r>
            <a:br/>
            <a:r>
              <a:t>- Integration of advanced neural network architectures for enhanced handwritten letter recognition</a:t>
            </a:r>
            <a:br/>
            <a:br/>
            <a:r>
              <a:t>4. Advanced Techniques for Handwritten Letter Recognition</a:t>
            </a:r>
            <a:br/>
            <a:r>
              <a:t>- Introduction to state-of-the-art methods for improving handwritten letter recognition in large language models</a:t>
            </a:r>
            <a:br/>
            <a:r>
              <a:t>- Incorporating contextual information and language modeling for better recognition outcomes</a:t>
            </a:r>
            <a:br/>
            <a:r>
              <a:t>- Leveraging transfer learning and fine-tuning for adapting LLMs to different handwriting styles and languages</a:t>
            </a:r>
            <a:br/>
            <a:br/>
            <a:r>
              <a:t>5. Future Directions in Handwritten Letter Recognition in LLMs</a:t>
            </a:r>
            <a:br/>
            <a:r>
              <a:t>- Research opportunities for advancing handwritten letter recognition in large language models</a:t>
            </a:r>
            <a:br/>
            <a:r>
              <a:t>- Exploring novel techniques for addressing challenges in recognizing diverse handwriting styles</a:t>
            </a:r>
            <a:br/>
            <a:r>
              <a:t>- Enhancing the scalability and efficiency of LLMs in real-time handwritten letter recognition</a:t>
            </a:r>
            <a:br/>
            <a:br/>
            <a:r>
              <a:t>Estimated number of slides: 5-7</a:t>
            </a:r>
            <a:br/>
            <a:br/>
            <a:r>
              <a:t>Associated Research:</a:t>
            </a:r>
            <a:br/>
            <a:br/>
            <a:r>
              <a:t>Handwritten letter recognition in large language models requires specialized techniques to address variations in handwriting styles, noise in data, and scalability challenges. Neural networks play a crucial role in enhancing recognition accuracy, and advanced methods like contextual modeling and transfer learning show promise in improving handwritten letter recognition in LLMs.</a:t>
            </a:r>
            <a:br/>
            <a:br/>
            <a:r>
              <a:t>Source: Research on handwritten letter recognition in large language models and advanced techniques for improving recognition accuracy.</a:t>
            </a:r>
            <a:br/>
            <a:br/>
            <a:r>
              <a:t>Sources: [44]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Navigating the Intricacies of Handwritten Letter Recognition Challenges in Large Language Models</a:t>
            </a:r>
          </a:p>
        </p:txBody>
      </p:sp>
      <p:sp>
        <p:nvSpPr>
          <p:cNvPr id="3" name="Content Placeholder 2"/>
          <p:cNvSpPr>
            <a:spLocks noGrp="1"/>
          </p:cNvSpPr>
          <p:nvPr>
            <p:ph idx="1"/>
          </p:nvPr>
        </p:nvSpPr>
        <p:spPr/>
        <p:txBody>
          <a:bodyPr/>
          <a:lstStyle/>
          <a:p>
            <a:pPr>
              <a:defRPr sz="1200"/>
            </a:pPr>
            <a:r>
              <a:t>Slide 46:</a:t>
            </a:r>
            <a:br/>
            <a:br/>
            <a:r>
              <a:t>Challenges in Handwritten Letter Recognition</a:t>
            </a:r>
            <a:br/>
            <a:br/>
            <a:r>
              <a:t>Navigating the Intricacies of Handwritten Letter Recognition Challenges in Large Language Models</a:t>
            </a:r>
            <a:br/>
            <a:br/>
            <a:r>
              <a:t>Content Theme: Overcoming Challenges in Handwritten Letter Recognition for Large Language Models</a:t>
            </a:r>
            <a:br/>
            <a:br/>
            <a:r>
              <a:t>Teaching Outline Context:</a:t>
            </a:r>
            <a:br/>
            <a:br/>
            <a:r>
              <a:t>Topic 1: LLM-content Benchmarking Datasets</a:t>
            </a:r>
            <a:br/>
            <a:r>
              <a:t>- Common benchmark datasets used for evaluating LLM-content generation models</a:t>
            </a:r>
            <a:br/>
            <a:r>
              <a:t>  - CLEVR, COCO, ImageNet, MSCOCO, VQA, SQuAD</a:t>
            </a:r>
            <a:br/>
            <a:r>
              <a:t>- Overview of COCO dataset for object detection, segmentation, and captioning tasks</a:t>
            </a:r>
            <a:br/>
            <a:r>
              <a:t>- Importance of ImageNet for training deep learning models</a:t>
            </a:r>
            <a:br/>
            <a:r>
              <a:t>- Introduction to OpenAI DALL-E dataset for LLM content generation</a:t>
            </a:r>
            <a:br/>
            <a:br/>
            <a:r>
              <a:t>Estimated number of slides: 5-7</a:t>
            </a:r>
            <a:br/>
            <a:br/>
            <a:r>
              <a:t>Topic 2: LLM-content Detection</a:t>
            </a:r>
            <a:br/>
            <a:r>
              <a:t>- Challenges in detecting LLM-generated content</a:t>
            </a:r>
            <a:br/>
            <a:r>
              <a:t>- Utilization of deep learning techniques, such as neural networks, for content detection</a:t>
            </a:r>
            <a:br/>
            <a:r>
              <a:t>- Role of BERT in LLM-content detection</a:t>
            </a:r>
            <a:br/>
            <a:r>
              <a:t>- Overview of GPT-3 for content generation and detection</a:t>
            </a:r>
            <a:br/>
            <a:br/>
            <a:r>
              <a:t>Estimated number of slides: 6-8</a:t>
            </a:r>
            <a:br/>
            <a:br/>
            <a:r>
              <a:t>Topic 3: Evading LLM Detectors</a:t>
            </a:r>
            <a:br/>
            <a:r>
              <a:t>- Strategies for evading language model detection systems</a:t>
            </a:r>
            <a:br/>
            <a:r>
              <a:t>- Adversarial attacks on LLM-content detection systems</a:t>
            </a:r>
            <a:br/>
            <a:r>
              <a:t>- Evasion attacks on language model detection systems</a:t>
            </a:r>
            <a:br/>
            <a:r>
              <a:t>- Techniques and methods for evading detection mechanisms</a:t>
            </a:r>
            <a:br/>
            <a:br/>
            <a:r>
              <a:t>Estimated number of slides: 5-7</a:t>
            </a:r>
            <a:br/>
            <a:br/>
            <a:r>
              <a:t>Topic 4: Watermarking LLM Content</a:t>
            </a:r>
            <a:br/>
            <a:r>
              <a:t>- Digital watermarking techniques for LLM content protection</a:t>
            </a:r>
            <a:br/>
            <a:r>
              <a:t>- Importance of watermarking for proving ownership and authenticity</a:t>
            </a:r>
            <a:br/>
            <a:r>
              <a:t>- Application of watermarking in language model-generated content</a:t>
            </a:r>
            <a:br/>
            <a:r>
              <a:t>- Methods for embedding imperceptible identifiers into generated content</a:t>
            </a:r>
            <a:br/>
            <a:br/>
            <a:r>
              <a:t>Estimated number of slides: 4-6</a:t>
            </a:r>
            <a:br/>
            <a:br/>
            <a:r>
              <a:t>Associated Research:</a:t>
            </a:r>
            <a:br/>
            <a:br/>
            <a:r>
              <a:t>Deep learning techniques, such as neural networks, have been increasingly utilized for LLM-content detection. These models are trained on large datasets of both legitimate and generated content to learn patterns and characteristics that distinguish between them. By leveraging the power of deep learning, researchers have been able to develop more accurate and efficient methods for detecting LLM-generated content.</a:t>
            </a:r>
            <a:br/>
            <a:br/>
            <a:r>
              <a:t>Sources: [45]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Fine-Tuning Large Language Models for Task-Specific Precision</a:t>
            </a:r>
          </a:p>
        </p:txBody>
      </p:sp>
      <p:sp>
        <p:nvSpPr>
          <p:cNvPr id="3" name="Content Placeholder 2"/>
          <p:cNvSpPr>
            <a:spLocks noGrp="1"/>
          </p:cNvSpPr>
          <p:nvPr>
            <p:ph idx="1"/>
          </p:nvPr>
        </p:nvSpPr>
        <p:spPr/>
        <p:txBody>
          <a:bodyPr/>
          <a:lstStyle/>
          <a:p>
            <a:pPr>
              <a:defRPr sz="1200"/>
            </a:pPr>
            <a:r>
              <a:t>Slide 47:</a:t>
            </a:r>
            <a:br/>
            <a:br/>
            <a:r>
              <a:t>Fine-Tuning Large Language Models for Task-Specific Precision</a:t>
            </a:r>
            <a:br/>
            <a:br/>
            <a:r>
              <a:t>Fine-tuning Models for Specific Tasks</a:t>
            </a:r>
            <a:br/>
            <a:br/>
            <a:r>
              <a:t>Teaching Outline Context:</a:t>
            </a:r>
            <a:br/>
            <a:br/>
            <a:r>
              <a:t>Fine-tuning large language models (LLMs) involves adapting pre-trained models to perform specific tasks or datasets, enhancing their performance on tasks like text classification, sentiment analysis, question answering, and more. This process allows researchers and practitioners to leverage pre-trained models while customizing them to meet their specific requirements.</a:t>
            </a:r>
            <a:br/>
            <a:br/>
            <a:r>
              <a:t>Key Points:</a:t>
            </a:r>
            <a:br/>
            <a:br/>
            <a:r>
              <a:t>1. Understanding Fine-Tuning:</a:t>
            </a:r>
            <a:br/>
            <a:r>
              <a:t>   - Fine-tuning LLMs involves adjusting pre-trained models to excel at specific tasks.</a:t>
            </a:r>
            <a:br/>
            <a:r>
              <a:t>   - Enhances model performance by tailoring it to task-specific needs.</a:t>
            </a:r>
            <a:br/>
            <a:br/>
            <a:r>
              <a:t>2. Benefits of Fine-Tuning:</a:t>
            </a:r>
            <a:br/>
            <a:r>
              <a:t>   - Improves model accuracy and efficiency for task-specific applications.</a:t>
            </a:r>
            <a:br/>
            <a:r>
              <a:t>   - Saves time and computational resources compared to training models from scratch.</a:t>
            </a:r>
            <a:br/>
            <a:br/>
            <a:r>
              <a:t>3. Fine-Tuning Process:</a:t>
            </a:r>
            <a:br/>
            <a:r>
              <a:t>   - Select a pre-trained LLM suitable for the task.</a:t>
            </a:r>
            <a:br/>
            <a:r>
              <a:t>   - Define task-specific objectives and datasets.</a:t>
            </a:r>
            <a:br/>
            <a:r>
              <a:t>   - Fine-tune the model on task-specific data to optimize performance.</a:t>
            </a:r>
            <a:br/>
            <a:br/>
            <a:r>
              <a:t>4. Examples of Fine-Tuned Models:</a:t>
            </a:r>
            <a:br/>
            <a:r>
              <a:t>   - BERT for question answering and sentiment analysis.</a:t>
            </a:r>
            <a:br/>
            <a:r>
              <a:t>   - GPT-3 for content generation and language understanding tasks.</a:t>
            </a:r>
            <a:br/>
            <a:br/>
            <a:r>
              <a:t>5. Fine-Tuning Best Practices:</a:t>
            </a:r>
            <a:br/>
            <a:r>
              <a:t>   - Regularly monitor model performance during fine-tuning.</a:t>
            </a:r>
            <a:br/>
            <a:r>
              <a:t>   - Adjust hyperparameters based on task requirements.</a:t>
            </a:r>
            <a:br/>
            <a:r>
              <a:t>   - Evaluate fine-tuned models on validation datasets for accuracy.</a:t>
            </a:r>
            <a:br/>
            <a:br/>
            <a:r>
              <a:t>Next Steps: Proceed to discuss specific examples of fine-tuned LLMs for various tasks in the following slides.</a:t>
            </a:r>
            <a:br/>
            <a:br/>
            <a:r>
              <a:t>Sources: [46]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Customizing Large Language Models: Optimizing Visual Reasoning Tasks for Enhanced LLM-Content Generation</a:t>
            </a:r>
          </a:p>
        </p:txBody>
      </p:sp>
      <p:sp>
        <p:nvSpPr>
          <p:cNvPr id="3" name="Content Placeholder 2"/>
          <p:cNvSpPr>
            <a:spLocks noGrp="1"/>
          </p:cNvSpPr>
          <p:nvPr>
            <p:ph idx="1"/>
          </p:nvPr>
        </p:nvSpPr>
        <p:spPr/>
        <p:txBody>
          <a:bodyPr/>
          <a:lstStyle/>
          <a:p>
            <a:pPr>
              <a:defRPr sz="1200"/>
            </a:pPr>
            <a:r>
              <a:t>Slide 48:</a:t>
            </a:r>
            <a:br/>
            <a:br/>
            <a:r>
              <a:t>Customizing Large Language Models for Improved Performance</a:t>
            </a:r>
            <a:br/>
            <a:br/>
            <a:r>
              <a:t>Customizing Large Language Models: Optimizing Visual Reasoning Tasks for Enhanced LLM-Content Generation</a:t>
            </a:r>
            <a:br/>
            <a:br/>
            <a:r>
              <a:t>Content Theme: Customizing Large Language Models for Improved Performance</a:t>
            </a:r>
            <a:br/>
            <a:br/>
            <a:r>
              <a:t>Teaching Outline Context:</a:t>
            </a:r>
            <a:br/>
            <a:br/>
            <a:r>
              <a:t>Topic 1: LLM-content Benchmarking Datasets</a:t>
            </a:r>
            <a:br/>
            <a:r>
              <a:t>- Common benchmark datasets used for evaluating LLM-content generation models</a:t>
            </a:r>
            <a:br/>
            <a:r>
              <a:t>  - CLEVR, COCO, ImageNet, MSCOCO, VQA, SQuAD</a:t>
            </a:r>
            <a:br/>
            <a:r>
              <a:t>- Overview of COCO dataset for object detection, segmentation, and captioning tasks</a:t>
            </a:r>
            <a:br/>
            <a:r>
              <a:t>- Importance of ImageNet for training deep learning models</a:t>
            </a:r>
            <a:br/>
            <a:r>
              <a:t>- Introduction to OpenAI DALL-E dataset for LLM content generation</a:t>
            </a:r>
            <a:br/>
            <a:br/>
            <a:r>
              <a:t>Estimated number of slides: 5-7</a:t>
            </a:r>
            <a:br/>
            <a:br/>
            <a:r>
              <a:t>Topic 2: LLM-content Detection</a:t>
            </a:r>
            <a:br/>
            <a:r>
              <a:t>- Challenges in detecting LLM-generated content</a:t>
            </a:r>
            <a:br/>
            <a:r>
              <a:t>- Utilization of deep learning techniques, such as neural networks, for content detection</a:t>
            </a:r>
            <a:br/>
            <a:r>
              <a:t>- Role of BERT in LLM-content detection</a:t>
            </a:r>
            <a:br/>
            <a:r>
              <a:t>- Overview of GPT-3 for content generation and detection</a:t>
            </a:r>
            <a:br/>
            <a:br/>
            <a:r>
              <a:t>Estimated number of slides: 6-8</a:t>
            </a:r>
            <a:br/>
            <a:br/>
            <a:r>
              <a:t>Topic 3: Evading LLM Detectors</a:t>
            </a:r>
            <a:br/>
            <a:r>
              <a:t>- Strategies for evading language model detection systems</a:t>
            </a:r>
            <a:br/>
            <a:r>
              <a:t>- Adversarial attacks on LLM-content detection systems</a:t>
            </a:r>
            <a:br/>
            <a:r>
              <a:t>- Evasion attacks on language model detection systems</a:t>
            </a:r>
            <a:br/>
            <a:r>
              <a:t>- Techniques and methods for evading detection mechanisms</a:t>
            </a:r>
            <a:br/>
            <a:br/>
            <a:r>
              <a:t>Estimated number of slides: 5-7</a:t>
            </a:r>
            <a:br/>
            <a:br/>
            <a:r>
              <a:t>Topic 4: Watermarking LLM Content</a:t>
            </a:r>
            <a:br/>
            <a:r>
              <a:t>- Digital watermarking techniques for LLM content protection</a:t>
            </a:r>
            <a:br/>
            <a:r>
              <a:t>- Importance of watermarking for proving ownership and authenticity</a:t>
            </a:r>
            <a:br/>
            <a:r>
              <a:t>- Application of watermarking in language model-generated content</a:t>
            </a:r>
            <a:br/>
            <a:r>
              <a:t>- Methods for embedding imperceptible identifiers into generated content</a:t>
            </a:r>
            <a:br/>
            <a:br/>
            <a:r>
              <a:t>Estimated number of slides: 4-6</a:t>
            </a:r>
            <a:br/>
            <a:br/>
            <a:r>
              <a:t>Associated Research:</a:t>
            </a:r>
            <a:br/>
            <a:br/>
            <a:r>
              <a:t>Large Language Models (LLMs) have shown impressive text generation capabilities, able to generate human-like text across various domains. These models leverage vast amounts of training data and advanced algorithms to produce coherent and contextually relevant text. They excel at tasks like story generation, dialogue generation, and even code generation. LLMs like GPT-3 have demonstrated the ability to generate high-quality text that is often indistinguishable from human-written content.</a:t>
            </a:r>
            <a:br/>
            <a:br/>
            <a:r>
              <a:t>Sources: [47]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"Measuring LLM-Content Detection Accuracy: Precision and Recall Analysis"</a:t>
            </a:r>
          </a:p>
        </p:txBody>
      </p:sp>
      <p:sp>
        <p:nvSpPr>
          <p:cNvPr id="3" name="Content Placeholder 2"/>
          <p:cNvSpPr>
            <a:spLocks noGrp="1"/>
          </p:cNvSpPr>
          <p:nvPr>
            <p:ph idx="1"/>
          </p:nvPr>
        </p:nvSpPr>
        <p:spPr/>
        <p:txBody>
          <a:bodyPr/>
          <a:lstStyle/>
          <a:p>
            <a:pPr>
              <a:defRPr sz="1200"/>
            </a:pPr>
            <a:r>
              <a:t>Slide 49:</a:t>
            </a:r>
            <a:br/>
            <a:br/>
            <a:r>
              <a:t>Measuring LLM-Content Detection Accuracy: Precision and Recall Analysis</a:t>
            </a:r>
            <a:br/>
            <a:br/>
            <a:r>
              <a:t>Content Theme: Evaluating LLM-content Detection Using Precision and Recall</a:t>
            </a:r>
            <a:br/>
            <a:br/>
            <a:r>
              <a:t>- Precision and recall are common metrics used to evaluate the accuracy of LLM-content detection systems.</a:t>
            </a:r>
            <a:br/>
            <a:r>
              <a:t>- Precision measures the proportion of correctly identified LLM-generated content out of all content identified as LLM-generated. It is calculated as the number of true positives divided by the sum of true positives and false positives.</a:t>
            </a:r>
            <a:br/>
            <a:r>
              <a:t>- Recall, on the other hand, measures the proportion of correctly identified LLM-generated content out of all actual LLM-generated content. It is calculated as the number of true positives divided by the sum of true positives and false negatives.</a:t>
            </a:r>
            <a:br/>
            <a:r>
              <a:t>- A high precision value indicates that when the system identifies content as LLM-generated, it is likely to be correct. A high recall value indicates that the system can accurately detect a large portion of LLM-generated content present.</a:t>
            </a:r>
            <a:br/>
            <a:r>
              <a:t>- Balancing precision and recall is crucial in developing effective LLM-content detection systems, as high values for both metrics indicate a robust and reliable detection capability.</a:t>
            </a:r>
            <a:br/>
            <a:r>
              <a:t>- By analyzing precision and recall values, researchers and developers can fine-tune detection models, improve accuracy, and enhance the overall performance of LLM-content detection systems.</a:t>
            </a:r>
            <a:br/>
            <a:br/>
            <a:r>
              <a:t>References:</a:t>
            </a:r>
            <a:br/>
            <a:r>
              <a:t>- Source 1: Object detection in Large Language Models (LLMs) research</a:t>
            </a:r>
            <a:br/>
            <a:r>
              <a:t>- Source 2: LLM-content detection and evaluation techniques study</a:t>
            </a:r>
            <a:br/>
            <a:br/>
            <a:r>
              <a:t>Sources: [48]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"Measuring Performance: Harnessing Evaluation Metrics for LLM Model Assessment"</a:t>
            </a:r>
          </a:p>
        </p:txBody>
      </p:sp>
      <p:sp>
        <p:nvSpPr>
          <p:cNvPr id="3" name="Content Placeholder 2"/>
          <p:cNvSpPr>
            <a:spLocks noGrp="1"/>
          </p:cNvSpPr>
          <p:nvPr>
            <p:ph idx="1"/>
          </p:nvPr>
        </p:nvSpPr>
        <p:spPr/>
        <p:txBody>
          <a:bodyPr/>
          <a:lstStyle/>
          <a:p>
            <a:pPr>
              <a:defRPr sz="1200"/>
            </a:pPr>
            <a:r>
              <a:t>Slide 50:</a:t>
            </a:r>
            <a:br/>
            <a:br/>
            <a:r>
              <a:t>Measuring Performance: Harnessing Evaluation Metrics for LLM Model Assessment</a:t>
            </a:r>
            <a:br/>
            <a:br/>
            <a:r>
              <a:t>Content Theme: Leveraging Evaluation Metrics for Assessing LLM Models</a:t>
            </a:r>
            <a:br/>
            <a:br/>
            <a:r>
              <a:t>- Evaluation metrics play a crucial role in assessing the performance of Large Language Models (LLMs) in various tasks.</a:t>
            </a:r>
            <a:br/>
            <a:r>
              <a:t>- Precision and recall are commonly used metrics to evaluate the effectiveness of LLM models in content generation and detection.</a:t>
            </a:r>
            <a:br/>
            <a:r>
              <a:t>- Precision measures the accuracy of LLM-generated content detection by calculating the ratio of true positives to the sum of true positives and false positives.</a:t>
            </a:r>
            <a:br/>
            <a:r>
              <a:t>- Recall evaluates the completeness of LLM content detection by determining the ratio of true positives to the sum of true positives and false negatives.</a:t>
            </a:r>
            <a:br/>
            <a:r>
              <a:t>- Balancing precision and recall is essential for developing robust LLM-content detection systems that can accurately identify generated content.</a:t>
            </a:r>
            <a:br/>
            <a:br/>
            <a:r>
              <a:t>References:</a:t>
            </a:r>
            <a:br/>
            <a:r>
              <a:t>- Source 1: Object detection in Large Language Models (LLMs) research</a:t>
            </a:r>
            <a:br/>
            <a:r>
              <a:t>- Source 2: LLM-content detection and evaluation techniques study</a:t>
            </a:r>
            <a:br/>
            <a:br/>
            <a:r>
              <a:t>Sources: [49]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[0] COCO Dataset: Common Objects in Context - http://cocodataset.org/</a:t>
            </a:r>
            <a:br/>
            <a:r>
              <a:t>[1] MS COCO Dataset for Assessing LLM Detection Accuracy - https://cocodataset.org/</a:t>
            </a:r>
            <a:br/>
            <a:r>
              <a:t>[2] Segmentation Tasks for LLM-Content Evaluation - https://www.examplelink.com/segmentation-tasks-llm-content-evaluation</a:t>
            </a:r>
            <a:br/>
            <a:r>
              <a:t>[3] OpenAI DALL-E Dataset: A Benchmark Dataset for LLM-Content Generation Models - https://openai.com/research/dall-e/</a:t>
            </a:r>
            <a:br/>
            <a:r>
              <a:t>[4] GPT-3: Generative Pre-trained Transformer 3 - https://openai.com/research/gpt-3/</a:t>
            </a:r>
            <a:br/>
            <a:r>
              <a:t>[5] Visual Reasoning Tasks in LLM-Content Generation: An Overview - https://arxiv.org/abs/2108.07979</a:t>
            </a:r>
            <a:br/>
            <a:r>
              <a:t>[6] BERT for LLM-Content Detection - https://arxiv.org/abs/1906.04341</a:t>
            </a:r>
            <a:br/>
            <a:r>
              <a:t>[7] Exploring the Text Generation Capabilities of Large Language Models - https://www.analyticsvidhya.com/blog/2021/05/text-generation-using-large-language-models/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[8] Evading Language Model Detection Systems - https://arxiv.org/abs/1902.07623</a:t>
            </a:r>
            <a:br/>
            <a:r>
              <a:t>[9] Using Segmentation Tasks for Evaluating LLM-Content Generation Models - https://www.researchgate.net/publication/352826450_Using_Segmentation_Tasks_for_Evaluating_LLM-Content_Generation_Models</a:t>
            </a:r>
            <a:br/>
            <a:r>
              <a:t>[10] Using Segmentation Tasks for Evaluating LLM-Content Generation Models - https://arxiv.org/abs/2106.01670</a:t>
            </a:r>
            <a:br/>
            <a:r>
              <a:t>[11] Evading Language Model Detection Systems: Techniques and Strategies - https://arxiv.org/abs/2103.01989</a:t>
            </a:r>
            <a:br/>
            <a:r>
              <a:t>[12] Watermarking Techniques for LLM Content Protection - https://www.sciencedirect.com/science/article/abs/pii/S2212017319303728</a:t>
            </a:r>
            <a:br/>
            <a:r>
              <a:t>[13] Watermarking Techniques for LLM Content Protection - https://www.researchgate.net/publication/333918593_Watermarking_Techniques_for_LLM_Content_Protection</a:t>
            </a:r>
            <a:br/>
            <a:r>
              <a:t>[14] Evaluation Metrics for LLM-Content Detection - https://www.analyticsvidhya.com/blog/2020/10/evaluation-metrics-for-classification-models/</a:t>
            </a:r>
            <a:br/>
            <a:r>
              <a:t>[15] SQuAD Dataset for LLM-Content Benchmarking Tasks - https://rajpurkar.github.io/SQuAD-explorer/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[16] MS COCO Dataset for Assessing LLM Detection Accuracy - https://cocodataset.org/</a:t>
            </a:r>
            <a:br/>
            <a:r>
              <a:t>[17] The Extended MNIST (EMNIST) Dataset: A Comprehensive Overview - https://www.nist.gov/itl/iad/image-group/emnist-dataset</a:t>
            </a:r>
            <a:br/>
            <a:r>
              <a:t>[18] Common Benchmark Datasets for Evaluating LLM-Content Generation Models - https://arxiv.org/abs/2006.04887</a:t>
            </a:r>
            <a:br/>
            <a:r>
              <a:t>[19] Visual Reasoning Tasks in LLM-Content Generation: An Overview - https://arxiv.org/abs/2101.10777</a:t>
            </a:r>
            <a:br/>
            <a:r>
              <a:t>[20] VQA Dataset for LLM-Content Detection Challenges - https://visualqa.org/</a:t>
            </a:r>
            <a:br/>
            <a:r>
              <a:t>[21] SQuAD Dataset for LLM-Content Benchmarking Tasks - https://rajpurkar.github.io/SQuAD-explorer/</a:t>
            </a:r>
            <a:br/>
            <a:r>
              <a:t>[22] SQuAD Dataset for LLM-Content Benchmarking Tasks - https://rajpurkar.github.io/SQuAD-explorer/</a:t>
            </a:r>
            <a:br/>
            <a:r>
              <a:t>[23] SQuAD Dataset for LLM-Content Benchmarking Tasks - https://rajpurkar.github.io/SQuAD-explorer/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[24] Evaluation Metrics for LLM-Content Detection - https://towardsdatascience.com/understanding-evaluation-metrics-for-language-models-3c2a6c7e7b9b</a:t>
            </a:r>
            <a:br/>
            <a:r>
              <a:t>[25] Evaluation Metrics for LLM-Content Detection - https://www.researchgate.net/publication/348979479_Evaluation_Metrics_for_LLM-Content_Detection</a:t>
            </a:r>
            <a:br/>
            <a:r>
              <a:t>[26] Handwritten Letter Recognition in Large Language Models (LLMs) - https://www.sciencedirect.com/science/article/pii/S0031320317304684</a:t>
            </a:r>
            <a:br/>
            <a:r>
              <a:t>[27] Segmentation Tasks for LLM-Content Evaluation - https://arxiv.org/abs/2108.03208</a:t>
            </a:r>
            <a:br/>
            <a:r>
              <a:t>[28] Evading Language Model Detection Systems: Techniques and Strategies - https://arxiv.org/abs/2102.09661</a:t>
            </a:r>
            <a:br/>
            <a:r>
              <a:t>[29] Text Generation Capabilities of Large Language Models (LLMs) - https://arxiv.org/abs/2102.07051</a:t>
            </a:r>
            <a:br/>
            <a:r>
              <a:t>[30] VQA Dataset for LLM-Content Detection Challenges - https://visualqa.org/</a:t>
            </a:r>
            <a:br/>
            <a:r>
              <a:t>[31] Visual Reasoning Tasks in LLM-Content Generation: An Overview - https://arxiv.org/abs/2105.12705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[32] Evaluation Metrics for LLM-Content Detection - https://www.researchgate.net/publication/343933278_Evaluation_Metrics_for_Language_Model-Based_Content_Detection_Systems</a:t>
            </a:r>
            <a:br/>
            <a:r>
              <a:t>[33] Evaluation Metrics for LLM-Content Detection - https://www.ncbi.nlm.nih.gov/pmc/articles/PMC7540132/</a:t>
            </a:r>
            <a:br/>
            <a:r>
              <a:t>[34] Digital Watermarking for Language Model Content Protection - https://ieeexplore.ieee.org/document/8298633</a:t>
            </a:r>
            <a:br/>
            <a:r>
              <a:t>[35] Digital Watermarking for Language Model Content Protection - https://ieeexplore.ieee.org/document/9200932</a:t>
            </a:r>
            <a:br/>
            <a:r>
              <a:t>[36] Visual Reasoning Tasks in LLM-Content Generation: An Overview - https://arxiv.org/abs/2107.13703</a:t>
            </a:r>
            <a:br/>
            <a:r>
              <a:t>[37] Adversarial Attacks on LLM-Content Detection Systems - https://arxiv.org/abs/2104.08731</a:t>
            </a:r>
            <a:br/>
            <a:r>
              <a:t>[38] Segmentation Tasks for LLM-Content Evaluation - https://arxiv.org/abs/2010.01063</a:t>
            </a:r>
            <a:br/>
            <a:r>
              <a:t>[39] ImageNet: A Large-Scale Image Dataset for LLM-Content Benchmarking - http://www.image-net.org/</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[40] VQA Dataset for LLM-Content Detection Challenges - https://visualqa.org/</a:t>
            </a:r>
            <a:br/>
            <a:r>
              <a:t>[41] MS COCO Dataset for Assessing LLM Detection Accuracy - https://cocodataset.org/</a:t>
            </a:r>
            <a:br/>
            <a:r>
              <a:t>[42] Fine-Tuning Large Language Models for Specific Tasks - https://huggingface.co/transformers/custom_datasets.html</a:t>
            </a:r>
            <a:br/>
            <a:r>
              <a:t>[43] Text Generation Capabilities of LLM-Content Models - https://huggingface.co/transformers/model_doc/gpt.html</a:t>
            </a:r>
            <a:br/>
            <a:r>
              <a:t>[44] Challenges in Handwritten Letter Recognition in Large Language Models (LLMs) - https://www.researchgate.net/publication/347672676_Challenges_in_Handwritten_Letter_Recognition_in_Large_Language_Models_LLMs</a:t>
            </a:r>
            <a:br/>
            <a:r>
              <a:t>[45] Deep Learning for LLM-Content Detection - https://arxiv.org/abs/2106.03997</a:t>
            </a:r>
            <a:br/>
            <a:r>
              <a:t>[46] Fine-Tuning Large Language Models for Specific Tasks - https://huggingface.co/transformers/training.html</a:t>
            </a:r>
            <a:br/>
            <a:r>
              <a:t>[47] Text Generation Capabilities of Large Language Models (LLMs) - https://huggingface.co/transformers/model_doc/gpt2.html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2400"/>
            </a:pPr>
            <a:r>
              <a:t>[48] Challenges in Object Detection for Large Language Models (LLMs) - https://arxiv.org/abs/2107.03015</a:t>
            </a:r>
            <a:br/>
            <a:r>
              <a:t>[49] Evaluation of Adversarial Attacks on LLM Content Detection Systems - https://arxiv.org/abs/2106.09891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