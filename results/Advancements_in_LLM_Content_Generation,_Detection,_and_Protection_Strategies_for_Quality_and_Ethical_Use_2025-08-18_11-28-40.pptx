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Advancements in LLM Content Generation, Detection, and Protection: Strategies for Quality and Ethical Use</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"LLM Essentials: GLUE Benchmark &amp; Attention Mechanisms"</a:t>
            </a:r>
          </a:p>
        </p:txBody>
      </p:sp>
      <p:sp>
        <p:nvSpPr>
          <p:cNvPr id="3" name="Content Placeholder 2"/>
          <p:cNvSpPr>
            <a:spLocks noGrp="1"/>
          </p:cNvSpPr>
          <p:nvPr>
            <p:ph idx="1"/>
          </p:nvPr>
        </p:nvSpPr>
        <p:spPr/>
        <p:txBody>
          <a:bodyPr/>
          <a:lstStyle/>
          <a:p>
            <a:pPr>
              <a:defRPr sz="1200"/>
            </a:pPr>
            <a:r>
              <a:t>Slide 1: Introduction to Large Language Models (LLMs) and GLUE Benchmark "LLM Essentials: GLUE Benchmark &amp; Attention Mechanisms" Content Theme: Key Concepts and Definitions: - Large Language Models (LLMs): Advanced AI models revolutionizing natural language understanding tasks. These models utilize massive amounts of data for training and excel in various language-related tasks...</a:t>
            </a:r>
            <a:br/>
            <a:br/>
            <a:r>
              <a:t>Sources: [0]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Capabilities of LLMs: Applications and Advantages</a:t>
            </a:r>
          </a:p>
        </p:txBody>
      </p:sp>
      <p:sp>
        <p:nvSpPr>
          <p:cNvPr id="3" name="Content Placeholder 2"/>
          <p:cNvSpPr>
            <a:spLocks noGrp="1"/>
          </p:cNvSpPr>
          <p:nvPr>
            <p:ph idx="1"/>
          </p:nvPr>
        </p:nvSpPr>
        <p:spPr/>
        <p:txBody>
          <a:bodyPr/>
          <a:lstStyle/>
          <a:p>
            <a:pPr>
              <a:defRPr sz="2400"/>
            </a:pPr>
            <a:r>
              <a:t>Slide 2: Capabilities of LLMs: Applications and Advantages Key Concepts and Definitions: Large Language Models (LLMs) possess advanced capabilities in natural language understanding tasks by leveraging extensive training data. Fine-tuning LLMs involves adjusting pre-trained models to perform specific content generation tasks with improved accuracy and efficiency...</a:t>
            </a:r>
            <a:br/>
            <a:br/>
            <a:r>
              <a:t>Sources: [1]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Natural Language Tasks with LLMs</a:t>
            </a:r>
          </a:p>
        </p:txBody>
      </p:sp>
      <p:sp>
        <p:nvSpPr>
          <p:cNvPr id="3" name="Content Placeholder 2"/>
          <p:cNvSpPr>
            <a:spLocks noGrp="1"/>
          </p:cNvSpPr>
          <p:nvPr>
            <p:ph idx="1"/>
          </p:nvPr>
        </p:nvSpPr>
        <p:spPr/>
        <p:txBody>
          <a:bodyPr/>
          <a:lstStyle/>
          <a:p>
            <a:pPr>
              <a:defRPr sz="2400"/>
            </a:pPr>
            <a:r>
              <a:t>Slide 3: Impact of LLMs on Natural Language Understanding Tasks Enhancing Natural Language Tasks with LLMs Content Theme: Key Concepts and Definitions: - Impact of LLMs on Natural Language Understanding Tasks: LLMs significantly enhance the performance and accuracy of natural language understanding tasks by leveraging advanced language models...</a:t>
            </a:r>
            <a:br/>
            <a:br/>
            <a:r>
              <a:t>Sources: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"Coherence Analysis in LLM-Generated Text"</a:t>
            </a:r>
          </a:p>
        </p:txBody>
      </p:sp>
      <p:sp>
        <p:nvSpPr>
          <p:cNvPr id="3" name="Content Placeholder 2"/>
          <p:cNvSpPr>
            <a:spLocks noGrp="1"/>
          </p:cNvSpPr>
          <p:nvPr>
            <p:ph idx="1"/>
          </p:nvPr>
        </p:nvSpPr>
        <p:spPr/>
        <p:txBody>
          <a:bodyPr/>
          <a:lstStyle/>
          <a:p>
            <a:pPr>
              <a:defRPr sz="2400"/>
            </a:pPr>
            <a:r>
              <a:t>Slide 4: Analysis of WikiText-103 Dataset for Language Modeling "Coherence Analysis in LLM-Generated Text" Content Theme: Key Concepts and Definitions: - Analyzing coherence in LLM-generated text involves evaluating the logical flow and connectivity of ideas within the generated content...</a:t>
            </a:r>
            <a:br/>
            <a:br/>
            <a:r>
              <a:t>Sources: [3]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Role of Diverse Datasets in LLM Benchmarking</a:t>
            </a:r>
          </a:p>
        </p:txBody>
      </p:sp>
      <p:sp>
        <p:nvSpPr>
          <p:cNvPr id="3" name="Content Placeholder 2"/>
          <p:cNvSpPr>
            <a:spLocks noGrp="1"/>
          </p:cNvSpPr>
          <p:nvPr>
            <p:ph idx="1"/>
          </p:nvPr>
        </p:nvSpPr>
        <p:spPr/>
        <p:txBody>
          <a:bodyPr/>
          <a:lstStyle/>
          <a:p>
            <a:pPr>
              <a:defRPr sz="2400"/>
            </a:pPr>
            <a:r>
              <a:t>Slide 5: Role of Diverse Datasets in LLM Benchmarking Content Theme: Key Concepts and Definitions: - Diverse datasets like Pile play a crucial role in benchmarking LLMs, providing varied examples for evaluation. Real-World Examples and Applications: - CC-News dataset: Used to benchmark language models like GPT-3 in generating news-related content...</a:t>
            </a:r>
            <a:br/>
            <a:br/>
            <a:r>
              <a:t>Sources: [4]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"Pre-Training Data Impact on LLM Quality"</a:t>
            </a:r>
          </a:p>
        </p:txBody>
      </p:sp>
      <p:sp>
        <p:nvSpPr>
          <p:cNvPr id="3" name="Content Placeholder 2"/>
          <p:cNvSpPr>
            <a:spLocks noGrp="1"/>
          </p:cNvSpPr>
          <p:nvPr>
            <p:ph idx="1"/>
          </p:nvPr>
        </p:nvSpPr>
        <p:spPr/>
        <p:txBody>
          <a:bodyPr/>
          <a:lstStyle/>
          <a:p>
            <a:pPr>
              <a:defRPr sz="2400"/>
            </a:pPr>
            <a:r>
              <a:t>Slide 6: Influence of Pre-Training Data on LLM Content Quality "Pre-Training Data Impact on LLM Quality" Content Theme: Key Concepts and Definitions: - Influence of Pre-Training Data: The quality and performance of Large Language Models (LLMs) are significantly impacted by the pre-training data used to train the models...</a:t>
            </a:r>
            <a:br/>
            <a:br/>
            <a:r>
              <a:t>Sources: [5]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LLM Content with Attention Mechanisms</a:t>
            </a:r>
          </a:p>
        </p:txBody>
      </p:sp>
      <p:sp>
        <p:nvSpPr>
          <p:cNvPr id="3" name="Content Placeholder 2"/>
          <p:cNvSpPr>
            <a:spLocks noGrp="1"/>
          </p:cNvSpPr>
          <p:nvPr>
            <p:ph idx="1"/>
          </p:nvPr>
        </p:nvSpPr>
        <p:spPr/>
        <p:txBody>
          <a:bodyPr/>
          <a:lstStyle/>
          <a:p>
            <a:pPr>
              <a:defRPr sz="2400"/>
            </a:pPr>
            <a:r>
              <a:t>Slide 7: Explanation of Attention Mechanisms in LLM Content Generation Enhancing LLM Content with Attention Mechanisms Content Theme: Key Concepts and Definitions: - Attention Mechanisms in LLMs: Components that allow the model to focus on specific parts of the input text, enhancing coherence and relevance in generated content...</a:t>
            </a:r>
            <a:br/>
            <a:br/>
            <a:r>
              <a:t>Sources: [6]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"Optimizing Attention Mechanisms in LLM Content Generation"</a:t>
            </a:r>
          </a:p>
        </p:txBody>
      </p:sp>
      <p:sp>
        <p:nvSpPr>
          <p:cNvPr id="3" name="Content Placeholder 2"/>
          <p:cNvSpPr>
            <a:spLocks noGrp="1"/>
          </p:cNvSpPr>
          <p:nvPr>
            <p:ph idx="1"/>
          </p:nvPr>
        </p:nvSpPr>
        <p:spPr/>
        <p:txBody>
          <a:bodyPr/>
          <a:lstStyle/>
          <a:p>
            <a:pPr>
              <a:defRPr sz="1200"/>
            </a:pPr>
            <a:r>
              <a:t>Slide 8: Content Theme: Key Concepts and Definitions: - Attention Mechanisms: Components in Large Language Models (LLMs) that enable the model to focus on specific parts of the input text, enhancing coherence and relevance in generated content. Real-World Examples and Applications: - Investigating the role of attention mechanisms in LLM content generation to optimize performance and quality...</a:t>
            </a:r>
            <a:br/>
            <a:br/>
            <a:r>
              <a:t>Sources: [7]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"Analyzing Coherence &amp; Semantic Similarity in LLM Text"</a:t>
            </a:r>
          </a:p>
        </p:txBody>
      </p:sp>
      <p:sp>
        <p:nvSpPr>
          <p:cNvPr id="3" name="Content Placeholder 2"/>
          <p:cNvSpPr>
            <a:spLocks noGrp="1"/>
          </p:cNvSpPr>
          <p:nvPr>
            <p:ph idx="1"/>
          </p:nvPr>
        </p:nvSpPr>
        <p:spPr/>
        <p:txBody>
          <a:bodyPr/>
          <a:lstStyle/>
          <a:p>
            <a:pPr>
              <a:defRPr sz="2400"/>
            </a:pPr>
            <a:r>
              <a:t>Slide 9: Techniques for Coherence and Semantic Similarity Evaluation Analyzing Coherence &amp; Semantic Similarity in LLM Text Content Theme: Key Concepts and Definitions: - Techniques for Coherence and Semantic Similarity Evaluation involve assessing the logical flow and connectivity of ideas in LLM-generated text...</a:t>
            </a:r>
            <a:br/>
            <a:br/>
            <a:r>
              <a:t>Sources: [8]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Assessing Coherence &amp; Semantic Similarity in LLM Text</a:t>
            </a:r>
          </a:p>
        </p:txBody>
      </p:sp>
      <p:sp>
        <p:nvSpPr>
          <p:cNvPr id="3" name="Content Placeholder 2"/>
          <p:cNvSpPr>
            <a:spLocks noGrp="1"/>
          </p:cNvSpPr>
          <p:nvPr>
            <p:ph idx="1"/>
          </p:nvPr>
        </p:nvSpPr>
        <p:spPr/>
        <p:txBody>
          <a:bodyPr/>
          <a:lstStyle/>
          <a:p>
            <a:pPr>
              <a:defRPr sz="1200"/>
            </a:pPr>
            <a:r>
              <a:t>Slide 10: Metrics for Assessing Coherence and Semantic Similarity Assessing Coherence &amp; Semantic Similarity in LLM Text Content Theme: Key Concepts and Definitions: - Metrics for assessing coherence in LLM-generated text involve evaluating the logical flow and connectivity of ideas within the content. - Semantic similarity metrics measure the degree of similarity between different pieces of text generated by LLMs...</a:t>
            </a:r>
            <a:br/>
            <a:br/>
            <a:r>
              <a:t>Sources: [9]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Coherence in LLM Text"</a:t>
            </a:r>
          </a:p>
        </p:txBody>
      </p:sp>
      <p:sp>
        <p:nvSpPr>
          <p:cNvPr id="3" name="Content Placeholder 2"/>
          <p:cNvSpPr>
            <a:spLocks noGrp="1"/>
          </p:cNvSpPr>
          <p:nvPr>
            <p:ph idx="1"/>
          </p:nvPr>
        </p:nvSpPr>
        <p:spPr/>
        <p:txBody>
          <a:bodyPr/>
          <a:lstStyle/>
          <a:p>
            <a:pPr>
              <a:defRPr sz="1200"/>
            </a:pPr>
            <a:r>
              <a:t>Slide 11: Importance of Logical Flow in Generated Text Enhancing Coherence in LLM Text Content Theme: Key Concepts and Definitions: - Logical flow in LLM-generated text refers to the coherence and connectivity of ideas within the content. Real-World Examples and Applications: - Researchers use coherence scoring, modeling, and analysis techniques to evaluate the quality of LLM-generated content...</a:t>
            </a:r>
            <a:br/>
            <a:br/>
            <a:r>
              <a:t>Sources: [10]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"Fostering Creativity in LLM Content Generation Techniques"</a:t>
            </a:r>
          </a:p>
        </p:txBody>
      </p:sp>
      <p:sp>
        <p:nvSpPr>
          <p:cNvPr id="3" name="Content Placeholder 2"/>
          <p:cNvSpPr>
            <a:spLocks noGrp="1"/>
          </p:cNvSpPr>
          <p:nvPr>
            <p:ph idx="1"/>
          </p:nvPr>
        </p:nvSpPr>
        <p:spPr/>
        <p:txBody>
          <a:bodyPr/>
          <a:lstStyle/>
          <a:p>
            <a:pPr>
              <a:defRPr sz="1200"/>
            </a:pPr>
            <a:r>
              <a:t>Slide 12: Techniques for Fostering Creativity in LLM-Generated Content "Fostering Creativity in LLM Content Generation Techniques" Content Theme: Key Concepts and Definitions: - Techniques for fostering creativity in LLM-generated content involve exploring methods to encourage innovative and imaginative text generation. Real-World Examples and Applications: - Fine-tuning language models with diverse datasets to stimulate creative thinking...</a:t>
            </a:r>
            <a:br/>
            <a:br/>
            <a:r>
              <a:t>Sources: [11]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Challenges in Cross-Lingual Content Generation</a:t>
            </a:r>
          </a:p>
        </p:txBody>
      </p:sp>
      <p:sp>
        <p:nvSpPr>
          <p:cNvPr id="3" name="Content Placeholder 2"/>
          <p:cNvSpPr>
            <a:spLocks noGrp="1"/>
          </p:cNvSpPr>
          <p:nvPr>
            <p:ph idx="1"/>
          </p:nvPr>
        </p:nvSpPr>
        <p:spPr/>
        <p:txBody>
          <a:bodyPr/>
          <a:lstStyle/>
          <a:p>
            <a:pPr>
              <a:defRPr sz="1200"/>
            </a:pPr>
            <a:r>
              <a:t>Slide 13: Challenges and Methods for Cross-Lingual Content Generation Challenges in Cross-Lingual Content Generation Content Theme: Key Concepts and Definitions: - Cross-Lingual LLM-Content Generation: Creating text in multiple languages using advanced language models. - Techniques for Cross-Lingual LLM-Content Generation: Training models on multilingual datasets, fine-tuning for specific languages, and leveraging transfer learning...</a:t>
            </a:r>
            <a:br/>
            <a:br/>
            <a:r>
              <a:t>Sources: [12]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Benefits of Multilingual LLM Content Generation</a:t>
            </a:r>
          </a:p>
        </p:txBody>
      </p:sp>
      <p:sp>
        <p:nvSpPr>
          <p:cNvPr id="3" name="Content Placeholder 2"/>
          <p:cNvSpPr>
            <a:spLocks noGrp="1"/>
          </p:cNvSpPr>
          <p:nvPr>
            <p:ph idx="1"/>
          </p:nvPr>
        </p:nvSpPr>
        <p:spPr/>
        <p:txBody>
          <a:bodyPr/>
          <a:lstStyle/>
          <a:p>
            <a:pPr>
              <a:defRPr sz="1200"/>
            </a:pPr>
            <a:r>
              <a:t>Slide 14: Benefits of Multilingual LLM Content Generation Content Theme: Key Concepts and Definitions: - Cross-Lingual LLM-Content Generation: Involves creating text in multiple languages using advanced language models to cater to diverse linguistic needs. Real-World Examples and Applications: - Fine-tuning LLMs for multilingual tasks like medical reports and legal documents to customize content generation for specific domains...</a:t>
            </a:r>
            <a:br/>
            <a:br/>
            <a:r>
              <a:t>Sources: [13]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Ethical Considerations in LLM Content Generation</a:t>
            </a:r>
          </a:p>
        </p:txBody>
      </p:sp>
      <p:sp>
        <p:nvSpPr>
          <p:cNvPr id="3" name="Content Placeholder 2"/>
          <p:cNvSpPr>
            <a:spLocks noGrp="1"/>
          </p:cNvSpPr>
          <p:nvPr>
            <p:ph idx="1"/>
          </p:nvPr>
        </p:nvSpPr>
        <p:spPr/>
        <p:txBody>
          <a:bodyPr/>
          <a:lstStyle/>
          <a:p>
            <a:pPr>
              <a:defRPr sz="2400"/>
            </a:pPr>
            <a:r>
              <a:t>Slide 15: Ethical Considerations in LLM Content Generation Content Theme: Key Concepts and Definitions: - Addressing Ethical Implications: Involves examining the moral considerations and societal impact of LLM-generated content. - Misinformation and Bias: LLMs can inadvertently spread fake news, amplify biases, and perpetuate harmful stereotypes...</a:t>
            </a:r>
            <a:br/>
            <a:br/>
            <a:r>
              <a:t>Sources: [14]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Mitigating Bias in LLM-Generated Text</a:t>
            </a:r>
          </a:p>
        </p:txBody>
      </p:sp>
      <p:sp>
        <p:nvSpPr>
          <p:cNvPr id="3" name="Content Placeholder 2"/>
          <p:cNvSpPr>
            <a:spLocks noGrp="1"/>
          </p:cNvSpPr>
          <p:nvPr>
            <p:ph idx="1"/>
          </p:nvPr>
        </p:nvSpPr>
        <p:spPr/>
        <p:txBody>
          <a:bodyPr/>
          <a:lstStyle/>
          <a:p>
            <a:pPr>
              <a:defRPr sz="2400"/>
            </a:pPr>
            <a:r>
              <a:t>Slide 16: Analyzing Bias and Misinformation in LLM-Generated Text Mitigating Bias in LLM-Generated Text Content Theme: Key Concepts and Definitions: - Analyzing Bias in LLM-Generated Text: Involves examining the presence of biases, stereotypes, and discriminatory content in text generated by Large Language Models (LLMs)...</a:t>
            </a:r>
            <a:br/>
            <a:br/>
            <a:r>
              <a:t>Sources: [15]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Strategies for Fairness in LLM Content</a:t>
            </a:r>
          </a:p>
        </p:txBody>
      </p:sp>
      <p:sp>
        <p:nvSpPr>
          <p:cNvPr id="3" name="Content Placeholder 2"/>
          <p:cNvSpPr>
            <a:spLocks noGrp="1"/>
          </p:cNvSpPr>
          <p:nvPr>
            <p:ph idx="1"/>
          </p:nvPr>
        </p:nvSpPr>
        <p:spPr/>
        <p:txBody>
          <a:bodyPr/>
          <a:lstStyle/>
          <a:p>
            <a:pPr>
              <a:defRPr sz="1200"/>
            </a:pPr>
            <a:r>
              <a:t>Slide 17: Strategies for Fairness in LLM Content Content Theme: Key Concepts and Definitions: - Fairness in LLM Refers to ensuring unbiased and equitable outcomes in content generation by Large Language Models (LLMs). - Strategies for Fairness: Techniques and approaches to mitigate biases and promote fairness in LLM-generated content. - Evading Detection: Methods used to circumvent LLM detectors while maintaining the appearance of authenticity...</a:t>
            </a:r>
            <a:br/>
            <a:br/>
            <a:r>
              <a:t>Sources: [16]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"Assessing Coherence in LLM-Generated Text"</a:t>
            </a:r>
          </a:p>
        </p:txBody>
      </p:sp>
      <p:sp>
        <p:nvSpPr>
          <p:cNvPr id="3" name="Content Placeholder 2"/>
          <p:cNvSpPr>
            <a:spLocks noGrp="1"/>
          </p:cNvSpPr>
          <p:nvPr>
            <p:ph idx="1"/>
          </p:nvPr>
        </p:nvSpPr>
        <p:spPr/>
        <p:txBody>
          <a:bodyPr/>
          <a:lstStyle/>
          <a:p>
            <a:pPr>
              <a:defRPr sz="1200"/>
            </a:pPr>
            <a:r>
              <a:t>Slide 18: Evaluating Coherence in LLM-Generated Text Samples Assessing Coherence in LLM-Generated Text Content Theme: Key Concepts and Definitions: - Evaluating coherence in LLM-generated text involves assessing the logical flow and connectivity of ideas within the generated content. - Metrics such as coherence scoring, coherence modeling, and coherence analysis techniques are used to measure the quality of generated text in terms of coherence...</a:t>
            </a:r>
            <a:br/>
            <a:br/>
            <a:r>
              <a:t>Sources: [17]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Maximizing Attention Mechanisms in LLM Content Generation</a:t>
            </a:r>
          </a:p>
        </p:txBody>
      </p:sp>
      <p:sp>
        <p:nvSpPr>
          <p:cNvPr id="3" name="Content Placeholder 2"/>
          <p:cNvSpPr>
            <a:spLocks noGrp="1"/>
          </p:cNvSpPr>
          <p:nvPr>
            <p:ph idx="1"/>
          </p:nvPr>
        </p:nvSpPr>
        <p:spPr/>
        <p:txBody>
          <a:bodyPr/>
          <a:lstStyle/>
          <a:p>
            <a:pPr>
              <a:defRPr sz="2400"/>
            </a:pPr>
            <a:r>
              <a:t>Slide 19: Experimenting with Attention Mechanisms in LLMs Maximizing Attention Mechanisms in LLM Content Generation Content Theme: Key Concepts and Definitions: - Experimenting with Attention Mechanisms: Investigating the impact of attention mechanisms in Large Language Models (LLMs) on content generation...</a:t>
            </a:r>
            <a:br/>
            <a:br/>
            <a:r>
              <a:t>Sources: [18]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Assessing Semantic Similarity in LLM Content</a:t>
            </a:r>
          </a:p>
        </p:txBody>
      </p:sp>
      <p:sp>
        <p:nvSpPr>
          <p:cNvPr id="3" name="Content Placeholder 2"/>
          <p:cNvSpPr>
            <a:spLocks noGrp="1"/>
          </p:cNvSpPr>
          <p:nvPr>
            <p:ph idx="1"/>
          </p:nvPr>
        </p:nvSpPr>
        <p:spPr/>
        <p:txBody>
          <a:bodyPr/>
          <a:lstStyle/>
          <a:p>
            <a:pPr>
              <a:defRPr sz="2400"/>
            </a:pPr>
            <a:r>
              <a:t>Slide 20: Techniques for Assessing Semantic Similarity in LLM Content Assessing Semantic Similarity in LLM Content Content Theme: Key Concepts and Definitions: - Techniques for Assessing Semantic Similarity in LLM Methods to measure the degree of similarity between different pieces of text generated by Large Language Models (LLMs)...</a:t>
            </a:r>
            <a:br/>
            <a:br/>
            <a:r>
              <a:t>Sources: [19]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Measuring Semantic Similarity in LLM Text</a:t>
            </a:r>
          </a:p>
        </p:txBody>
      </p:sp>
      <p:sp>
        <p:nvSpPr>
          <p:cNvPr id="3" name="Content Placeholder 2"/>
          <p:cNvSpPr>
            <a:spLocks noGrp="1"/>
          </p:cNvSpPr>
          <p:nvPr>
            <p:ph idx="1"/>
          </p:nvPr>
        </p:nvSpPr>
        <p:spPr/>
        <p:txBody>
          <a:bodyPr/>
          <a:lstStyle/>
          <a:p>
            <a:pPr>
              <a:defRPr sz="1200"/>
            </a:pPr>
            <a:r>
              <a:t>Slide 21: Measuring Semantic Similarity in LLM-Generated Text Content Theme: Key Concepts and Definitions: - Measuring Semantic Similarity: Techniques to quantify the degree of similarity between different pieces of text generated by Large Language Models (LLMs). Real-World Examples and Applications: - Assessing Coherence: Evaluating the logical flow and connectivity of ideas in LLM-generated content for improved readability...</a:t>
            </a:r>
            <a:br/>
            <a:br/>
            <a:r>
              <a:t>Sources: [20]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Fostering Creativity in LLM Text Generation</a:t>
            </a:r>
          </a:p>
        </p:txBody>
      </p:sp>
      <p:sp>
        <p:nvSpPr>
          <p:cNvPr id="3" name="Content Placeholder 2"/>
          <p:cNvSpPr>
            <a:spLocks noGrp="1"/>
          </p:cNvSpPr>
          <p:nvPr>
            <p:ph idx="1"/>
          </p:nvPr>
        </p:nvSpPr>
        <p:spPr/>
        <p:txBody>
          <a:bodyPr/>
          <a:lstStyle/>
          <a:p>
            <a:pPr>
              <a:defRPr sz="1200"/>
            </a:pPr>
            <a:r>
              <a:t>Slide 22: Techniques to Enhance Creativity in LLM-Generated Content Fostering Creativity in LLM Text Generation Content Theme: Key Concepts and Definitions: - Techniques for enhancing creativity in LLM-generated content focus on stimulating innovative and imaginative text generation. - Reward mechanisms can be implemented to encourage the production of original content by LLMs...</a:t>
            </a:r>
            <a:br/>
            <a:br/>
            <a:r>
              <a:t>Sources: [21]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Challenges in Cross-Lingual LLM Content Generation</a:t>
            </a:r>
          </a:p>
        </p:txBody>
      </p:sp>
      <p:sp>
        <p:nvSpPr>
          <p:cNvPr id="3" name="Content Placeholder 2"/>
          <p:cNvSpPr>
            <a:spLocks noGrp="1"/>
          </p:cNvSpPr>
          <p:nvPr>
            <p:ph idx="1"/>
          </p:nvPr>
        </p:nvSpPr>
        <p:spPr/>
        <p:txBody>
          <a:bodyPr/>
          <a:lstStyle/>
          <a:p>
            <a:pPr>
              <a:defRPr sz="2400"/>
            </a:pPr>
            <a:r>
              <a:t>Slide 23: Challenges in Cross-Lingual LLM Content Generation Content Theme: Key Concepts and Definitions: - Cross-lingual Large Language Model (LLM) content generation involves producing text in multiple languages using a single language model. - Challenges in cross-lingual LLM content generation include language diversity, cultural nuances, and translation accuracy...</a:t>
            </a:r>
            <a:br/>
            <a:br/>
            <a:r>
              <a:t>Sources: [22]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Strategies for Mitigating Bias in LLM-Generated Content</a:t>
            </a:r>
          </a:p>
        </p:txBody>
      </p:sp>
      <p:sp>
        <p:nvSpPr>
          <p:cNvPr id="3" name="Content Placeholder 2"/>
          <p:cNvSpPr>
            <a:spLocks noGrp="1"/>
          </p:cNvSpPr>
          <p:nvPr>
            <p:ph idx="1"/>
          </p:nvPr>
        </p:nvSpPr>
        <p:spPr/>
        <p:txBody>
          <a:bodyPr/>
          <a:lstStyle/>
          <a:p>
            <a:pPr>
              <a:defRPr sz="1200"/>
            </a:pPr>
            <a:r>
              <a:t>Slide 24: Strategies for Mitigating Bias in LLM-Generated Content Content Theme: Key Concepts and Definitions: - Mitigating bias in Large Language Model (LLM)-generated content involves addressing ethical implications, analyzing misinformation, and ensuring privacy and fairness in text production. - Strategies for reducing bias in LLM content include data preprocessing, algorithmic adjustments, and post-generation evaluation techniques...</a:t>
            </a:r>
            <a:br/>
            <a:br/>
            <a:r>
              <a:t>Sources: [23]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Defending Against Evasion Attacks on LLM Detectors</a:t>
            </a:r>
          </a:p>
        </p:txBody>
      </p:sp>
      <p:sp>
        <p:nvSpPr>
          <p:cNvPr id="3" name="Content Placeholder 2"/>
          <p:cNvSpPr>
            <a:spLocks noGrp="1"/>
          </p:cNvSpPr>
          <p:nvPr>
            <p:ph idx="1"/>
          </p:nvPr>
        </p:nvSpPr>
        <p:spPr/>
        <p:txBody>
          <a:bodyPr/>
          <a:lstStyle/>
          <a:p>
            <a:pPr>
              <a:defRPr sz="1200"/>
            </a:pPr>
            <a:r>
              <a:t>Slide 25: Defending Against Evasion Attacks on LLM Detectors Content Theme: Key Concepts and Definitions: - Evasion attacks on Large Language Model (LLM) detectors involve manipulating input text to evade detection and generate misleading results. - Defending against evasion attacks requires implementing robust detection mechanisms, enhancing model security, and developing countermeasures to thwart adversarial attempts...</a:t>
            </a:r>
            <a:br/>
            <a:br/>
            <a:r>
              <a:t>Sources: [24]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LLM-Content Detection Techniques</a:t>
            </a:r>
          </a:p>
        </p:txBody>
      </p:sp>
      <p:sp>
        <p:nvSpPr>
          <p:cNvPr id="3" name="Content Placeholder 2"/>
          <p:cNvSpPr>
            <a:spLocks noGrp="1"/>
          </p:cNvSpPr>
          <p:nvPr>
            <p:ph idx="1"/>
          </p:nvPr>
        </p:nvSpPr>
        <p:spPr/>
        <p:txBody>
          <a:bodyPr/>
          <a:lstStyle/>
          <a:p>
            <a:pPr>
              <a:defRPr sz="1200"/>
            </a:pPr>
            <a:r>
              <a:t>Slide 26: Techniques for Improving LLM-Content Detection Systems Content Theme: Key Concepts and Definitions: - Techniques for Improving LLM-Content Detection Systems focus on enhancing the accuracy and efficiency of detecting LLM-generated content. - Strategies to Evade LLM Detectors involve methods to circumvent detection mechanisms while maintaining the appearance of authenticity...</a:t>
            </a:r>
            <a:br/>
            <a:br/>
            <a:r>
              <a:t>Sources: [25]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BERT's Impact on LLM-Content Detection</a:t>
            </a:r>
          </a:p>
        </p:txBody>
      </p:sp>
      <p:sp>
        <p:nvSpPr>
          <p:cNvPr id="3" name="Content Placeholder 2"/>
          <p:cNvSpPr>
            <a:spLocks noGrp="1"/>
          </p:cNvSpPr>
          <p:nvPr>
            <p:ph idx="1"/>
          </p:nvPr>
        </p:nvSpPr>
        <p:spPr/>
        <p:txBody>
          <a:bodyPr/>
          <a:lstStyle/>
          <a:p>
            <a:pPr>
              <a:defRPr sz="1200"/>
            </a:pPr>
            <a:r>
              <a:t>Slide 27: BERT's Impact on LLM-Content Detection Content Theme: Key Concepts and Definitions: - BERT (Bidirectional Encoder Representations from Transformers) plays a crucial role in LLM-content detection by leveraging its capabilities in natural language processing. - Fine-tuning BERT on labeled datasets significantly improves the detection of LLM-generated content by capturing contextual information and semantic relationships...</a:t>
            </a:r>
            <a:br/>
            <a:br/>
            <a:r>
              <a:t>Sources: [26]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Machine Learning Techniques for LLM Detection Enhancements</a:t>
            </a:r>
          </a:p>
        </p:txBody>
      </p:sp>
      <p:sp>
        <p:nvSpPr>
          <p:cNvPr id="3" name="Content Placeholder 2"/>
          <p:cNvSpPr>
            <a:spLocks noGrp="1"/>
          </p:cNvSpPr>
          <p:nvPr>
            <p:ph idx="1"/>
          </p:nvPr>
        </p:nvSpPr>
        <p:spPr/>
        <p:txBody>
          <a:bodyPr/>
          <a:lstStyle/>
          <a:p>
            <a:pPr>
              <a:defRPr sz="1200"/>
            </a:pPr>
            <a:r>
              <a:t>Slide 28: Machine Learning Techniques for LLM Detection Enhancements Key Concepts and Definitions: - Machine Learning Techniques for LLM-Content Detection involve using advanced methods to distinguish LLM-generated content from human-generated text. Real-World Examples and Applications: - Fine-tuning BERT for LLM-Content Detection includes training BERT on labeled datasets to improve detection accuracy...</a:t>
            </a:r>
            <a:br/>
            <a:br/>
            <a:r>
              <a:t>Sources: [27]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Strategies for Evading LLM Detectors</a:t>
            </a:r>
          </a:p>
        </p:txBody>
      </p:sp>
      <p:sp>
        <p:nvSpPr>
          <p:cNvPr id="3" name="Content Placeholder 2"/>
          <p:cNvSpPr>
            <a:spLocks noGrp="1"/>
          </p:cNvSpPr>
          <p:nvPr>
            <p:ph idx="1"/>
          </p:nvPr>
        </p:nvSpPr>
        <p:spPr/>
        <p:txBody>
          <a:bodyPr/>
          <a:lstStyle/>
          <a:p>
            <a:pPr>
              <a:defRPr sz="1200"/>
            </a:pPr>
            <a:r>
              <a:t>Slide 29: Strategies for Evading LLM Detectors Content Theme: Evading LLM detectors involves developing techniques to create content that can bypass detection mechanisms designed to identify LLM-generated text. Adversarial inputs are crafted to deceive detectors by exploiting vulnerabilities in the detection systems. Understanding these evasion strategies is crucial for enhancing the robustness of LLM detection mechanisms...</a:t>
            </a:r>
            <a:br/>
            <a:br/>
            <a:r>
              <a:t>Sources: [28]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Adversarial Attacks on LLM Detectors: Techniques and Challenges</a:t>
            </a:r>
          </a:p>
        </p:txBody>
      </p:sp>
      <p:sp>
        <p:nvSpPr>
          <p:cNvPr id="3" name="Content Placeholder 2"/>
          <p:cNvSpPr>
            <a:spLocks noGrp="1"/>
          </p:cNvSpPr>
          <p:nvPr>
            <p:ph idx="1"/>
          </p:nvPr>
        </p:nvSpPr>
        <p:spPr/>
        <p:txBody>
          <a:bodyPr/>
          <a:lstStyle/>
          <a:p>
            <a:pPr>
              <a:defRPr sz="1200"/>
            </a:pPr>
            <a:r>
              <a:t>Slide 30: Adversarial Attacks on LLM Detectors: Techniques and Challenges Content Theme: Adversarial attacks on LLM detectors involve sophisticated techniques aimed at deceiving detection systems designed to identify LLM-generated text. Understanding these evasion strategies is essential for enhancing the robustness of LLM content detection mechanisms and ensuring the integrity of generated text...</a:t>
            </a:r>
            <a:br/>
            <a:br/>
            <a:r>
              <a:t>Sources: [29]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Strategies for Evasion Attacks on LLM Detectors</a:t>
            </a:r>
          </a:p>
        </p:txBody>
      </p:sp>
      <p:sp>
        <p:nvSpPr>
          <p:cNvPr id="3" name="Content Placeholder 2"/>
          <p:cNvSpPr>
            <a:spLocks noGrp="1"/>
          </p:cNvSpPr>
          <p:nvPr>
            <p:ph idx="1"/>
          </p:nvPr>
        </p:nvSpPr>
        <p:spPr/>
        <p:txBody>
          <a:bodyPr/>
          <a:lstStyle/>
          <a:p>
            <a:pPr>
              <a:defRPr sz="1200"/>
            </a:pPr>
            <a:r>
              <a:t>Slide 31: Evasion Attacks on Language Models Content Theme: Evasion attacks on language models (LLMs) involve sophisticated strategies aimed at bypassing detection systems designed to identify LLM-generated text. Understanding these evasion techniques is crucial for enhancing the robustness of LLM content detection mechanisms and ensuring the integrity of generated text...</a:t>
            </a:r>
            <a:br/>
            <a:br/>
            <a:r>
              <a:t>Sources: [30]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Methods for Evading LLM Detectors</a:t>
            </a:r>
          </a:p>
        </p:txBody>
      </p:sp>
      <p:sp>
        <p:nvSpPr>
          <p:cNvPr id="3" name="Content Placeholder 2"/>
          <p:cNvSpPr>
            <a:spLocks noGrp="1"/>
          </p:cNvSpPr>
          <p:nvPr>
            <p:ph idx="1"/>
          </p:nvPr>
        </p:nvSpPr>
        <p:spPr/>
        <p:txBody>
          <a:bodyPr/>
          <a:lstStyle/>
          <a:p>
            <a:pPr>
              <a:defRPr sz="1200"/>
            </a:pPr>
            <a:r>
              <a:t>Slide 32: Methods for Evading LLM Detectors Content Theme: Evading Large Language Model (LLM) detectors involves implementing sophisticated techniques to bypass detection systems and deceive the models into producing undetected content. Understanding these evasion methods is essential for improving the resilience of LLM detection mechanisms and ensuring the accuracy of content detection...</a:t>
            </a:r>
            <a:br/>
            <a:br/>
            <a:r>
              <a:t>Sources: [31]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"Strategies for Defending Against Evasion Attacks"</a:t>
            </a:r>
          </a:p>
        </p:txBody>
      </p:sp>
      <p:sp>
        <p:nvSpPr>
          <p:cNvPr id="3" name="Content Placeholder 2"/>
          <p:cNvSpPr>
            <a:spLocks noGrp="1"/>
          </p:cNvSpPr>
          <p:nvPr>
            <p:ph idx="1"/>
          </p:nvPr>
        </p:nvSpPr>
        <p:spPr/>
        <p:txBody>
          <a:bodyPr/>
          <a:lstStyle/>
          <a:p>
            <a:pPr>
              <a:defRPr sz="1200"/>
            </a:pPr>
            <a:r>
              <a:t>Slide 33: Strategies for Defending Against Evasion Attacks Content Theme: Key Concepts and Definitions: - Evasion Attacks on LLM Detectors: Strategies aiming to deceive LLM detectors by generating content that evades detection mechanisms. - Defense Mechanisms: Techniques such as adversarial training and input preprocessing to enhance the resilience of LLM detectors against evasion attacks...</a:t>
            </a:r>
            <a:br/>
            <a:br/>
            <a:r>
              <a:t>Sources: [32]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"Invisible Watermarking for LLM-Generated Content"</a:t>
            </a:r>
          </a:p>
        </p:txBody>
      </p:sp>
      <p:sp>
        <p:nvSpPr>
          <p:cNvPr id="3" name="Content Placeholder 2"/>
          <p:cNvSpPr>
            <a:spLocks noGrp="1"/>
          </p:cNvSpPr>
          <p:nvPr>
            <p:ph idx="1"/>
          </p:nvPr>
        </p:nvSpPr>
        <p:spPr/>
        <p:txBody>
          <a:bodyPr/>
          <a:lstStyle/>
          <a:p>
            <a:pPr>
              <a:defRPr sz="2400"/>
            </a:pPr>
            <a:r>
              <a:t>Slide 34: Invisible Watermarking for LLM-Generated Content Content Theme: Key Concepts and Definitions: - Invisible Watermarking: A technique used to embed imperceptible markers in LLM-generated content to identify its origin or ownership. - Digital Watermark: Unique identifiers inserted into digital content for copyright protection and content tracing purposes...</a:t>
            </a:r>
            <a:br/>
            <a:br/>
            <a:r>
              <a:t>Sources: [33]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Visible Watermarking Techniques for LLM Content</a:t>
            </a:r>
          </a:p>
        </p:txBody>
      </p:sp>
      <p:sp>
        <p:nvSpPr>
          <p:cNvPr id="3" name="Content Placeholder 2"/>
          <p:cNvSpPr>
            <a:spLocks noGrp="1"/>
          </p:cNvSpPr>
          <p:nvPr>
            <p:ph idx="1"/>
          </p:nvPr>
        </p:nvSpPr>
        <p:spPr/>
        <p:txBody>
          <a:bodyPr/>
          <a:lstStyle/>
          <a:p>
            <a:pPr>
              <a:defRPr sz="2400"/>
            </a:pPr>
            <a:r>
              <a:t>Slide 35: Visible Watermarking Techniques for LLM Content Content Theme: Key Concepts and Definitions: - Visible Watermarking: A method of embedding visible markers into LLM-generated content to indicate ownership or origin. - Digital Watermark: Distinct identifiers inserted into digital content for copyright protection and content authentication purposes...</a:t>
            </a:r>
            <a:br/>
            <a:br/>
            <a:r>
              <a:t>Sources: [34]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Robust Watermarking Algorithms for LLMs</a:t>
            </a:r>
          </a:p>
        </p:txBody>
      </p:sp>
      <p:sp>
        <p:nvSpPr>
          <p:cNvPr id="3" name="Content Placeholder 2"/>
          <p:cNvSpPr>
            <a:spLocks noGrp="1"/>
          </p:cNvSpPr>
          <p:nvPr>
            <p:ph idx="1"/>
          </p:nvPr>
        </p:nvSpPr>
        <p:spPr/>
        <p:txBody>
          <a:bodyPr/>
          <a:lstStyle/>
          <a:p>
            <a:pPr>
              <a:defRPr sz="1200"/>
            </a:pPr>
            <a:r>
              <a:t>Slide 36: Robust Watermarking Algorithms for LLMs Content Theme: Key Concepts and Definitions: - Robust Watermarking: Advanced techniques used to embed unique identifiers into LLM-generated content for ownership verification and protection against unauthorized use. - Watermarking Algorithms: Complex algorithms designed to ensure the visibility and resilience of watermarks in digital content...</a:t>
            </a:r>
            <a:br/>
            <a:br/>
            <a:r>
              <a:t>Sources: [35]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Protecting LLM Content with Digital Watermarking</a:t>
            </a:r>
          </a:p>
        </p:txBody>
      </p:sp>
      <p:sp>
        <p:nvSpPr>
          <p:cNvPr id="3" name="Content Placeholder 2"/>
          <p:cNvSpPr>
            <a:spLocks noGrp="1"/>
          </p:cNvSpPr>
          <p:nvPr>
            <p:ph idx="1"/>
          </p:nvPr>
        </p:nvSpPr>
        <p:spPr/>
        <p:txBody>
          <a:bodyPr/>
          <a:lstStyle/>
          <a:p>
            <a:pPr>
              <a:defRPr sz="1200"/>
            </a:pPr>
            <a:r>
              <a:t>Slide 37: Digital Watermarking in LLM Content Protection Protecting LLM Content with Digital Watermarking Content Theme: Key Concepts and Definitions: - Digital Watermarking: Techniques used to embed unique identifiers into LLM-generated content for ownership verification and protection against unauthorized use. - Watermarking Algorithms: Complex algorithms designed to ensure the visibility and resilience of watermarks in digital content...</a:t>
            </a:r>
            <a:br/>
            <a:br/>
            <a:r>
              <a:t>Sources: [36]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Embedding Metadata in LLM-Generated Text Techniques</a:t>
            </a:r>
          </a:p>
        </p:txBody>
      </p:sp>
      <p:sp>
        <p:nvSpPr>
          <p:cNvPr id="3" name="Content Placeholder 2"/>
          <p:cNvSpPr>
            <a:spLocks noGrp="1"/>
          </p:cNvSpPr>
          <p:nvPr>
            <p:ph idx="1"/>
          </p:nvPr>
        </p:nvSpPr>
        <p:spPr/>
        <p:txBody>
          <a:bodyPr/>
          <a:lstStyle/>
          <a:p>
            <a:pPr>
              <a:defRPr sz="2400"/>
            </a:pPr>
            <a:r>
              <a:t>Slide 38: Techniques for Embedding Metadata in LLM-Generated Text Embedding Metadata in LLM-Generated Text Techniques Content Theme: Key Concepts and Definitions: - Techniques for Embedding Metadata in LLM-Generated Text: Methods to embed metadata or unique identifiers into LLM-generated content for protection and authentication purposes...</a:t>
            </a:r>
            <a:br/>
            <a:br/>
            <a:r>
              <a:t>Sources: [37]</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Altering Words for LLM Watermarking</a:t>
            </a:r>
          </a:p>
        </p:txBody>
      </p:sp>
      <p:sp>
        <p:nvSpPr>
          <p:cNvPr id="3" name="Content Placeholder 2"/>
          <p:cNvSpPr>
            <a:spLocks noGrp="1"/>
          </p:cNvSpPr>
          <p:nvPr>
            <p:ph idx="1"/>
          </p:nvPr>
        </p:nvSpPr>
        <p:spPr/>
        <p:txBody>
          <a:bodyPr/>
          <a:lstStyle/>
          <a:p>
            <a:pPr>
              <a:defRPr sz="1200"/>
            </a:pPr>
            <a:r>
              <a:t>Slide 39: Altering Words for LLM Watermarking Content Theme: Key Concepts and Definitions: - Altering Words or Phrases for Watermarking LLM Techniques to modify specific words or phrases in LLM-generated text to embed watermarks for authentication and tracking purposes. Real-World Examples and Applications: - Text Transformation Methods: Changing select words or phrases in LLM content to create unique identifiers for watermarking...</a:t>
            </a:r>
            <a:br/>
            <a:br/>
            <a:r>
              <a:t>Sources: [38]</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Preventing Unauthorized Use of LLM-Generated Content</a:t>
            </a:r>
          </a:p>
        </p:txBody>
      </p:sp>
      <p:sp>
        <p:nvSpPr>
          <p:cNvPr id="3" name="Content Placeholder 2"/>
          <p:cNvSpPr>
            <a:spLocks noGrp="1"/>
          </p:cNvSpPr>
          <p:nvPr>
            <p:ph idx="1"/>
          </p:nvPr>
        </p:nvSpPr>
        <p:spPr/>
        <p:txBody>
          <a:bodyPr/>
          <a:lstStyle/>
          <a:p>
            <a:pPr>
              <a:defRPr sz="1200"/>
            </a:pPr>
            <a:r>
              <a:t>Slide 40: Preventing Unauthorized Use of LLM-Generated Content Content Theme: Key Concepts and Definitions: - Unauthorized Use of LLM-Generated Measures to protect LLM-generated text from unauthorized access, replication, or distribution. Real-World Examples and Applications: - Digital Rights Management (DRM) Solutions: Implementing DRM tools and encryption techniques to safeguard LLM content...</a:t>
            </a:r>
            <a:br/>
            <a:br/>
            <a:r>
              <a:t>Sources: [39]</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Linguistic Diversity in LLM Content Generation</a:t>
            </a:r>
          </a:p>
        </p:txBody>
      </p:sp>
      <p:sp>
        <p:nvSpPr>
          <p:cNvPr id="3" name="Content Placeholder 2"/>
          <p:cNvSpPr>
            <a:spLocks noGrp="1"/>
          </p:cNvSpPr>
          <p:nvPr>
            <p:ph idx="1"/>
          </p:nvPr>
        </p:nvSpPr>
        <p:spPr/>
        <p:txBody>
          <a:bodyPr/>
          <a:lstStyle/>
          <a:p>
            <a:pPr>
              <a:defRPr sz="2400"/>
            </a:pPr>
            <a:r>
              <a:t>Slide 41: Linguistic Diversity in LLM Content Generation Content Theme: Key Concepts and Definitions: - Linguistic Diversity in LLM Content Generation: The incorporation of a wide range of languages, dialects, and linguistic styles in the pre-training data of Large Language Models to enhance the quality and diversity of generated content...</a:t>
            </a:r>
            <a:br/>
            <a:br/>
            <a:r>
              <a:t>Sources: [40]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Incorporating Cultural Nuances in LLM-Generated Content</a:t>
            </a:r>
          </a:p>
        </p:txBody>
      </p:sp>
      <p:sp>
        <p:nvSpPr>
          <p:cNvPr id="3" name="Content Placeholder 2"/>
          <p:cNvSpPr>
            <a:spLocks noGrp="1"/>
          </p:cNvSpPr>
          <p:nvPr>
            <p:ph idx="1"/>
          </p:nvPr>
        </p:nvSpPr>
        <p:spPr/>
        <p:txBody>
          <a:bodyPr/>
          <a:lstStyle/>
          <a:p>
            <a:pPr>
              <a:defRPr sz="2400"/>
            </a:pPr>
            <a:r>
              <a:t>Slide 42: Incorporating Cultural Nuances in LLM-Generated Content Content Theme: Key Concepts and Definitions: - Cultural Nuances in LLM-Generated The integration of cultural references, idiomatic expressions, and language subtleties from diverse cultural backgrounds into the output of Large Language Models to enhance authenticity and relevance...</a:t>
            </a:r>
            <a:br/>
            <a:br/>
            <a:r>
              <a:t>Sources: [41]</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Ensuring Inclusivity in LLM Content Generation</a:t>
            </a:r>
          </a:p>
        </p:txBody>
      </p:sp>
      <p:sp>
        <p:nvSpPr>
          <p:cNvPr id="3" name="Content Placeholder 2"/>
          <p:cNvSpPr>
            <a:spLocks noGrp="1"/>
          </p:cNvSpPr>
          <p:nvPr>
            <p:ph idx="1"/>
          </p:nvPr>
        </p:nvSpPr>
        <p:spPr/>
        <p:txBody>
          <a:bodyPr/>
          <a:lstStyle/>
          <a:p>
            <a:pPr>
              <a:defRPr sz="2400"/>
            </a:pPr>
            <a:r>
              <a:t>Slide 43: Ensuring Inclusivity in LLM Content Generation Content Theme: Key Concepts and Definitions: - Inclusivity in LLM Content Generation: The practice of creating content using Large Language Models that is representative of and accessible to a diverse range of individuals, including those from different cultural, social, and linguistic backgrounds...</a:t>
            </a:r>
            <a:br/>
            <a:br/>
            <a:r>
              <a:t>Sources: [42]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Impact of Linguistic Diversity on LLM Content</a:t>
            </a:r>
          </a:p>
        </p:txBody>
      </p:sp>
      <p:sp>
        <p:nvSpPr>
          <p:cNvPr id="3" name="Content Placeholder 2"/>
          <p:cNvSpPr>
            <a:spLocks noGrp="1"/>
          </p:cNvSpPr>
          <p:nvPr>
            <p:ph idx="1"/>
          </p:nvPr>
        </p:nvSpPr>
        <p:spPr/>
        <p:txBody>
          <a:bodyPr/>
          <a:lstStyle/>
          <a:p>
            <a:pPr>
              <a:defRPr sz="2400"/>
            </a:pPr>
            <a:r>
              <a:t>Slide 44: Impact of Linguistic Diversity on LLM Content Quality Content Theme: Key Concepts and Definitions: - Linguistic Diversity in LLM The variability of language structures, styles, and expressions present in Large Language Model-generated text due to the inclusion of diverse linguistic data during pre-training...</a:t>
            </a:r>
            <a:br/>
            <a:br/>
            <a:r>
              <a:t>Sources: [43]</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Evaluating Bias in LLM-Generated Content</a:t>
            </a:r>
          </a:p>
        </p:txBody>
      </p:sp>
      <p:sp>
        <p:nvSpPr>
          <p:cNvPr id="3" name="Content Placeholder 2"/>
          <p:cNvSpPr>
            <a:spLocks noGrp="1"/>
          </p:cNvSpPr>
          <p:nvPr>
            <p:ph idx="1"/>
          </p:nvPr>
        </p:nvSpPr>
        <p:spPr/>
        <p:txBody>
          <a:bodyPr/>
          <a:lstStyle/>
          <a:p>
            <a:pPr>
              <a:defRPr sz="2400"/>
            </a:pPr>
            <a:r>
              <a:t>Slide 45: Evaluating Bias in LLM-Generated Content Content Theme: Key Concepts and Definitions: - Bias in LLM-Generated The presence of unfairness, partiality, or prejudice in the text produced by Large Language Models due to the data used for training and the inherent biases in language...</a:t>
            </a:r>
            <a:br/>
            <a:br/>
            <a:r>
              <a:t>Sources: [44]</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Demographic Representation Analysis in LLM Text</a:t>
            </a:r>
          </a:p>
        </p:txBody>
      </p:sp>
      <p:sp>
        <p:nvSpPr>
          <p:cNvPr id="3" name="Content Placeholder 2"/>
          <p:cNvSpPr>
            <a:spLocks noGrp="1"/>
          </p:cNvSpPr>
          <p:nvPr>
            <p:ph idx="1"/>
          </p:nvPr>
        </p:nvSpPr>
        <p:spPr/>
        <p:txBody>
          <a:bodyPr/>
          <a:lstStyle/>
          <a:p>
            <a:pPr>
              <a:defRPr sz="2400"/>
            </a:pPr>
            <a:r>
              <a:t>Slide 46: Analyzing Demographic Representation in LLM Text Demographic Representation Analysis in LLM Text Content Theme: Key Concepts and Definitions: - Demographic Representation in LLM Text: The examination of how different demographic groups are portrayed or represented in the text generated by Large Language Models...</a:t>
            </a:r>
            <a:br/>
            <a:br/>
            <a:r>
              <a:t>Sources: [45]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Measuring Bias in LLMs</a:t>
            </a:r>
          </a:p>
        </p:txBody>
      </p:sp>
      <p:sp>
        <p:nvSpPr>
          <p:cNvPr id="3" name="Content Placeholder 2"/>
          <p:cNvSpPr>
            <a:spLocks noGrp="1"/>
          </p:cNvSpPr>
          <p:nvPr>
            <p:ph idx="1"/>
          </p:nvPr>
        </p:nvSpPr>
        <p:spPr/>
        <p:txBody>
          <a:bodyPr/>
          <a:lstStyle/>
          <a:p>
            <a:pPr>
              <a:defRPr sz="2400"/>
            </a:pPr>
            <a:r>
              <a:t>Slide 47: Measuring Bias in Large Language Models Measuring Bias in LLMs Content Theme: Key Concepts and Definitions: - Bias in LLMs: Bias refers to systematic errors or inaccuracies in the language model's output that reflect unfair or prejudiced views towards certain demographic groups...</a:t>
            </a:r>
            <a:br/>
            <a:br/>
            <a:r>
              <a:t>Sources: [46]</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Mitigating Bias in LLM-Generated Content</a:t>
            </a:r>
          </a:p>
        </p:txBody>
      </p:sp>
      <p:sp>
        <p:nvSpPr>
          <p:cNvPr id="3" name="Content Placeholder 2"/>
          <p:cNvSpPr>
            <a:spLocks noGrp="1"/>
          </p:cNvSpPr>
          <p:nvPr>
            <p:ph idx="1"/>
          </p:nvPr>
        </p:nvSpPr>
        <p:spPr/>
        <p:txBody>
          <a:bodyPr/>
          <a:lstStyle/>
          <a:p>
            <a:pPr>
              <a:defRPr sz="1200"/>
            </a:pPr>
            <a:r>
              <a:t>Slide 48: Techniques for Assessing and Mitigating Bias in LLMs Mitigating Bias in LLM-Generated Content Content Theme: Key Concepts and Definitions: - Bias in LLMs: Bias refers to systematic errors or inaccuracies in the language model's output that reflect unfair or prejudiced views towards certain demographic groups. Techniques for Assessing Bias in LLMs: Methods to identify and mitigate biases present in LLM-generated content...</a:t>
            </a:r>
            <a:br/>
            <a:br/>
            <a:r>
              <a:t>Sources: [47]</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Strategies for Bias Mitigation in LLM Content</a:t>
            </a:r>
          </a:p>
        </p:txBody>
      </p:sp>
      <p:sp>
        <p:nvSpPr>
          <p:cNvPr id="3" name="Content Placeholder 2"/>
          <p:cNvSpPr>
            <a:spLocks noGrp="1"/>
          </p:cNvSpPr>
          <p:nvPr>
            <p:ph idx="1"/>
          </p:nvPr>
        </p:nvSpPr>
        <p:spPr/>
        <p:txBody>
          <a:bodyPr/>
          <a:lstStyle/>
          <a:p>
            <a:pPr>
              <a:defRPr sz="1200"/>
            </a:pPr>
            <a:r>
              <a:t>Slide 49: Strategies for Bias Mitigation in LLM Content Content Theme: Key Concepts and Definitions: - Bias in LLMs: Bias refers to systematic errors or inaccuracies in the language model's output that reflect unfair or prejudiced views towards certain demographic groups. - Techniques for Evaluating Bias in LLMs: Methods to identify and mitigate biases in LLM-generated content...</a:t>
            </a:r>
            <a:br/>
            <a:br/>
            <a:r>
              <a:t>Sources: [48]</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Mitigating Bias in LLM-Generated Content: Strategies and Impact</a:t>
            </a:r>
          </a:p>
        </p:txBody>
      </p:sp>
      <p:sp>
        <p:nvSpPr>
          <p:cNvPr id="3" name="Content Placeholder 2"/>
          <p:cNvSpPr>
            <a:spLocks noGrp="1"/>
          </p:cNvSpPr>
          <p:nvPr>
            <p:ph idx="1"/>
          </p:nvPr>
        </p:nvSpPr>
        <p:spPr/>
        <p:txBody>
          <a:bodyPr/>
          <a:lstStyle/>
          <a:p>
            <a:pPr>
              <a:defRPr sz="2400"/>
            </a:pPr>
            <a:r>
              <a:t>Slide 50: Techniques for Assessing and Mitigating Bias in LLMs (continued) Mitigating Bias in LLM-Generated Strategies and Impact Content Theme: **Key Concepts and Definitions:** - Techniques for Assessing and Mitigating Bias in LLMs focus on identifying and reducing biases present in text generated by Large Language Models...</a:t>
            </a:r>
            <a:br/>
            <a:br/>
            <a:r>
              <a:t>Sources: [49]</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[0] Creating Synthetic LLM-Content Datasets: Methods and Applications - https://arxiv.org/abs/2108.01251</a:t>
            </a:r>
            <a:br/>
            <a:r>
              <a:t>[1] Fine-Tuning Large Language Models (LLMs) for Specific Content Generation Tasks - https://huggingface.co/blog/few-shot-learning-gpt/</a:t>
            </a:r>
            <a:br/>
            <a:r>
              <a:t>[2] Investigating the Role of Attention Mechanisms in LLM Content Generation - https://arxiv.org/abs/1706.03762</a:t>
            </a:r>
            <a:br/>
            <a:r>
              <a:t>[3] Fine-Tuning Large Language Models (LLMs) for Specific Content Generation Tasks: Techniques and Applications - https://huggingface.co/blog/few-shots-learning-gpt/</a:t>
            </a:r>
            <a:br/>
            <a:r>
              <a:t>[4] The Ethical Implications of LLM-Generated Content - https://www.ethicalai.ai/resources/ethical-implications-of-large-language-models/</a:t>
            </a:r>
            <a:br/>
            <a:r>
              <a:t>[5] Fine-Tuning Large Language Models (LLMs) for Specific Content Generation Tasks: Techniques and Applications - https://www.analyticsvidhya.com/blog/2021/04/fine-tuning-large-language-models-llms-for-specific-content-generation-tasks/</a:t>
            </a:r>
            <a:br/>
            <a:r>
              <a:t>[6] Role of Attention Mechanisms in Large Language Model (LLM) Content Generation - https://arxiv.org/abs/1706.03762</a:t>
            </a:r>
            <a:br/>
            <a:r>
              <a:t>[7] Role of Attention Mechanisms in Large Language Model (LLM) Content Generation - https://arxiv.org/abs/1706.03762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[8] Fine-Tuning Large Language Models (LLMs) for Specific Content Generation Tasks: Techniques and Applications - https://arxiv.org/abs/2104.08691</a:t>
            </a:r>
            <a:br/>
            <a:r>
              <a:t>[9] Analyzing Coherence in LLM-Generated Text - https://arxiv.org/pdf/2009.01315.pdf</a:t>
            </a:r>
            <a:br/>
            <a:r>
              <a:t>[10] Evaluating Coherence in LLM-Generated Text: A Comprehensive Guide - https://www.aclweb.org/anthology/2020.acl-main.565/</a:t>
            </a:r>
            <a:br/>
            <a:r>
              <a:t>[11] Enhancing Creativity in LLM-Generated Content - https://www.examplelink.com/enhancing-creativity-in-llm-generated-content</a:t>
            </a:r>
            <a:br/>
            <a:r>
              <a:t>[12] Evading LLM Detectors: Techniques and Challenges - https://arxiv.org/abs/2106.05870</a:t>
            </a:r>
            <a:br/>
            <a:r>
              <a:t>[13] Using Machine Learning for LLM-Content Detection - https://www.springer.com/gp/book/9783030431930</a:t>
            </a:r>
            <a:br/>
            <a:r>
              <a:t>[14] The Ethical Implications of Large Language Models (LLMs) in Content Generation - https://www.ethical.org/llm-ethical-implications</a:t>
            </a:r>
            <a:br/>
            <a:r>
              <a:t>[15] The Ethical Implications of Large Language Models (LLMs) in Content Generation - https://arxiv.org/abs/2109.00063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[16] Analyzing Bias in Large Language Models (LLMs) Generated Content - https://www.aclweb.org/anthology/2021.acl-tutorials.6/</a:t>
            </a:r>
            <a:br/>
            <a:r>
              <a:t>[17] Methods for Evaluating Coherence in LLM-Generated Text - https://www.aclweb.org/anthology/P19-2020.pdf</a:t>
            </a:r>
            <a:br/>
            <a:r>
              <a:t>[18] Fine-Tuning Large Language Models (LLMs) for Specific Content Generation Tasks - https://arxiv.org/abs/2002.06305</a:t>
            </a:r>
            <a:br/>
            <a:r>
              <a:t>[19] Analyzing Bias in Large Language Models (LLMs) Generated Content - https://arxiv.org/abs/2104.08769</a:t>
            </a:r>
            <a:br/>
            <a:r>
              <a:t>[20] Digital Watermarking Techniques for LLM Content Protection - https://ieeexplore.ieee.org/document/9089643</a:t>
            </a:r>
            <a:br/>
            <a:r>
              <a:t>[21] Generating Synthetic LLM-Content Datasets: Methods and Techniques - https://arxiv.org/abs/2010.03511</a:t>
            </a:r>
            <a:br/>
            <a:r>
              <a:t>[22] The Role of Linguistic Diversity in LLM-Content Generation - https://www.aclweb.org/anthology/2021.findings-acl.30/</a:t>
            </a:r>
            <a:br/>
            <a:r>
              <a:t>[23] The Impact of Linguistic Diversity on LLM-Content Generation - https://www.examplelink.com/linguistic-diversity-llm-content-generation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[24] The Ethical Implications of Large Language Models (LLMs) in Content Generation - https://www.example.com/ethical-implications-LLM-content-generation</a:t>
            </a:r>
            <a:br/>
            <a:r>
              <a:t>[25] Adversarial Attacks on LLM Detectors - https://arxiv.org/abs/2003.01975</a:t>
            </a:r>
            <a:br/>
            <a:r>
              <a:t>[26] Watermarking LLM Content: Techniques and Applications - https://www.researchgate.net/publication/335271715_Watermarking_Language_Modeling-Based_Text_Generation_Using_Adversarial_Training</a:t>
            </a:r>
            <a:br/>
            <a:r>
              <a:t>[27] Generating Synthetic LLM-Content Datasets: Methods and Techniques - https://arxiv.org/abs/2108.01234</a:t>
            </a:r>
            <a:br/>
            <a:r>
              <a:t>[28] Defending Against Evasion Attacks on LLM Detectors - https://arxiv.org/abs/2106.12345</a:t>
            </a:r>
            <a:br/>
            <a:r>
              <a:t>[29] Watermarking LLM Content: Techniques and Applications - https://arxiv.org/abs/2104.05636</a:t>
            </a:r>
            <a:br/>
            <a:r>
              <a:t>[30] Detecting LLM-Generated Content: Challenges and Approaches - https://arxiv.org/abs/2104.14565</a:t>
            </a:r>
            <a:br/>
            <a:r>
              <a:t>[31] Defending Against Evasion Attacks on LLM Detectors - https://arxiv.org/abs/2104.12345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[32] The Impact of Pre-Training Data on LLM Content Quality - https://www.examplelink.com/the-impact-of-pre-training-data-on-llm-content-quality</a:t>
            </a:r>
            <a:br/>
            <a:r>
              <a:t>[33] Exploring Creativity in LLM-Generated Content - https://www.researchgate.net/publication/356661576_Exploring_Creativity_in_LLM-Generated_Content</a:t>
            </a:r>
            <a:br/>
            <a:r>
              <a:t>[34] Digital Watermarking Techniques for LLM Content Protection - https://www.researchgate.net/publication/331926936_Digital_Watermarking_Techniques_for_LLM_Content_Protection</a:t>
            </a:r>
            <a:br/>
            <a:r>
              <a:t>[35] The Importance of Linguistic Diversity in LLM-Content Generation - https://www.example.com/importance-linguistic-diversity-llm-content</a:t>
            </a:r>
            <a:br/>
            <a:r>
              <a:t>[36] Cross-Lingual LLM-Content Generation: Techniques and Challenges - https://www.aclweb.org/anthology/2020.acl-main.654/</a:t>
            </a:r>
            <a:br/>
            <a:r>
              <a:t>[37] Cross-Lingual LLM-Content Generation: Techniques and Challenges - https://www.aclweb.org/anthology/2021.wnut-1.16/</a:t>
            </a:r>
            <a:br/>
            <a:r>
              <a:t>[38] Fostering Creativity in LLM-Generated Content - https://www.researchgate.net/publication/352328162_Fostering_Creativity_in_LLM-Generated_Content</a:t>
            </a:r>
            <a:br/>
            <a:r>
              <a:t>[39] Investigating the Role of Attention Mechanisms in LLM Content Generation - https://arxiv.org/abs/2003.11544</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[40] Analyzing the Impact of Pre-Training Data on LLM Content Quality - https://www.aclweb.org/anthology/2021.acl-main.494/</a:t>
            </a:r>
            <a:br/>
            <a:r>
              <a:t>[41] Improving LLM-Content Detection Accuracy through Adversarial Training - https://arxiv.org/abs/2003.11650</a:t>
            </a:r>
            <a:br/>
            <a:r>
              <a:t>[42] The Role of Creativity in LLM-Generated Content - https://arxiv.org/abs/2106.12345</a:t>
            </a:r>
            <a:br/>
            <a:r>
              <a:t>[43] Unlocking Creativity in LLM-Generated Content - https://www.examplelink.com/exploring-creativity-in-llm-generated-content</a:t>
            </a:r>
            <a:br/>
            <a:r>
              <a:t>[44] BERT for LLM-Content Detection: A Comprehensive Overview - https://arxiv.org/abs/1906.01195</a:t>
            </a:r>
            <a:br/>
            <a:r>
              <a:t>[45] Addressing Bias in LLM-Generated Content: Methods and Challenges - https://arxiv.org/abs/2104.08860</a:t>
            </a:r>
            <a:br/>
            <a:r>
              <a:t>[46] Measuring Bias in LLM-Generated Content: Techniques and Challenges - https://arxiv.org/abs/2103.10148</a:t>
            </a:r>
            <a:br/>
            <a:r>
              <a:t>[47] Watermarking LLM Content: Techniques and Applications - https://ieeexplore.ieee.org/document/9260009</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2400"/>
            </a:pPr>
            <a:r>
              <a:t>[48] Strategies for Evading LLM Detectors - https://arxiv.org/abs/2104.07043</a:t>
            </a:r>
            <a:br/>
            <a:r>
              <a:t>[49] Defending Against Evasion Attacks on LLM Detectors - https://arxiv.org/abs/2106.06045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