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Advancements in LLM Content Generation, Detection, and Protection: A Comprehensive Overview</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Overview</a:t>
            </a:r>
          </a:p>
        </p:txBody>
      </p:sp>
      <p:sp>
        <p:nvSpPr>
          <p:cNvPr id="3" name="Content Placeholder 2"/>
          <p:cNvSpPr>
            <a:spLocks noGrp="1"/>
          </p:cNvSpPr>
          <p:nvPr>
            <p:ph idx="1"/>
          </p:nvPr>
        </p:nvSpPr>
        <p:spPr/>
        <p:txBody>
          <a:bodyPr/>
          <a:lstStyle/>
          <a:p>
            <a:pPr>
              <a:defRPr sz="2400"/>
            </a:pPr>
            <a:r>
              <a:t>The General Language Understanding Evaluation (GLUE) benchmark evaluates language models on diverse NLP tasks, such as text classification, sentiment analysis, and question answering, to provide a standardized comparison of performance. Tasks included in GLUE enable researchers to assess language models across various natural language understanding tasks, fostering advancements in the field of NLP...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Task Evaluation Overview</a:t>
            </a:r>
          </a:p>
        </p:txBody>
      </p:sp>
      <p:sp>
        <p:nvSpPr>
          <p:cNvPr id="3" name="Content Placeholder 2"/>
          <p:cNvSpPr>
            <a:spLocks noGrp="1"/>
          </p:cNvSpPr>
          <p:nvPr>
            <p:ph idx="1"/>
          </p:nvPr>
        </p:nvSpPr>
        <p:spPr/>
        <p:txBody>
          <a:bodyPr/>
          <a:lstStyle/>
          <a:p>
            <a:pPr>
              <a:defRPr sz="2400"/>
            </a:pPr>
            <a:r>
              <a:t>The General Language Understanding Evaluation (GLUE) benchmark evaluates language models on diverse NLP tasks, such as text classification, sentiment analysis, and question answering, to provide a standardized comparison of performance. Tasks included in GLUE enable researchers to assess language models across various natural language understanding tasks, fostering advancements in the field of NLP...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Importance of LLM Benchmarking Datasets</a:t>
            </a:r>
          </a:p>
        </p:txBody>
      </p:sp>
      <p:sp>
        <p:nvSpPr>
          <p:cNvPr id="3" name="Content Placeholder 2"/>
          <p:cNvSpPr>
            <a:spLocks noGrp="1"/>
          </p:cNvSpPr>
          <p:nvPr>
            <p:ph idx="1"/>
          </p:nvPr>
        </p:nvSpPr>
        <p:spPr/>
        <p:txBody>
          <a:bodyPr/>
          <a:lstStyle/>
          <a:p>
            <a:pPr>
              <a:defRPr sz="2400"/>
            </a:pPr>
            <a:r>
              <a:t>The General Language Understanding Evaluation (GLUE) benchmark evaluates language models on diverse NLP tasks, such as text classification, sentiment analysis, and question answering, to provide a standardized comparison of performance. Tasks included in GLUE enable researchers to assess language models across various natural language understanding tasks, fostering advancements in the field of NLP...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GLUE Benchmark Tasks</a:t>
            </a:r>
          </a:p>
        </p:txBody>
      </p:sp>
      <p:sp>
        <p:nvSpPr>
          <p:cNvPr id="3" name="Content Placeholder 2"/>
          <p:cNvSpPr>
            <a:spLocks noGrp="1"/>
          </p:cNvSpPr>
          <p:nvPr>
            <p:ph idx="1"/>
          </p:nvPr>
        </p:nvSpPr>
        <p:spPr/>
        <p:txBody>
          <a:bodyPr/>
          <a:lstStyle/>
          <a:p>
            <a:pPr>
              <a:defRPr sz="2400"/>
            </a:pPr>
            <a:r>
              <a:t>The General Language Understanding Evaluation (GLUE) benchmark evaluates language models on diverse NLP tasks, such as text classification, sentiment analysis, and question answering, to provide a standardized comparison of performance. Tasks included in GLUE enable researchers to assess language models across various natural language understanding tasks, fostering advancements in the field of NLP...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Performance Evaluation of LLMs on GLUE</a:t>
            </a:r>
          </a:p>
        </p:txBody>
      </p:sp>
      <p:sp>
        <p:nvSpPr>
          <p:cNvPr id="3" name="Content Placeholder 2"/>
          <p:cNvSpPr>
            <a:spLocks noGrp="1"/>
          </p:cNvSpPr>
          <p:nvPr>
            <p:ph idx="1"/>
          </p:nvPr>
        </p:nvSpPr>
        <p:spPr/>
        <p:txBody>
          <a:bodyPr/>
          <a:lstStyle/>
          <a:p>
            <a:pPr>
              <a:defRPr sz="2400"/>
            </a:pPr>
            <a:r>
              <a:t>The General Language Understanding Evaluation (GLUE) benchmark evaluates language models on diverse NLP tasks, such as text classification, sentiment analysis, and question answering, to provide a standardized comparison of performance. Tasks included in GLUE enable researchers to assess language models across various natural language understanding tasks, fostering advancements in the field of NLP...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Real-World GLUE Benchmark Applications</a:t>
            </a:r>
          </a:p>
        </p:txBody>
      </p:sp>
      <p:sp>
        <p:nvSpPr>
          <p:cNvPr id="3" name="Content Placeholder 2"/>
          <p:cNvSpPr>
            <a:spLocks noGrp="1"/>
          </p:cNvSpPr>
          <p:nvPr>
            <p:ph idx="1"/>
          </p:nvPr>
        </p:nvSpPr>
        <p:spPr/>
        <p:txBody>
          <a:bodyPr/>
          <a:lstStyle/>
          <a:p>
            <a:pPr>
              <a:defRPr sz="2400"/>
            </a:pPr>
            <a:r>
              <a:t>The General Language Understanding Evaluation (GLUE) benchmark evaluates language models on diverse NLP tasks, such as text classification, sentiment analysis, and question answering, to provide a standardized comparison of performance. Tasks included in GLUE enable researchers to assess language models across various natural language understanding tasks, fostering advancements in the field of NLP...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"Common Crawl: Web-Crawled Data for LLM Evaluation"</a:t>
            </a:r>
          </a:p>
        </p:txBody>
      </p:sp>
      <p:sp>
        <p:nvSpPr>
          <p:cNvPr id="3" name="Content Placeholder 2"/>
          <p:cNvSpPr>
            <a:spLocks noGrp="1"/>
          </p:cNvSpPr>
          <p:nvPr>
            <p:ph idx="1"/>
          </p:nvPr>
        </p:nvSpPr>
        <p:spPr/>
        <p:txBody>
          <a:bodyPr/>
          <a:lstStyle/>
          <a:p>
            <a:pPr>
              <a:defRPr sz="2400"/>
            </a:pPr>
            <a:r>
              <a:t>The General Language Understanding Evaluation (GLUE) benchmark evaluates language models on diverse NLP tasks, such as text classification, sentiment analysis, and question answering, to provide a standardized comparison of performance. Tasks included in GLUE enable researchers to assess language models across various natural language understanding tasks, fostering advancements in the field of NLP...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"Pile Dataset Overview"</a:t>
            </a:r>
          </a:p>
        </p:txBody>
      </p:sp>
      <p:sp>
        <p:nvSpPr>
          <p:cNvPr id="3" name="Content Placeholder 2"/>
          <p:cNvSpPr>
            <a:spLocks noGrp="1"/>
          </p:cNvSpPr>
          <p:nvPr>
            <p:ph idx="1"/>
          </p:nvPr>
        </p:nvSpPr>
        <p:spPr/>
        <p:txBody>
          <a:bodyPr/>
          <a:lstStyle/>
          <a:p>
            <a:pPr>
              <a:defRPr sz="2400"/>
            </a:pPr>
            <a:r>
              <a:t>The Pile dataset is a large-scale dataset specifically designed for benchmarking large language models (LLMs) and evaluating their performance across various domains and tasks. It contains a diverse range of text data sourced from multiple sources, providing researchers with a comprehensive set of examples to assess LLM capabilities effectively...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"Comparing Common Crawl and Pile Datasets"</a:t>
            </a:r>
          </a:p>
        </p:txBody>
      </p:sp>
      <p:sp>
        <p:nvSpPr>
          <p:cNvPr id="3" name="Content Placeholder 2"/>
          <p:cNvSpPr>
            <a:spLocks noGrp="1"/>
          </p:cNvSpPr>
          <p:nvPr>
            <p:ph idx="1"/>
          </p:nvPr>
        </p:nvSpPr>
        <p:spPr/>
        <p:txBody>
          <a:bodyPr/>
          <a:lstStyle/>
          <a:p>
            <a:pPr>
              <a:defRPr sz="2400"/>
            </a:pPr>
            <a:r>
              <a:t>The Common Crawl dataset, which provides web-crawled data for NLP research, consists of over 60 terabytes of data from billions of web pages, making it a valuable resource for training and benchmarking large language models. Researchers can access the Common Crawl dataset through the official website (https://commoncrawl.org/) to explore the vast amount of text data available for NLP research and model evaluation...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Role of Common Crawl in NLP Research</a:t>
            </a:r>
          </a:p>
        </p:txBody>
      </p:sp>
      <p:sp>
        <p:nvSpPr>
          <p:cNvPr id="3" name="Content Placeholder 2"/>
          <p:cNvSpPr>
            <a:spLocks noGrp="1"/>
          </p:cNvSpPr>
          <p:nvPr>
            <p:ph idx="1"/>
          </p:nvPr>
        </p:nvSpPr>
        <p:spPr/>
        <p:txBody>
          <a:bodyPr/>
          <a:lstStyle/>
          <a:p>
            <a:pPr>
              <a:defRPr sz="2400"/>
            </a:pPr>
            <a:r>
              <a:t>The Common Crawl dataset, a non-profit organization providing web-crawled data for NLP research, offers researchers access to over 60 terabytes of data from billions of web pages, serving as a valuable resource for training and benchmarking large language models in the field. Common Crawl's dataset can be accessed through their official website (https://commoncrawl...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"Pile Dataset Characteristics Overview"</a:t>
            </a:r>
          </a:p>
        </p:txBody>
      </p:sp>
      <p:sp>
        <p:nvSpPr>
          <p:cNvPr id="3" name="Content Placeholder 2"/>
          <p:cNvSpPr>
            <a:spLocks noGrp="1"/>
          </p:cNvSpPr>
          <p:nvPr>
            <p:ph idx="1"/>
          </p:nvPr>
        </p:nvSpPr>
        <p:spPr/>
        <p:txBody>
          <a:bodyPr/>
          <a:lstStyle/>
          <a:p>
            <a:pPr>
              <a:defRPr sz="2400"/>
            </a:pPr>
            <a:r>
              <a:t>The Pile dataset is a large-scale dataset specifically designed for benchmarking large language models (LLMs), containing a diverse range of text data sourced from various sources such as books, articles, and websites to provide a comprehensive coverage of text genres and styles for evaluation purposes...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"Differentiating Common Crawl and Pile Datasets"</a:t>
            </a:r>
          </a:p>
        </p:txBody>
      </p:sp>
      <p:sp>
        <p:nvSpPr>
          <p:cNvPr id="3" name="Content Placeholder 2"/>
          <p:cNvSpPr>
            <a:spLocks noGrp="1"/>
          </p:cNvSpPr>
          <p:nvPr>
            <p:ph idx="1"/>
          </p:nvPr>
        </p:nvSpPr>
        <p:spPr/>
        <p:txBody>
          <a:bodyPr/>
          <a:lstStyle/>
          <a:p>
            <a:pPr>
              <a:defRPr sz="2400"/>
            </a:pPr>
            <a:r>
              <a:t>The Pile dataset is a large-scale dataset specifically designed for benchmarking large language models (LLMs), containing a diverse range of text data sourced from various sources such as books, articles, and websites to provide a comprehensive coverage of text genres and styles for evaluation purposes...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Exploring Common Crawl Data Samples</a:t>
            </a:r>
          </a:p>
        </p:txBody>
      </p:sp>
      <p:sp>
        <p:nvSpPr>
          <p:cNvPr id="3" name="Content Placeholder 2"/>
          <p:cNvSpPr>
            <a:spLocks noGrp="1"/>
          </p:cNvSpPr>
          <p:nvPr>
            <p:ph idx="1"/>
          </p:nvPr>
        </p:nvSpPr>
        <p:spPr/>
        <p:txBody>
          <a:bodyPr/>
          <a:lstStyle/>
          <a:p>
            <a:pPr>
              <a:defRPr sz="2400"/>
            </a:pPr>
            <a:r>
              <a:t>The Pile dataset, a large-scale dataset tailored for evaluating large language models (LLMs), encompasses a wide array of text data from diverse sources like books, articles, and websites to ensure comprehensive coverage of text genres and styles for assessment purposes...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Examining Pile Dataset Diversity</a:t>
            </a:r>
          </a:p>
        </p:txBody>
      </p:sp>
      <p:sp>
        <p:nvSpPr>
          <p:cNvPr id="3" name="Content Placeholder 2"/>
          <p:cNvSpPr>
            <a:spLocks noGrp="1"/>
          </p:cNvSpPr>
          <p:nvPr>
            <p:ph idx="1"/>
          </p:nvPr>
        </p:nvSpPr>
        <p:spPr/>
        <p:txBody>
          <a:bodyPr/>
          <a:lstStyle/>
          <a:p>
            <a:pPr>
              <a:defRPr sz="2400"/>
            </a:pPr>
            <a:r>
              <a:t>The Pile dataset, a large-scale dataset tailored for evaluating large language models (LLMs), encompasses a wide array of text data from diverse sources like books, articles, and websites to ensure comprehensive coverage of text genres and styles for assessment purposes...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Training Large Language Models with Common Crawl</a:t>
            </a:r>
          </a:p>
        </p:txBody>
      </p:sp>
      <p:sp>
        <p:nvSpPr>
          <p:cNvPr id="3" name="Content Placeholder 2"/>
          <p:cNvSpPr>
            <a:spLocks noGrp="1"/>
          </p:cNvSpPr>
          <p:nvPr>
            <p:ph idx="1"/>
          </p:nvPr>
        </p:nvSpPr>
        <p:spPr/>
        <p:txBody>
          <a:bodyPr/>
          <a:lstStyle/>
          <a:p>
            <a:pPr>
              <a:defRPr sz="2400"/>
            </a:pPr>
            <a:r>
              <a:t>The Pile dataset, a large-scale dataset tailored for evaluating large language models (LLMs), encompasses a wide array of text data from diverse sources like books, articles, and websites to ensure comprehensive coverage of text genres and styles for assessment purposes...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"Pile Dataset Performance Evaluation"</a:t>
            </a:r>
          </a:p>
        </p:txBody>
      </p:sp>
      <p:sp>
        <p:nvSpPr>
          <p:cNvPr id="3" name="Content Placeholder 2"/>
          <p:cNvSpPr>
            <a:spLocks noGrp="1"/>
          </p:cNvSpPr>
          <p:nvPr>
            <p:ph idx="1"/>
          </p:nvPr>
        </p:nvSpPr>
        <p:spPr/>
        <p:txBody>
          <a:bodyPr/>
          <a:lstStyle/>
          <a:p>
            <a:pPr>
              <a:defRPr sz="2400"/>
            </a:pPr>
            <a:r>
              <a:t>The Pile dataset, a large-scale dataset tailored for evaluating large language models (LLMs), encompasses a wide array of text data from diverse sources like books, articles, and websites to ensure comprehensive coverage of text genres and styles for assessment purposes...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Real-World Applications of Common Crawl and Pile</a:t>
            </a:r>
          </a:p>
        </p:txBody>
      </p:sp>
      <p:sp>
        <p:nvSpPr>
          <p:cNvPr id="3" name="Content Placeholder 2"/>
          <p:cNvSpPr>
            <a:spLocks noGrp="1"/>
          </p:cNvSpPr>
          <p:nvPr>
            <p:ph idx="1"/>
          </p:nvPr>
        </p:nvSpPr>
        <p:spPr/>
        <p:txBody>
          <a:bodyPr/>
          <a:lstStyle/>
          <a:p>
            <a:pPr>
              <a:defRPr sz="2400"/>
            </a:pPr>
            <a:r>
              <a:t>The Pile dataset, a large-scale dataset tailored for evaluating large language models (LLMs), encompasses a wide array of text data from diverse sources like books, articles, and websites to ensure comprehensive coverage of text genres and styles for assessment purposes...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Detecting LLM-Generated Content: Advanced Detection Methods</a:t>
            </a:r>
          </a:p>
        </p:txBody>
      </p:sp>
      <p:sp>
        <p:nvSpPr>
          <p:cNvPr id="3" name="Content Placeholder 2"/>
          <p:cNvSpPr>
            <a:spLocks noGrp="1"/>
          </p:cNvSpPr>
          <p:nvPr>
            <p:ph idx="1"/>
          </p:nvPr>
        </p:nvSpPr>
        <p:spPr/>
        <p:txBody>
          <a:bodyPr/>
          <a:lstStyle/>
          <a:p>
            <a:pPr>
              <a:defRPr sz="2400"/>
            </a:pPr>
            <a:r>
              <a:t>Statistical analysis of language patterns can help detect LLM-generated content by identifying anomalies or patterns indicative of AI-generated text (Source: Towards Data Science). Examining coherence and context of text aids in identifying AI-generated content by assessing the logical flow and consistency of the generated text (Source: OpenAI)...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Challenges in Detecting LLM-Generated Content</a:t>
            </a:r>
          </a:p>
        </p:txBody>
      </p:sp>
      <p:sp>
        <p:nvSpPr>
          <p:cNvPr id="3" name="Content Placeholder 2"/>
          <p:cNvSpPr>
            <a:spLocks noGrp="1"/>
          </p:cNvSpPr>
          <p:nvPr>
            <p:ph idx="1"/>
          </p:nvPr>
        </p:nvSpPr>
        <p:spPr/>
        <p:txBody>
          <a:bodyPr/>
          <a:lstStyle/>
          <a:p>
            <a:pPr>
              <a:defRPr sz="2400"/>
            </a:pPr>
            <a:r>
              <a:t>Statistical analysis of language patterns can help detect LLM-generated content by identifying anomalies or patterns indicative of AI-generated text. For example, researchers have utilized techniques such as perplexity scores and n-gram analysis to distinguish between human and LLM-generated text effectively (Source: Towards Data Science)...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Analyzing LLM Content"</a:t>
            </a:r>
          </a:p>
        </p:txBody>
      </p:sp>
      <p:sp>
        <p:nvSpPr>
          <p:cNvPr id="3" name="Content Placeholder 2"/>
          <p:cNvSpPr>
            <a:spLocks noGrp="1"/>
          </p:cNvSpPr>
          <p:nvPr>
            <p:ph idx="1"/>
          </p:nvPr>
        </p:nvSpPr>
        <p:spPr/>
        <p:txBody>
          <a:bodyPr/>
          <a:lstStyle/>
          <a:p>
            <a:pPr>
              <a:defRPr sz="2400"/>
            </a:pPr>
            <a:r>
              <a:t>Statistical analysis of language patterns can help detect LLM-generated content by identifying anomalies or patterns indicative of AI-generated text. For example, researchers have utilized techniques such as perplexity scores and n-gram analysis to distinguish between human and LLM-generated text effectively (Source: Towards Data Science)...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Statistical Analysis of LLM-Generated Text</a:t>
            </a:r>
          </a:p>
        </p:txBody>
      </p:sp>
      <p:sp>
        <p:nvSpPr>
          <p:cNvPr id="3" name="Content Placeholder 2"/>
          <p:cNvSpPr>
            <a:spLocks noGrp="1"/>
          </p:cNvSpPr>
          <p:nvPr>
            <p:ph idx="1"/>
          </p:nvPr>
        </p:nvSpPr>
        <p:spPr/>
        <p:txBody>
          <a:bodyPr/>
          <a:lstStyle/>
          <a:p>
            <a:pPr>
              <a:defRPr sz="2400"/>
            </a:pPr>
            <a:r>
              <a:t>Statistical analysis of language patterns can help detect LLM-generated content by identifying anomalies or patterns indicative of AI-generated text. Researchers have utilized techniques such as perplexity scores and n-gram analysis to distinguish between human and LLM-generated text effectively (Source: Towards Data Science)...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Detecting LLM-Generated Content: Advanced Methods</a:t>
            </a:r>
          </a:p>
        </p:txBody>
      </p:sp>
      <p:sp>
        <p:nvSpPr>
          <p:cNvPr id="3" name="Content Placeholder 2"/>
          <p:cNvSpPr>
            <a:spLocks noGrp="1"/>
          </p:cNvSpPr>
          <p:nvPr>
            <p:ph idx="1"/>
          </p:nvPr>
        </p:nvSpPr>
        <p:spPr/>
        <p:txBody>
          <a:bodyPr/>
          <a:lstStyle/>
          <a:p>
            <a:pPr>
              <a:defRPr sz="2400"/>
            </a:pPr>
            <a:r>
              <a:t>Statistical analysis of language patterns can help detect LLM-generated content by identifying anomalies or patterns indicative of AI-generated text. Techniques such as perplexity scores and n-gram analysis have been utilized to distinguish between human and LLM-generated text effectively (Source: Towards Data Science)...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Identifying Fake News &amp; Misinformation</a:t>
            </a:r>
          </a:p>
        </p:txBody>
      </p:sp>
      <p:sp>
        <p:nvSpPr>
          <p:cNvPr id="3" name="Content Placeholder 2"/>
          <p:cNvSpPr>
            <a:spLocks noGrp="1"/>
          </p:cNvSpPr>
          <p:nvPr>
            <p:ph idx="1"/>
          </p:nvPr>
        </p:nvSpPr>
        <p:spPr/>
        <p:txBody>
          <a:bodyPr/>
          <a:lstStyle/>
          <a:p>
            <a:pPr>
              <a:defRPr sz="2400"/>
            </a:pPr>
            <a:r>
              <a:t>Statistical analysis of language patterns, such as perplexity scores and n-gram analysis, is a valuable method for detecting LLM-generated content by identifying anomalies or patterns indicative of AI-generated text (Source: Towards Data Science). Sentiment analysis can offer insights into the emotional tone of text, aiding in the identification of AI-generated content (Source: Towards Data Science)...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"Ethical Improvement in Content Moderation"</a:t>
            </a:r>
          </a:p>
        </p:txBody>
      </p:sp>
      <p:sp>
        <p:nvSpPr>
          <p:cNvPr id="3" name="Content Placeholder 2"/>
          <p:cNvSpPr>
            <a:spLocks noGrp="1"/>
          </p:cNvSpPr>
          <p:nvPr>
            <p:ph idx="1"/>
          </p:nvPr>
        </p:nvSpPr>
        <p:spPr/>
        <p:txBody>
          <a:bodyPr/>
          <a:lstStyle/>
          <a:p>
            <a:pPr>
              <a:defRPr sz="2400"/>
            </a:pPr>
            <a:r>
              <a:t>Statistical analysis of language patterns, such as perplexity scores and n-gram analysis, is a valuable method for detecting LLM-generated content by identifying anomalies or patterns indicative of AI-generated text (Source: Towards Data Science). Sentiment analysis can offer insights into the emotional tone of text, aiding in the identification of AI-generated content (Source: Towards Data Science)...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Evasion Attacks on LLM Content Detection</a:t>
            </a:r>
          </a:p>
        </p:txBody>
      </p:sp>
      <p:sp>
        <p:nvSpPr>
          <p:cNvPr id="3" name="Content Placeholder 2"/>
          <p:cNvSpPr>
            <a:spLocks noGrp="1"/>
          </p:cNvSpPr>
          <p:nvPr>
            <p:ph idx="1"/>
          </p:nvPr>
        </p:nvSpPr>
        <p:spPr/>
        <p:txBody>
          <a:bodyPr/>
          <a:lstStyle/>
          <a:p>
            <a:pPr>
              <a:defRPr sz="2400"/>
            </a:pPr>
            <a:r>
              <a:t>Evasion techniques involve crafting inputs to deceive LLM detectors into misclassifying or failing to detect generated content by exploiting vulnerabilities in model architecture and training data (Source: ArXiv)...</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"Evasion Attacks on LLM Content Detection"</a:t>
            </a:r>
          </a:p>
        </p:txBody>
      </p:sp>
      <p:sp>
        <p:nvSpPr>
          <p:cNvPr id="3" name="Content Placeholder 2"/>
          <p:cNvSpPr>
            <a:spLocks noGrp="1"/>
          </p:cNvSpPr>
          <p:nvPr>
            <p:ph idx="1"/>
          </p:nvPr>
        </p:nvSpPr>
        <p:spPr/>
        <p:txBody>
          <a:bodyPr/>
          <a:lstStyle/>
          <a:p>
            <a:pPr>
              <a:defRPr sz="2400"/>
            </a:pPr>
            <a:r>
              <a:t>Evasion techniques involve crafting inputs to deceive LLM detectors into misclassifying or failing to detect generated content by exploiting vulnerabilities in model architecture and training data (Source: ArXiv)...</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Against Evasion Attacks: Detection Strategies</a:t>
            </a:r>
          </a:p>
        </p:txBody>
      </p:sp>
      <p:sp>
        <p:nvSpPr>
          <p:cNvPr id="3" name="Content Placeholder 2"/>
          <p:cNvSpPr>
            <a:spLocks noGrp="1"/>
          </p:cNvSpPr>
          <p:nvPr>
            <p:ph idx="1"/>
          </p:nvPr>
        </p:nvSpPr>
        <p:spPr/>
        <p:txBody>
          <a:bodyPr/>
          <a:lstStyle/>
          <a:p>
            <a:pPr>
              <a:defRPr sz="2400"/>
            </a:pPr>
            <a:r>
              <a:t>Evasion attacks on language model content detection involve manipulating input data to deceive the model into misclassifying or failing to detect certain content by exploiting vulnerabilities in the model architecture and training data (Source: ArXiv)...</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Assessing Language Model Performance with GLUE Benchmark</a:t>
            </a:r>
          </a:p>
        </p:txBody>
      </p:sp>
      <p:sp>
        <p:nvSpPr>
          <p:cNvPr id="3" name="Content Placeholder 2"/>
          <p:cNvSpPr>
            <a:spLocks noGrp="1"/>
          </p:cNvSpPr>
          <p:nvPr>
            <p:ph idx="1"/>
          </p:nvPr>
        </p:nvSpPr>
        <p:spPr/>
        <p:txBody>
          <a:bodyPr/>
          <a:lstStyle/>
          <a:p>
            <a:pPr>
              <a:defRPr sz="2400"/>
            </a:pPr>
            <a:r>
              <a:t>Evasion attacks on language model content detection involve manipulating input data to deceive the model into misclassifying or failing to detect certain content by exploiting vulnerabilities in the model architecture and training data (Source: ArXiv)...</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Evaluation: NLP Task Performance</a:t>
            </a:r>
          </a:p>
        </p:txBody>
      </p:sp>
      <p:sp>
        <p:nvSpPr>
          <p:cNvPr id="3" name="Content Placeholder 2"/>
          <p:cNvSpPr>
            <a:spLocks noGrp="1"/>
          </p:cNvSpPr>
          <p:nvPr>
            <p:ph idx="1"/>
          </p:nvPr>
        </p:nvSpPr>
        <p:spPr/>
        <p:txBody>
          <a:bodyPr/>
          <a:lstStyle/>
          <a:p>
            <a:pPr>
              <a:defRPr sz="2400"/>
            </a:pPr>
            <a:r>
              <a:t>Evasion attacks on language model content detection involve manipulating input data to deceive the model into misclassifying or failing to detect certain content by exploiting vulnerabilities in the model architecture and training data. Adversaries can leverage techniques such as gradient-based methods, evolutionary algorithms, or subtle perturbations to craft inputs that appear legitimate but lead to erroneous results (Source: ArXiv)...</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Defending Against Evasion Attacks on LLMs</a:t>
            </a:r>
          </a:p>
        </p:txBody>
      </p:sp>
      <p:sp>
        <p:nvSpPr>
          <p:cNvPr id="3" name="Content Placeholder 2"/>
          <p:cNvSpPr>
            <a:spLocks noGrp="1"/>
          </p:cNvSpPr>
          <p:nvPr>
            <p:ph idx="1"/>
          </p:nvPr>
        </p:nvSpPr>
        <p:spPr/>
        <p:txBody>
          <a:bodyPr/>
          <a:lstStyle/>
          <a:p>
            <a:pPr>
              <a:defRPr sz="2400"/>
            </a:pPr>
            <a:r>
              <a:t>Evasion attacks on language model content detection involve manipulating input data to deceive the model by exploiting vulnerabilities in the model architecture and training data, leading to misclassification or failure to detect certain content (Source: ArXiv)...</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Crafting Adversarial Examples for LLM Evasion</a:t>
            </a:r>
          </a:p>
        </p:txBody>
      </p:sp>
      <p:sp>
        <p:nvSpPr>
          <p:cNvPr id="3" name="Content Placeholder 2"/>
          <p:cNvSpPr>
            <a:spLocks noGrp="1"/>
          </p:cNvSpPr>
          <p:nvPr>
            <p:ph idx="1"/>
          </p:nvPr>
        </p:nvSpPr>
        <p:spPr/>
        <p:txBody>
          <a:bodyPr/>
          <a:lstStyle/>
          <a:p>
            <a:pPr>
              <a:defRPr sz="2400"/>
            </a:pPr>
            <a:r>
              <a:t>Evasion attacks on language model content detection exploit vulnerabilities in model architecture and training data, leading to misclassification or failure to detect certain content. These attacks involve manipulating input data to deceive the model effectively (Source: ArXiv)...</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Implementing Evasion Attack Countermeasures</a:t>
            </a:r>
          </a:p>
        </p:txBody>
      </p:sp>
      <p:sp>
        <p:nvSpPr>
          <p:cNvPr id="3" name="Content Placeholder 2"/>
          <p:cNvSpPr>
            <a:spLocks noGrp="1"/>
          </p:cNvSpPr>
          <p:nvPr>
            <p:ph idx="1"/>
          </p:nvPr>
        </p:nvSpPr>
        <p:spPr/>
        <p:txBody>
          <a:bodyPr/>
          <a:lstStyle/>
          <a:p>
            <a:pPr>
              <a:defRPr sz="2400"/>
            </a:pPr>
            <a:r>
              <a:t>Countermeasures against evasion attacks on language model content detection involve implementing robust detection techniques that can identify adversarial inputs designed to fool the system...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Cybersecurity Measures</a:t>
            </a:r>
          </a:p>
        </p:txBody>
      </p:sp>
      <p:sp>
        <p:nvSpPr>
          <p:cNvPr id="3" name="Content Placeholder 2"/>
          <p:cNvSpPr>
            <a:spLocks noGrp="1"/>
          </p:cNvSpPr>
          <p:nvPr>
            <p:ph idx="1"/>
          </p:nvPr>
        </p:nvSpPr>
        <p:spPr/>
        <p:txBody>
          <a:bodyPr/>
          <a:lstStyle/>
          <a:p>
            <a:pPr>
              <a:defRPr sz="2400"/>
            </a:pPr>
            <a:r>
              <a:t>Countermeasures against evasion attacks on language model content detection involve implementing robust detection techniques that can identify adversarial inputs designed to fool the system...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Detecting LLM-Generated Content Challenges</a:t>
            </a:r>
          </a:p>
        </p:txBody>
      </p:sp>
      <p:sp>
        <p:nvSpPr>
          <p:cNvPr id="3" name="Content Placeholder 2"/>
          <p:cNvSpPr>
            <a:spLocks noGrp="1"/>
          </p:cNvSpPr>
          <p:nvPr>
            <p:ph idx="1"/>
          </p:nvPr>
        </p:nvSpPr>
        <p:spPr/>
        <p:txBody>
          <a:bodyPr/>
          <a:lstStyle/>
          <a:p>
            <a:pPr>
              <a:defRPr sz="2400"/>
            </a:pPr>
            <a:r>
              <a:t>Detecting LLM-generated content poses challenges due to highly realistic and human-like text, making it difficult for detection systems to distinguish between AI-generated and human-generated content. (Source: OpenAI) The rapid evolution of LLM technologies complicates content detection, as new advancements in language models can generate deceptive or malicious content that traditional detection methods may struggle to identify...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Watermarking LLM Content for Authenticity</a:t>
            </a:r>
          </a:p>
        </p:txBody>
      </p:sp>
      <p:sp>
        <p:nvSpPr>
          <p:cNvPr id="3" name="Content Placeholder 2"/>
          <p:cNvSpPr>
            <a:spLocks noGrp="1"/>
          </p:cNvSpPr>
          <p:nvPr>
            <p:ph idx="1"/>
          </p:nvPr>
        </p:nvSpPr>
        <p:spPr/>
        <p:txBody>
          <a:bodyPr/>
          <a:lstStyle/>
          <a:p>
            <a:pPr>
              <a:defRPr sz="2400"/>
            </a:pPr>
            <a:r>
              <a:t>Digital watermarking techniques embed imperceptible information into LLM-generated text, serving purposes such as protecting intellectual property, authenticating content source, and tracking distribution. (Source: IEEE Xplore) Spatial domain, frequency domain, and spread spectrum are common techniques used for digital watermarking in language model content to ensure authenticity and integrity...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Watermarking LLM Content for Authenticity</a:t>
            </a:r>
          </a:p>
        </p:txBody>
      </p:sp>
      <p:sp>
        <p:nvSpPr>
          <p:cNvPr id="3" name="Content Placeholder 2"/>
          <p:cNvSpPr>
            <a:spLocks noGrp="1"/>
          </p:cNvSpPr>
          <p:nvPr>
            <p:ph idx="1"/>
          </p:nvPr>
        </p:nvSpPr>
        <p:spPr/>
        <p:txBody>
          <a:bodyPr/>
          <a:lstStyle/>
          <a:p>
            <a:pPr>
              <a:defRPr sz="2400"/>
            </a:pPr>
            <a:r>
              <a:t>Digital watermarking techniques embed imperceptible information into LLM-generated text to protect intellectual property, authenticate content source, and track distribution. It is a crucial method for ensuring the authenticity and integrity of language model-generated content...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Watermarking LLM Content: Safeguarding Intellectual Property</a:t>
            </a:r>
          </a:p>
        </p:txBody>
      </p:sp>
      <p:sp>
        <p:nvSpPr>
          <p:cNvPr id="3" name="Content Placeholder 2"/>
          <p:cNvSpPr>
            <a:spLocks noGrp="1"/>
          </p:cNvSpPr>
          <p:nvPr>
            <p:ph idx="1"/>
          </p:nvPr>
        </p:nvSpPr>
        <p:spPr/>
        <p:txBody>
          <a:bodyPr/>
          <a:lstStyle/>
          <a:p>
            <a:pPr>
              <a:defRPr sz="2400"/>
            </a:pPr>
            <a:r>
              <a:t>Digital watermarking techniques involve embedding imperceptible information into LLM-generated text to protect intellectual property, authenticate content source, and track distribution. It is a crucial method for ensuring the authenticity and integrity of language model-generated content...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Invisible Watermarking Techniques for LLM Content</a:t>
            </a:r>
          </a:p>
        </p:txBody>
      </p:sp>
      <p:sp>
        <p:nvSpPr>
          <p:cNvPr id="3" name="Content Placeholder 2"/>
          <p:cNvSpPr>
            <a:spLocks noGrp="1"/>
          </p:cNvSpPr>
          <p:nvPr>
            <p:ph idx="1"/>
          </p:nvPr>
        </p:nvSpPr>
        <p:spPr/>
        <p:txBody>
          <a:bodyPr/>
          <a:lstStyle/>
          <a:p>
            <a:pPr>
              <a:defRPr sz="2400"/>
            </a:pPr>
            <a:r>
              <a:t>Digital watermarking techniques involve embedding imperceptible information into LLM-generated text to protect intellectual property, authenticate content source, and track distribution. It is a crucial method for ensuring the authenticity and integrity of language model-generated content...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Pattern-Based Watermarking Techniques for LLM Content</a:t>
            </a:r>
          </a:p>
        </p:txBody>
      </p:sp>
      <p:sp>
        <p:nvSpPr>
          <p:cNvPr id="3" name="Content Placeholder 2"/>
          <p:cNvSpPr>
            <a:spLocks noGrp="1"/>
          </p:cNvSpPr>
          <p:nvPr>
            <p:ph idx="1"/>
          </p:nvPr>
        </p:nvSpPr>
        <p:spPr/>
        <p:txBody>
          <a:bodyPr/>
          <a:lstStyle/>
          <a:p>
            <a:pPr>
              <a:defRPr sz="2400"/>
            </a:pPr>
            <a:r>
              <a:t>Digital watermarking techniques involve embedding imperceptible information into LLM-generated text to protect intellectual property, authenticate content source, and track distribution. It is a crucial method for ensuring the authenticity and integrity of language model-generated content...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Evaluating Language Models with GLUE Benchmark</a:t>
            </a:r>
          </a:p>
        </p:txBody>
      </p:sp>
      <p:sp>
        <p:nvSpPr>
          <p:cNvPr id="3" name="Content Placeholder 2"/>
          <p:cNvSpPr>
            <a:spLocks noGrp="1"/>
          </p:cNvSpPr>
          <p:nvPr>
            <p:ph idx="1"/>
          </p:nvPr>
        </p:nvSpPr>
        <p:spPr/>
        <p:txBody>
          <a:bodyPr/>
          <a:lstStyle/>
          <a:p>
            <a:pPr>
              <a:defRPr sz="2400"/>
            </a:pPr>
            <a:r>
              <a:t>The General Language Understanding Evaluation (GLUE) benchmark assesses language models on diverse natural language understanding tasks by evaluating their performance on tasks such as text classification, sentiment analysis, and question answering (Source: arXiv:1804.07461)...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Perplexity Metric in LLM Evaluation</a:t>
            </a:r>
          </a:p>
        </p:txBody>
      </p:sp>
      <p:sp>
        <p:nvSpPr>
          <p:cNvPr id="3" name="Content Placeholder 2"/>
          <p:cNvSpPr>
            <a:spLocks noGrp="1"/>
          </p:cNvSpPr>
          <p:nvPr>
            <p:ph idx="1"/>
          </p:nvPr>
        </p:nvSpPr>
        <p:spPr/>
        <p:txBody>
          <a:bodyPr/>
          <a:lstStyle/>
          <a:p>
            <a:pPr>
              <a:defRPr sz="2400"/>
            </a:pPr>
            <a:r>
              <a:t>The General Language Understanding Evaluation (GLUE) benchmark assesses language models on diverse natural language understanding tasks by evaluating their performance on tasks such as text classification, sentiment analysis, and question answering (Source: arXiv:1804.07461)...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Understanding BLEU Score in LLM Assessment</a:t>
            </a:r>
          </a:p>
        </p:txBody>
      </p:sp>
      <p:sp>
        <p:nvSpPr>
          <p:cNvPr id="3" name="Content Placeholder 2"/>
          <p:cNvSpPr>
            <a:spLocks noGrp="1"/>
          </p:cNvSpPr>
          <p:nvPr>
            <p:ph idx="1"/>
          </p:nvPr>
        </p:nvSpPr>
        <p:spPr/>
        <p:txBody>
          <a:bodyPr/>
          <a:lstStyle/>
          <a:p>
            <a:pPr>
              <a:defRPr sz="2400"/>
            </a:pPr>
            <a:r>
              <a:t>The BLEU (Bilingual Evaluation Understudy) score is a metric commonly used to evaluate the quality of machine-translated text generated by large language models (LLMs) by measuring the similarity between the generated text and a set of reference translations, with a score ranging from 0 to 1 indicating the level of match (Source: Research Paper on BLEU Score)...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ROUGE Score for LLM Evaluation</a:t>
            </a:r>
          </a:p>
        </p:txBody>
      </p:sp>
      <p:sp>
        <p:nvSpPr>
          <p:cNvPr id="3" name="Content Placeholder 2"/>
          <p:cNvSpPr>
            <a:spLocks noGrp="1"/>
          </p:cNvSpPr>
          <p:nvPr>
            <p:ph idx="1"/>
          </p:nvPr>
        </p:nvSpPr>
        <p:spPr/>
        <p:txBody>
          <a:bodyPr/>
          <a:lstStyle/>
          <a:p>
            <a:pPr>
              <a:defRPr sz="2400"/>
            </a:pPr>
            <a:r>
              <a:t>ROUGE (Recall-Oriented Understudy for Gisting Evaluation) is a set of metrics commonly used to evaluate the quality of summaries produced by natural language processing tasks, including large language models (LLMs) (Source: Paper on ROUGE Score)...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Balanced Assessment Metrics in LLM Evaluation</a:t>
            </a:r>
          </a:p>
        </p:txBody>
      </p:sp>
      <p:sp>
        <p:nvSpPr>
          <p:cNvPr id="3" name="Content Placeholder 2"/>
          <p:cNvSpPr>
            <a:spLocks noGrp="1"/>
          </p:cNvSpPr>
          <p:nvPr>
            <p:ph idx="1"/>
          </p:nvPr>
        </p:nvSpPr>
        <p:spPr/>
        <p:txBody>
          <a:bodyPr/>
          <a:lstStyle/>
          <a:p>
            <a:pPr>
              <a:defRPr sz="1200"/>
            </a:pPr>
            <a:r>
              <a:t>F1 Score combines precision and recall for a balanced assessment in LLM evaluation Accuracy measures the proportion of correctly classified instances in LLM assessment F1 Score is useful when there is an uneven class distribution in the data Accuracy is straightforward but may not be suitable for imbalanced datasets Deep learning-based approaches have shown promising results in detecting LLM-generated content, utilizing neural networks and advanc...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"Precision and Recall Metrics in LLM Assessment"</a:t>
            </a:r>
          </a:p>
        </p:txBody>
      </p:sp>
      <p:sp>
        <p:nvSpPr>
          <p:cNvPr id="3" name="Content Placeholder 2"/>
          <p:cNvSpPr>
            <a:spLocks noGrp="1"/>
          </p:cNvSpPr>
          <p:nvPr>
            <p:ph idx="1"/>
          </p:nvPr>
        </p:nvSpPr>
        <p:spPr/>
        <p:txBody>
          <a:bodyPr/>
          <a:lstStyle/>
          <a:p>
            <a:pPr>
              <a:defRPr sz="1200"/>
            </a:pPr>
            <a:r>
              <a:t>Precision measures the proportion of correctly identified positive instances among all instances identified as positive Recall measures the proportion of correctly identified positive instances among all actual positive instances F1 Score combines precision and recall for a balanced evaluation in LLM assessment Precision and recall metrics are crucial for understanding the performance of language models in classification tasks Fine-tuning strateg...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METEOR Score: Evaluating LLM Text Quality</a:t>
            </a:r>
          </a:p>
        </p:txBody>
      </p:sp>
      <p:sp>
        <p:nvSpPr>
          <p:cNvPr id="3" name="Content Placeholder 2"/>
          <p:cNvSpPr>
            <a:spLocks noGrp="1"/>
          </p:cNvSpPr>
          <p:nvPr>
            <p:ph idx="1"/>
          </p:nvPr>
        </p:nvSpPr>
        <p:spPr/>
        <p:txBody>
          <a:bodyPr/>
          <a:lstStyle/>
          <a:p>
            <a:pPr>
              <a:defRPr sz="2400"/>
            </a:pPr>
            <a:r>
              <a:t>METEOR (Metric for Evaluation of Translation with Explicit Ordering) assesses the quality of generated text by considering precision, recall, and word order in comparison to reference text. METEOR is adapted for evaluating Large Language Models (LLMs) performance and measures the similarity between generated and reference text, assigning a score based on the comparison...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Task Performance with Transfer Learning in LLMs</a:t>
            </a:r>
          </a:p>
        </p:txBody>
      </p:sp>
      <p:sp>
        <p:nvSpPr>
          <p:cNvPr id="3" name="Content Placeholder 2"/>
          <p:cNvSpPr>
            <a:spLocks noGrp="1"/>
          </p:cNvSpPr>
          <p:nvPr>
            <p:ph idx="1"/>
          </p:nvPr>
        </p:nvSpPr>
        <p:spPr/>
        <p:txBody>
          <a:bodyPr/>
          <a:lstStyle/>
          <a:p>
            <a:pPr>
              <a:defRPr sz="1200"/>
            </a:pPr>
            <a:r>
              <a:t>Transfer learning in large language models (LLMs) leverages pre-trained models on large datasets for improved task performance Fine-tuning allows for faster convergence and better performance on specific natural language processing tasks Widely adopted in NLP with transformer-based models like BERT, GPT, and XLNet Example: Fine-tuning BERT on a sentiment analysis task to improve accuracy and efficiency Continual learning in LLMs enables adaptatio...</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Optimizing LLM Performance Through Fine-Tuning</a:t>
            </a:r>
          </a:p>
        </p:txBody>
      </p:sp>
      <p:sp>
        <p:nvSpPr>
          <p:cNvPr id="3" name="Content Placeholder 2"/>
          <p:cNvSpPr>
            <a:spLocks noGrp="1"/>
          </p:cNvSpPr>
          <p:nvPr>
            <p:ph idx="1"/>
          </p:nvPr>
        </p:nvSpPr>
        <p:spPr/>
        <p:txBody>
          <a:bodyPr/>
          <a:lstStyle/>
          <a:p>
            <a:pPr>
              <a:defRPr sz="1200"/>
            </a:pPr>
            <a:r>
              <a:t>Transfer learning in large language models (LLMs) leverages pre-trained models on large datasets for improved task performance Fine-tuning allows for faster convergence and better performance on specific natural language processing tasks Widely adopted in NLP with transformer-based models like BERT, GPT, and XLNet Example: Fine-tuning BERT on a sentiment analysis task to improve accuracy and efficiency Continual learning in LLMs enables adaptatio...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Optimizing Hyperparameters for Large Language Models</a:t>
            </a:r>
          </a:p>
        </p:txBody>
      </p:sp>
      <p:sp>
        <p:nvSpPr>
          <p:cNvPr id="3" name="Content Placeholder 2"/>
          <p:cNvSpPr>
            <a:spLocks noGrp="1"/>
          </p:cNvSpPr>
          <p:nvPr>
            <p:ph idx="1"/>
          </p:nvPr>
        </p:nvSpPr>
        <p:spPr/>
        <p:txBody>
          <a:bodyPr/>
          <a:lstStyle/>
          <a:p>
            <a:pPr>
              <a:defRPr sz="1200"/>
            </a:pPr>
            <a:r>
              <a:t>Hyperparameter optimization for Large Language Models (LLMs) involves tuning parameters not learned during training Common hyperparameters include learning rate, batch size, number of layers, hidden units, and dropout rate Techniques like grid search, random search, Bayesian optimization, and evolutionary algorithms are used for optimization Optimal hyperparameter configuration maximizes performance metrics Grid search involves searching through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Continual Learning in LLMs"</a:t>
            </a:r>
          </a:p>
        </p:txBody>
      </p:sp>
      <p:sp>
        <p:nvSpPr>
          <p:cNvPr id="3" name="Content Placeholder 2"/>
          <p:cNvSpPr>
            <a:spLocks noGrp="1"/>
          </p:cNvSpPr>
          <p:nvPr>
            <p:ph idx="1"/>
          </p:nvPr>
        </p:nvSpPr>
        <p:spPr/>
        <p:txBody>
          <a:bodyPr/>
          <a:lstStyle/>
          <a:p>
            <a:pPr>
              <a:defRPr sz="2400"/>
            </a:pPr>
            <a:r>
              <a:t>Fine-tuning strategies for Large Language Models (LLMs) involve adjusting pre-trained models on specific tasks or datasets to enhance performance by modifying hyperparameters and updating specific layers based on task-specific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Interpreting Large Language Models (LLMs) - https://huggingface.co/blog/how-to-interpreting-transformers</a:t>
            </a:r>
            <a:br/>
            <a:r>
              <a:t>[1] GLUE Benchmark - https://gluebenchmark.com/</a:t>
            </a:r>
            <a:br/>
            <a:r>
              <a:t>[2] Adversarial Attacks on Large Language Models (LLMs) - https://arxiv.org/abs/2102.06799</a:t>
            </a:r>
            <a:br/>
            <a:r>
              <a:t>[3] Benefits of Multi-Task Learning with Large Language Models (LLMs) - https://arxiv.org/abs/2004.15020</a:t>
            </a:r>
            <a:br/>
            <a:r>
              <a:t>[4] Domain Adaptation for Large Language Models (LLMs) - https://www.aclweb.org/anthology/D19-1390.pdf</a:t>
            </a:r>
            <a:br/>
            <a:r>
              <a:t>[5] Multi-Task Learning with Large Language Models (LLMs) - https://arxiv.org/abs/1910.14599</a:t>
            </a:r>
            <a:br/>
            <a:r>
              <a:t>[6] Domain Adaptation for Large Language Models (LLMs) - https://arxiv.org/abs/2104.06421</a:t>
            </a:r>
            <a:br/>
            <a:r>
              <a:t>[7] Pile: A Large-scale Dataset for LLM Benchmarking - https://pile.estate/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[8] Domain Adaptation for Large Language Models (LLMs) - https://arxiv.org/abs/2104.08771</a:t>
            </a:r>
            <a:br/>
            <a:r>
              <a:t>[9] Common Crawl - https://commoncrawl.org/</a:t>
            </a:r>
            <a:br/>
            <a:r>
              <a:t>[10] METEOR Score: An Evaluation Metric for Large Language Models (LLMs) - https://www.cs.cmu.edu/~alavie/METEOR/</a:t>
            </a:r>
            <a:br/>
            <a:r>
              <a:t>[11] Wiki-40B: A Multilingual Benchmark Dataset for LLM Content Benchmarking - https://arxiv.org/abs/2104.08691</a:t>
            </a:r>
            <a:br/>
            <a:r>
              <a:t>[12] ROUGE Score: An Evaluation Metric for Large Language Models (LLMs) - https://en.wikipedia.org/wiki/ROUGE_(metric)</a:t>
            </a:r>
            <a:br/>
            <a:r>
              <a:t>[13] Methods for Detecting LLM-Generated Content - https://arxiv.org/abs/2102.06702</a:t>
            </a:r>
            <a:br/>
            <a:r>
              <a:t>[14] Transfer Learning in Large Language Models (LLMs) - https://huggingface.co/transformers/training.html#transfer-learning</a:t>
            </a:r>
            <a:br/>
            <a:r>
              <a:t>[15] BLEU Score: An Evaluation Metric for Large Language Models (LLMs) - https://en.wikipedia.org/wiki/BLEU</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[16] Evasion Techniques for Evading LLM Detectors - https://arxiv.org/abs/2105.03014</a:t>
            </a:r>
            <a:br/>
            <a:r>
              <a:t>[17] Detecting LLM-Generated Content - https://www.researchgate.net/publication/352099058_Detecting_LLM-Generated_Content_Methods_and_Challenges</a:t>
            </a:r>
            <a:br/>
            <a:r>
              <a:t>[18] Challenges in Detecting LLM-Generated Content - https://arxiv.org/abs/2102.06368</a:t>
            </a:r>
            <a:br/>
            <a:r>
              <a:t>[19] Addressing Bias and Fairness in Large Language Model Content - https://arxiv.org/abs/2109.02079</a:t>
            </a:r>
            <a:br/>
            <a:r>
              <a:t>[20] Evaluation Metrics for Large Language Models (LLMs) - https://www.aclweb.org/anthology/2021.acl-tutorials.4/</a:t>
            </a:r>
            <a:br/>
            <a:r>
              <a:t>[21] Addressing Bias and Fairness in Large Language Model Content - https://arxiv.org/abs/2105.04026</a:t>
            </a:r>
            <a:br/>
            <a:r>
              <a:t>[22] Interpretability of Large Language Models (LLMs) - https://arxiv.org/abs/2104.08750</a:t>
            </a:r>
            <a:br/>
            <a:r>
              <a:t>[23] Strategies for Detecting LLM-Generated Content - https://arxiv.org/abs/2106.04313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[24] Privacy Concerns in Large Language Model (LLM) Development - https://www.researchgate.net/publication/354354531_Privacy_Concerns_in_Large_Language_Model_LLM_Development</a:t>
            </a:r>
            <a:br/>
            <a:r>
              <a:t>[25] Continual Learning with Large Language Models (LLMs): Techniques and Challenges - https://arxiv.org/abs/2105.10376</a:t>
            </a:r>
            <a:br/>
            <a:r>
              <a:t>[26] Evasion Attacks on Language Model Content Detection - https://arxiv.org/abs/2006.04274</a:t>
            </a:r>
            <a:br/>
            <a:r>
              <a:t>[27] Hyperparameter Optimization Techniques for Large Language Models (LLMs) - https://towardsdatascience.com/hyperparameter-optimization-techniques-in-deep-learning-4dad592c63c8</a:t>
            </a:r>
            <a:br/>
            <a:r>
              <a:t>[28] Generating Adversarial Attacks on Large Language Models (LLMs) - https://arxiv.org/abs/2104.07433</a:t>
            </a:r>
            <a:br/>
            <a:r>
              <a:t>[29] Interpretability of Large Language Models (LLMs) - https://huggingface.co/blog/the-promise-of-interpretable-large-language-models</a:t>
            </a:r>
            <a:br/>
            <a:r>
              <a:t>[30] Hyperparameter Optimization for Large Language Models (LLMs) - https://arxiv.org/abs/2106.10789</a:t>
            </a:r>
            <a:br/>
            <a:r>
              <a:t>[31] Countermeasures against Evasion Attacks on Language Model Content Detection - https://arxiv.org/abs/2101.02170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[32] Adversarial Attacks on Language Models for Evading Detection - https://arxiv.org/abs/2103.11943</a:t>
            </a:r>
            <a:br/>
            <a:r>
              <a:t>[33] Continual Learning with Large Language Models (LLMs): Techniques and Challenges - https://www.frontiersin.org/articles/10.3389/frai.2021.619023/full</a:t>
            </a:r>
            <a:br/>
            <a:r>
              <a:t>[34] Digital Watermarking Techniques for Language Model Content - https://ieeexplore.ieee.org/document/4509057</a:t>
            </a:r>
            <a:br/>
            <a:r>
              <a:t>[35] Digital Watermarking Techniques for Language Model Content - https://www.sciencedirect.com/science/article/abs/pii/S1566253512000621</a:t>
            </a:r>
            <a:br/>
            <a:r>
              <a:t>[36] Digital Watermarking Techniques for Language Model Content - https://ieeexplore.ieee.org/document/7983402</a:t>
            </a:r>
            <a:br/>
            <a:r>
              <a:t>[37] Watermarking Language Model Content: Techniques and Applications - https://ieeexplore.ieee.org/document/8485256</a:t>
            </a:r>
            <a:br/>
            <a:r>
              <a:t>[38] Continual Learning with Large Language Models (LLMs): Techniques and Challenges - https://arxiv.org/abs/2104.08868</a:t>
            </a:r>
            <a:br/>
            <a:r>
              <a:t>[39] Benefits of Multi-Task Learning with Large Language Models (LLMs) - https://arxiv.org/abs/1810.04805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[40] Interpreting Large Language Models (LLMs) - https://huggingface.co/blog/interpreting-transformers</a:t>
            </a:r>
            <a:br/>
            <a:r>
              <a:t>[41] BLEU Score: An Evaluation Metric for Large Language Models (LLMs) - https://en.wikipedia.org/wiki/BLEU</a:t>
            </a:r>
            <a:br/>
            <a:r>
              <a:t>[42] Transfer Learning in Large Language Models (LLMs) - https://huggingface.co/transformers/training.html#transfer-learning</a:t>
            </a:r>
            <a:br/>
            <a:r>
              <a:t>[43] Deep Learning-Based Approaches for LLM-Content Detection - https://arxiv.org/abs/2104.05607</a:t>
            </a:r>
            <a:br/>
            <a:r>
              <a:t>[44] Fine-Tuning Strategies for Large Language Models (LLMs) - https://huggingface.co/blog/fine-tuning-in-transformers</a:t>
            </a:r>
            <a:br/>
            <a:r>
              <a:t>[45] Transfer Learning in Large Language Models (LLMs) - https://huggingface.co/transformers/training.html#transfer-learning</a:t>
            </a:r>
            <a:br/>
            <a:r>
              <a:t>[46] Benefits of Continual Learning with Large Language Models (LLMs) - https://arxiv.org/abs/2106.12009</a:t>
            </a:r>
            <a:br/>
            <a:r>
              <a:t>[47] Adversarial Attacks on Language Models for Evading Detection - https://arxiv.org/abs/2010.12802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2400"/>
            </a:pPr>
            <a:r>
              <a:t>[48] Hyperparameter Optimization Techniques for Large Language Models (LLMs) - https://arxiv.org/abs/2106.11539</a:t>
            </a:r>
            <a:br/>
            <a:r>
              <a:t>[49] Fine-Tuning Strategies for Large Language Models (LLMs) - https://huggingface.co/transformers/master/training.html#fine-tuning-strategies-for-large-models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