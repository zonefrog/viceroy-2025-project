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Enhancing LLM Content Generation and Detection: Strategies, Techniques, and Benchmarks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Importance of Benchmark Datasets in LLM Content Generation</a:t>
            </a:r>
          </a:p>
        </p:txBody>
      </p:sp>
      <p:sp>
        <p:nvSpPr>
          <p:cNvPr id="3" name="Content Placeholder 2"/>
          <p:cNvSpPr>
            <a:spLocks noGrp="1"/>
          </p:cNvSpPr>
          <p:nvPr>
            <p:ph idx="1"/>
          </p:nvPr>
        </p:nvSpPr>
        <p:spPr/>
        <p:txBody>
          <a:bodyPr/>
          <a:lstStyle/>
          <a:p>
            <a:pPr>
              <a:defRPr sz="2400"/>
            </a:pPr>
            <a:r>
              <a:t>Importance of Benchmark Datasets in LLM Content Generation Content Theme: Benchmark datasets are essential for evaluating the performance of Large Language Models (LLMs) in content generation tasks. They provide standardized data for training and testing LLM models for tasks like language modeling, text generation, and summarization...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Overview of COCO Dataset for Image Captioning</a:t>
            </a:r>
          </a:p>
        </p:txBody>
      </p:sp>
      <p:sp>
        <p:nvSpPr>
          <p:cNvPr id="3" name="Content Placeholder 2"/>
          <p:cNvSpPr>
            <a:spLocks noGrp="1"/>
          </p:cNvSpPr>
          <p:nvPr>
            <p:ph idx="1"/>
          </p:nvPr>
        </p:nvSpPr>
        <p:spPr/>
        <p:txBody>
          <a:bodyPr/>
          <a:lstStyle/>
          <a:p>
            <a:pPr>
              <a:defRPr sz="1200"/>
            </a:pPr>
            <a:r>
              <a:t>Overview of COCO Dataset for Image Captioning Content Theme: COCO (Common Objects in Context) dataset is a widely used benchmark dataset for image captioning tasks, pairing images with human-generated descriptions. WikiText-103 contains over 100 million tokens extracted from Wikipedia articles, commonly used for language modeling. BookCorpus is a large collection of book passages used for text generation tasks...</a:t>
            </a:r>
            <a:br/>
            <a:br/>
            <a:r>
              <a:t>Sources: [0]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Text Data with C4 and OpenWebText</a:t>
            </a:r>
          </a:p>
        </p:txBody>
      </p:sp>
      <p:sp>
        <p:nvSpPr>
          <p:cNvPr id="3" name="Content Placeholder 2"/>
          <p:cNvSpPr>
            <a:spLocks noGrp="1"/>
          </p:cNvSpPr>
          <p:nvPr>
            <p:ph idx="1"/>
          </p:nvPr>
        </p:nvSpPr>
        <p:spPr/>
        <p:txBody>
          <a:bodyPr/>
          <a:lstStyle/>
          <a:p>
            <a:pPr>
              <a:defRPr sz="1200"/>
            </a:pPr>
            <a:r>
              <a:t>Analyzing Text Data with C4 and OpenWebText Datasets Content Theme: C4 dataset contains over 750GB of text data for benchmarking LLM-content generation OpenWebText dataset consists of web pages scraped from the internet These datasets are commonly used to evaluate the performance of LLM models in generating coherent and contextually relevant text Researchers leverage these datasets to assess the capabilities of LLM models and compare their perfor...</a:t>
            </a:r>
            <a:br/>
            <a:br/>
            <a:r>
              <a:t>Sources: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Importance of Common Benchmark Datasets in LLM Research</a:t>
            </a:r>
          </a:p>
        </p:txBody>
      </p:sp>
      <p:sp>
        <p:nvSpPr>
          <p:cNvPr id="3" name="Content Placeholder 2"/>
          <p:cNvSpPr>
            <a:spLocks noGrp="1"/>
          </p:cNvSpPr>
          <p:nvPr>
            <p:ph idx="1"/>
          </p:nvPr>
        </p:nvSpPr>
        <p:spPr/>
        <p:txBody>
          <a:bodyPr/>
          <a:lstStyle/>
          <a:p>
            <a:pPr>
              <a:defRPr sz="1200"/>
            </a:pPr>
            <a:r>
              <a:t>Significance of Common Benchmark Datasets in Research Importance of Common Benchmark Datasets in LLM Research Content Theme: Benchmark datasets are essential for evaluating the performance of LLM models in content generation tasks They provide standardized data for training and testing LLM models for tasks like language modeling, text generation, and summarization Common benchmark datasets include COCO, WikiText-103, and BookCorpus, widely used f...</a:t>
            </a:r>
            <a:br/>
            <a:br/>
            <a:r>
              <a:t>Sources: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Dataset Diversity on Model Performance</a:t>
            </a:r>
          </a:p>
        </p:txBody>
      </p:sp>
      <p:sp>
        <p:nvSpPr>
          <p:cNvPr id="3" name="Content Placeholder 2"/>
          <p:cNvSpPr>
            <a:spLocks noGrp="1"/>
          </p:cNvSpPr>
          <p:nvPr>
            <p:ph idx="1"/>
          </p:nvPr>
        </p:nvSpPr>
        <p:spPr/>
        <p:txBody>
          <a:bodyPr/>
          <a:lstStyle/>
          <a:p>
            <a:pPr>
              <a:defRPr sz="1200"/>
            </a:pPr>
            <a:r>
              <a:t>Impact of Dataset Diversity on Model Performance Content Theme: Benchmark datasets are essential for evaluating the performance of Large Language Models (LLMs) in content generation tasks They provide standardized data for training and testing LLM models for tasks like language modeling, text generation, and summarization Common benchmark datasets include COCO, WikiText-103, and BookCorpus, widely used for evaluating LLMs C4 dataset contains over...</a:t>
            </a:r>
            <a:br/>
            <a:br/>
            <a:r>
              <a:t>Sources: [3]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Advanced Techniques in LLM-Content Detection</a:t>
            </a:r>
          </a:p>
        </p:txBody>
      </p:sp>
      <p:sp>
        <p:nvSpPr>
          <p:cNvPr id="3" name="Content Placeholder 2"/>
          <p:cNvSpPr>
            <a:spLocks noGrp="1"/>
          </p:cNvSpPr>
          <p:nvPr>
            <p:ph idx="1"/>
          </p:nvPr>
        </p:nvSpPr>
        <p:spPr/>
        <p:txBody>
          <a:bodyPr/>
          <a:lstStyle/>
          <a:p>
            <a:pPr>
              <a:defRPr sz="2400"/>
            </a:pPr>
            <a:r>
              <a:t>Techniques for LLM-Content Detection Advanced Techniques in LLM-Content Detection Content Theme: LLM-content detection involves using various methods, techniques, and algorithms to identify content generated by large language models. Common approaches include analyzing statistical patterns, detecting anomalies in text generation, and comparing against known datasets...</a:t>
            </a:r>
            <a:br/>
            <a:br/>
            <a:r>
              <a:t>Sources: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Statistical Patterns in LLM Content Detection</a:t>
            </a:r>
          </a:p>
        </p:txBody>
      </p:sp>
      <p:sp>
        <p:nvSpPr>
          <p:cNvPr id="3" name="Content Placeholder 2"/>
          <p:cNvSpPr>
            <a:spLocks noGrp="1"/>
          </p:cNvSpPr>
          <p:nvPr>
            <p:ph idx="1"/>
          </p:nvPr>
        </p:nvSpPr>
        <p:spPr/>
        <p:txBody>
          <a:bodyPr/>
          <a:lstStyle/>
          <a:p>
            <a:pPr>
              <a:defRPr sz="1200"/>
            </a:pPr>
            <a:r>
              <a:t>Exploring Statistical Patterns for Content Detection Statistical Patterns in LLM Content Detection Content Theme: Analyzing statistical patterns is a common approach for content detection in large language models (LLMs) Detecting anomalies in text generation helps identify content that may not align with expected patterns Comparing against known datasets can aid in determining if the generated content is coherent and contextually relevant Natural...</a:t>
            </a:r>
            <a:br/>
            <a:br/>
            <a:r>
              <a:t>Sources: [5]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Anomalies in LLM-Generated Content</a:t>
            </a:r>
          </a:p>
        </p:txBody>
      </p:sp>
      <p:sp>
        <p:nvSpPr>
          <p:cNvPr id="3" name="Content Placeholder 2"/>
          <p:cNvSpPr>
            <a:spLocks noGrp="1"/>
          </p:cNvSpPr>
          <p:nvPr>
            <p:ph idx="1"/>
          </p:nvPr>
        </p:nvSpPr>
        <p:spPr/>
        <p:txBody>
          <a:bodyPr/>
          <a:lstStyle/>
          <a:p>
            <a:pPr>
              <a:defRPr sz="1200"/>
            </a:pPr>
            <a:r>
              <a:t>Detecting Anomalies in LLM-Generated Content Content Theme: Anomaly detection in LLM-generated content helps identify unusual or unexpected patterns Detecting anomalies can flag content that deviates from expected norms Techniques involve analyzing statistical patterns, detecting unusual text generation, and comparing against known datasets Commonly used methods include natural language processing tools and machine learning models Teaching Outlin...</a:t>
            </a:r>
            <a:br/>
            <a:br/>
            <a:r>
              <a:t>Sources: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LLM Performance with Benchmark Datasets</a:t>
            </a:r>
          </a:p>
        </p:txBody>
      </p:sp>
      <p:sp>
        <p:nvSpPr>
          <p:cNvPr id="3" name="Content Placeholder 2"/>
          <p:cNvSpPr>
            <a:spLocks noGrp="1"/>
          </p:cNvSpPr>
          <p:nvPr>
            <p:ph idx="1"/>
          </p:nvPr>
        </p:nvSpPr>
        <p:spPr/>
        <p:txBody>
          <a:bodyPr/>
          <a:lstStyle/>
          <a:p>
            <a:pPr>
              <a:defRPr sz="1200"/>
            </a:pPr>
            <a:r>
              <a:t>Content Theme: Common benchmark datasets for LLM-content generation include COCO, WikiText-103, and BookCorpus These datasets are used to train and test LLM models for tasks like language modeling and text generation Benchmark datasets ensure standardized evaluation of LLM performance Researchers rely on these datasets to compare the effectiveness of different LLM models Teaching Outline Context: Week 1: Benchmarking Datasets and LLM-Content Gene...</a:t>
            </a:r>
            <a:br/>
            <a:br/>
            <a:r>
              <a:t>Sources: [7]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Sophisticated Techniques for LLM Detection</a:t>
            </a:r>
          </a:p>
        </p:txBody>
      </p:sp>
      <p:sp>
        <p:nvSpPr>
          <p:cNvPr id="3" name="Content Placeholder 2"/>
          <p:cNvSpPr>
            <a:spLocks noGrp="1"/>
          </p:cNvSpPr>
          <p:nvPr>
            <p:ph idx="1"/>
          </p:nvPr>
        </p:nvSpPr>
        <p:spPr/>
        <p:txBody>
          <a:bodyPr/>
          <a:lstStyle/>
          <a:p>
            <a:pPr>
              <a:defRPr sz="1200"/>
            </a:pPr>
            <a:r>
              <a:t>Content Theme: {• Advanced techniques for LLM-content detection involve sophisticated machine learning and deep learning algorithms • These methods go beyond simple keyword matching and rule-based approaches • By leveraging neural networks and advanced statistical models, researchers can improve accuracy and efficiency in detecting LLM-generated content} Teaching Outline Context: {Week 2: Evading LLM Detectors and Watermarking LLM Content Topic 3...</a:t>
            </a:r>
            <a:br/>
            <a:br/>
            <a:r>
              <a:t>Sources: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to Evade LLM Detectors</a:t>
            </a:r>
          </a:p>
        </p:txBody>
      </p:sp>
      <p:sp>
        <p:nvSpPr>
          <p:cNvPr id="3" name="Content Placeholder 2"/>
          <p:cNvSpPr>
            <a:spLocks noGrp="1"/>
          </p:cNvSpPr>
          <p:nvPr>
            <p:ph idx="1"/>
          </p:nvPr>
        </p:nvSpPr>
        <p:spPr/>
        <p:txBody>
          <a:bodyPr/>
          <a:lstStyle/>
          <a:p>
            <a:pPr>
              <a:defRPr sz="1200"/>
            </a:pPr>
            <a:r>
              <a:t>Strategies to Evade LLM Detectors Content Theme: Evasion attacks on language models involve crafting input samples to deceive the model into making incorrect predictions Adversarial examples are a common form of evasion attack, adding imperceptible perturbations to input samples Strategies to evade LLM detectors include introducing subtle changes, using adversarial examples, and obfuscation techniques Adversarial training and fine-tuning can make...</a:t>
            </a:r>
            <a:br/>
            <a:br/>
            <a:r>
              <a:t>Sources: [9]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"Bypassing Detection: Adding Noise to Content"</a:t>
            </a:r>
          </a:p>
        </p:txBody>
      </p:sp>
      <p:sp>
        <p:nvSpPr>
          <p:cNvPr id="3" name="Content Placeholder 2"/>
          <p:cNvSpPr>
            <a:spLocks noGrp="1"/>
          </p:cNvSpPr>
          <p:nvPr>
            <p:ph idx="1"/>
          </p:nvPr>
        </p:nvSpPr>
        <p:spPr/>
        <p:txBody>
          <a:bodyPr/>
          <a:lstStyle/>
          <a:p>
            <a:pPr>
              <a:defRPr sz="1200"/>
            </a:pPr>
            <a:r>
              <a:t>Adding Noise to Bypass Content Detection Content Theme: Adding noise to generated content can help evade content detection mechanisms By introducing subtle changes like noise, the content can appear more natural and human-like This technique is commonly used to bypass detection systems and make generated content less distinguishable from human-generated text Adding noise is a strategy employed by malicious actors to evade detection and spread mis...</a:t>
            </a:r>
            <a:br/>
            <a:br/>
            <a:r>
              <a:t>Sources: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"Evasion Strategy: Adding Noise for Natural Text Appearance"</a:t>
            </a:r>
          </a:p>
        </p:txBody>
      </p:sp>
      <p:sp>
        <p:nvSpPr>
          <p:cNvPr id="3" name="Content Placeholder 2"/>
          <p:cNvSpPr>
            <a:spLocks noGrp="1"/>
          </p:cNvSpPr>
          <p:nvPr>
            <p:ph idx="1"/>
          </p:nvPr>
        </p:nvSpPr>
        <p:spPr/>
        <p:txBody>
          <a:bodyPr/>
          <a:lstStyle/>
          <a:p>
            <a:pPr>
              <a:defRPr sz="1200"/>
            </a:pPr>
            <a:r>
              <a:t>Introducing Subtle Changes in LLM-Generated Text Evasion Strategy: Adding Noise for Natural Text Appearance Content Theme: Introducing subtle changes in LLM-generated text can help evade content detection mechanisms By adding noise to the content, it can appear more natural and human-like This technique is commonly used to bypass detection systems and make content less distinguishable from human-generated text Malicious actors may employ this str...</a:t>
            </a:r>
            <a:br/>
            <a:br/>
            <a:r>
              <a:t>Sources: [11]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"Synonyms &amp; Paraphrasing for Evasion in LLM Content"</a:t>
            </a:r>
          </a:p>
        </p:txBody>
      </p:sp>
      <p:sp>
        <p:nvSpPr>
          <p:cNvPr id="3" name="Content Placeholder 2"/>
          <p:cNvSpPr>
            <a:spLocks noGrp="1"/>
          </p:cNvSpPr>
          <p:nvPr>
            <p:ph idx="1"/>
          </p:nvPr>
        </p:nvSpPr>
        <p:spPr/>
        <p:txBody>
          <a:bodyPr/>
          <a:lstStyle/>
          <a:p>
            <a:pPr>
              <a:defRPr sz="1200"/>
            </a:pPr>
            <a:r>
              <a:t>Content Theme: Using synonyms and paraphrasing can help evade LLM detectors by altering the wording of generated text This evasion technique involves substituting words with similar meanings to make the content less detectable By paraphrasing sentences and using synonyms, the generated text can appear more natural and human-like Malicious actors may employ this strategy to bypass content detection systems and distribute misleading or harmful info...</a:t>
            </a:r>
            <a:br/>
            <a:br/>
            <a:r>
              <a:t>Sources: [12]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"Confusing Detectors with Text Structure Modifications"</a:t>
            </a:r>
          </a:p>
        </p:txBody>
      </p:sp>
      <p:sp>
        <p:nvSpPr>
          <p:cNvPr id="3" name="Content Placeholder 2"/>
          <p:cNvSpPr>
            <a:spLocks noGrp="1"/>
          </p:cNvSpPr>
          <p:nvPr>
            <p:ph idx="1"/>
          </p:nvPr>
        </p:nvSpPr>
        <p:spPr/>
        <p:txBody>
          <a:bodyPr/>
          <a:lstStyle/>
          <a:p>
            <a:pPr>
              <a:defRPr sz="1200"/>
            </a:pPr>
            <a:r>
              <a:t>Content Theme: Modifying text structure can confuse detectors by altering the organization of sentences and paragraphs Changing sentence order, introducing random breaks, or rearranging clauses can disrupt the flow of text This technique aims to make the generated content less predictable and harder for detectors to analyze By modifying the text structure, malicious actors can attempt to evade detection and spread misleading information Teaching ...</a:t>
            </a:r>
            <a:br/>
            <a:br/>
            <a:r>
              <a:t>Sources: [13]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Sophisticated Techniques in LLM Detection</a:t>
            </a:r>
          </a:p>
        </p:txBody>
      </p:sp>
      <p:sp>
        <p:nvSpPr>
          <p:cNvPr id="3" name="Content Placeholder 2"/>
          <p:cNvSpPr>
            <a:spLocks noGrp="1"/>
          </p:cNvSpPr>
          <p:nvPr>
            <p:ph idx="1"/>
          </p:nvPr>
        </p:nvSpPr>
        <p:spPr/>
        <p:txBody>
          <a:bodyPr/>
          <a:lstStyle/>
          <a:p>
            <a:pPr>
              <a:defRPr sz="1200"/>
            </a:pPr>
            <a:r>
              <a:t>Techniques for Adversarial Examples in Evasion Attacks Content Theme: Advanced techniques for LLM-content detection involve sophisticated machine learning and deep learning algorithms These methods go beyond simple keyword matching to identify deceptive or misleading content generated by large language models Leveraging neural networks and advanced statistical models improves accuracy and efficiency in detecting LLM-generated content Link: https:...</a:t>
            </a:r>
            <a:br/>
            <a:br/>
            <a:r>
              <a:t>Sources: [14]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Defense Strategies Against Evasion Attacks</a:t>
            </a:r>
          </a:p>
        </p:txBody>
      </p:sp>
      <p:sp>
        <p:nvSpPr>
          <p:cNvPr id="3" name="Content Placeholder 2"/>
          <p:cNvSpPr>
            <a:spLocks noGrp="1"/>
          </p:cNvSpPr>
          <p:nvPr>
            <p:ph idx="1"/>
          </p:nvPr>
        </p:nvSpPr>
        <p:spPr/>
        <p:txBody>
          <a:bodyPr/>
          <a:lstStyle/>
          <a:p>
            <a:pPr>
              <a:defRPr sz="1200"/>
            </a:pPr>
            <a:r>
              <a:t>Defense Strategies Against Evasion Attacks Content Theme: Evasion attacks involve crafting inputs misclassified by language models, creating security vulnerabilities Defense mechanisms include adversarial training, input preprocessing, and ensemble methods Adversarial training during model training enhances resilience against attacks Input preprocessing techniques like data augmentation and noise injection make models more robust Link: https://ar...</a:t>
            </a:r>
            <a:br/>
            <a:br/>
            <a:r>
              <a:t>Sources: [15]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Implementing Text Analysis Techniques for Detection</a:t>
            </a:r>
          </a:p>
        </p:txBody>
      </p:sp>
      <p:sp>
        <p:nvSpPr>
          <p:cNvPr id="3" name="Content Placeholder 2"/>
          <p:cNvSpPr>
            <a:spLocks noGrp="1"/>
          </p:cNvSpPr>
          <p:nvPr>
            <p:ph idx="1"/>
          </p:nvPr>
        </p:nvSpPr>
        <p:spPr/>
        <p:txBody>
          <a:bodyPr/>
          <a:lstStyle/>
          <a:p>
            <a:pPr>
              <a:defRPr sz="1200"/>
            </a:pPr>
            <a:r>
              <a:t>Implementing Text Analysis Techniques for Detection Content Theme: Text analysis techniques are essential for detecting LLM-generated content Analyzing statistical patterns, detecting anomalies, and comparing against known datasets are common methods Natural language processing tools and machine learning models play a crucial role in content detection These techniques help identify deceptive or misleading content generated by large language model...</a:t>
            </a:r>
            <a:br/>
            <a:br/>
            <a:r>
              <a:t>Sources: [16]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Exploring Machine Learning Algorithms for Detection</a:t>
            </a:r>
          </a:p>
        </p:txBody>
      </p:sp>
      <p:sp>
        <p:nvSpPr>
          <p:cNvPr id="3" name="Content Placeholder 2"/>
          <p:cNvSpPr>
            <a:spLocks noGrp="1"/>
          </p:cNvSpPr>
          <p:nvPr>
            <p:ph idx="1"/>
          </p:nvPr>
        </p:nvSpPr>
        <p:spPr/>
        <p:txBody>
          <a:bodyPr/>
          <a:lstStyle/>
          <a:p>
            <a:pPr>
              <a:defRPr sz="1200"/>
            </a:pPr>
            <a:r>
              <a:t>Exploring Machine Learning Algorithms for Detection Content Theme: Deep learning approaches have shown promise in LLM-content detection Neural networks and machine learning techniques are utilized to develop effective detection models Models analyze patterns and inconsistencies in text to flag potential LLM-generated content Recurrent neural networks (RNNs) and convolutional neural networks (CNNs) have been successful in this task Teaching Outlin...</a:t>
            </a:r>
            <a:br/>
            <a:br/>
            <a:r>
              <a:t>Sources: [17]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Testing Evasion Strategies for LLM Detection</a:t>
            </a:r>
          </a:p>
        </p:txBody>
      </p:sp>
      <p:sp>
        <p:nvSpPr>
          <p:cNvPr id="3" name="Content Placeholder 2"/>
          <p:cNvSpPr>
            <a:spLocks noGrp="1"/>
          </p:cNvSpPr>
          <p:nvPr>
            <p:ph idx="1"/>
          </p:nvPr>
        </p:nvSpPr>
        <p:spPr/>
        <p:txBody>
          <a:bodyPr/>
          <a:lstStyle/>
          <a:p>
            <a:pPr>
              <a:defRPr sz="1200"/>
            </a:pPr>
            <a:r>
              <a:t>Designing Evasion Strategies to Test Detection Testing Evasion Strategies for LLM Detection Content Theme: Evasion strategies aim to test the effectiveness of LLM-content detection mechanisms Crafting inputs misclassified by LLMs can reveal vulnerabilities in detection systems Adversarial training, input preprocessing, and ensemble methods are key defense mechanisms Testing evasion strategies helps improve detection models and enhance overall sec...</a:t>
            </a:r>
            <a:br/>
            <a:br/>
            <a:r>
              <a:t>Sources: [18]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Evasion Strategies with Noise in LLM Detection</a:t>
            </a:r>
          </a:p>
        </p:txBody>
      </p:sp>
      <p:sp>
        <p:nvSpPr>
          <p:cNvPr id="3" name="Content Placeholder 2"/>
          <p:cNvSpPr>
            <a:spLocks noGrp="1"/>
          </p:cNvSpPr>
          <p:nvPr>
            <p:ph idx="1"/>
          </p:nvPr>
        </p:nvSpPr>
        <p:spPr/>
        <p:txBody>
          <a:bodyPr/>
          <a:lstStyle/>
          <a:p>
            <a:pPr>
              <a:defRPr sz="1200"/>
            </a:pPr>
            <a:r>
              <a:t>Evasion Strategies with Noise in LLM Detection Content Theme: Evading LLM detectors involves various strategies and techniques to bypass detection mechanisms Common evasion approaches include adding noise, modifying text structure, using synonyms, and obfuscation Adversarial examples and subtle changes can deceive language models Adversarial training and fine-tuning can make generated content indistinguishable from human-written text Teaching Out...</a:t>
            </a:r>
            <a:br/>
            <a:br/>
            <a:r>
              <a:t>Sources: [19]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"Effect of Noise on LLM Detection"</a:t>
            </a:r>
          </a:p>
        </p:txBody>
      </p:sp>
      <p:sp>
        <p:nvSpPr>
          <p:cNvPr id="3" name="Content Placeholder 2"/>
          <p:cNvSpPr>
            <a:spLocks noGrp="1"/>
          </p:cNvSpPr>
          <p:nvPr>
            <p:ph idx="1"/>
          </p:nvPr>
        </p:nvSpPr>
        <p:spPr/>
        <p:txBody>
          <a:bodyPr/>
          <a:lstStyle/>
          <a:p>
            <a:pPr>
              <a:defRPr sz="1200"/>
            </a:pPr>
            <a:r>
              <a:t>Impact of Noise Addition on Detection Mechanisms Effect of Noise on LLM Detection Content Theme: Adding noise to LLM-generated content can impact detection mechanisms Noise injection can alter statistical patterns and make content harder to detect Noise addition is a common evasion strategy to evade LLM detectors Impact of noise on detection mechanisms highlights the need for robust detection strategies Teaching Outline Context: Week 2: Evading L...</a:t>
            </a:r>
            <a:br/>
            <a:br/>
            <a:r>
              <a:t>Sources: [20]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Implementing Defense Mechanisms for Protection</a:t>
            </a:r>
          </a:p>
        </p:txBody>
      </p:sp>
      <p:sp>
        <p:nvSpPr>
          <p:cNvPr id="3" name="Content Placeholder 2"/>
          <p:cNvSpPr>
            <a:spLocks noGrp="1"/>
          </p:cNvSpPr>
          <p:nvPr>
            <p:ph idx="1"/>
          </p:nvPr>
        </p:nvSpPr>
        <p:spPr/>
        <p:txBody>
          <a:bodyPr/>
          <a:lstStyle/>
          <a:p>
            <a:pPr>
              <a:defRPr sz="1200"/>
            </a:pPr>
            <a:r>
              <a:t>Implementing Defense Mechanisms for Protection Content Theme: Defense mechanisms are crucial for protecting against adversarial attacks on LLM-generated content Adversarial training during model training enhances resilience against attacks Input preprocessing techniques like data augmentation and noise injection make models more robust Regularly updating model parameters and monitoring performance aids in detecting and mitigating attacks Teaching...</a:t>
            </a:r>
            <a:br/>
            <a:br/>
            <a:r>
              <a:t>Sources: [21]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Crafting Adversarial Examples to Evade Detection</a:t>
            </a:r>
          </a:p>
        </p:txBody>
      </p:sp>
      <p:sp>
        <p:nvSpPr>
          <p:cNvPr id="3" name="Content Placeholder 2"/>
          <p:cNvSpPr>
            <a:spLocks noGrp="1"/>
          </p:cNvSpPr>
          <p:nvPr>
            <p:ph idx="1"/>
          </p:nvPr>
        </p:nvSpPr>
        <p:spPr/>
        <p:txBody>
          <a:bodyPr/>
          <a:lstStyle/>
          <a:p>
            <a:pPr>
              <a:defRPr sz="1200"/>
            </a:pPr>
            <a:r>
              <a:t>Crafting Adversarial Examples to Evade Detection Content Theme: Adversarial examples are crafted to deceive language models into making incorrect predictions Imperceptible perturbations in input samples can lead to misclassification by the model Evasion attacks exploit vulnerabilities in the model's decision-making process Adversarial examples can be used to evade detection or manipulate the model's output Teaching Outline Context: Week 2: Evadin...</a:t>
            </a:r>
            <a:br/>
            <a:br/>
            <a:r>
              <a:t>Sources: [22]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Impact of Noise in Evasion Attacks</a:t>
            </a:r>
          </a:p>
        </p:txBody>
      </p:sp>
      <p:sp>
        <p:nvSpPr>
          <p:cNvPr id="3" name="Content Placeholder 2"/>
          <p:cNvSpPr>
            <a:spLocks noGrp="1"/>
          </p:cNvSpPr>
          <p:nvPr>
            <p:ph idx="1"/>
          </p:nvPr>
        </p:nvSpPr>
        <p:spPr/>
        <p:txBody>
          <a:bodyPr/>
          <a:lstStyle/>
          <a:p>
            <a:pPr>
              <a:defRPr sz="1200"/>
            </a:pPr>
            <a:r>
              <a:t>Analyzing Impact of Noise in Evasion Attacks Content Theme: Benchmark datasets are essential for evaluating LLM performance in content generation tasks Common benchmark datasets include COCO for image captioning and WikiText-103 for language modeling These datasets provide standardized data for training and testing LLM models They ensure fair evaluation and reproducibility in research efforts Teaching Outline Context: Week 1: Benchmarking Dataset...</a:t>
            </a:r>
            <a:br/>
            <a:br/>
            <a:r>
              <a:t>Sources: [23]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LLM Content: Techniques and Applications"</a:t>
            </a:r>
          </a:p>
        </p:txBody>
      </p:sp>
      <p:sp>
        <p:nvSpPr>
          <p:cNvPr id="3" name="Content Placeholder 2"/>
          <p:cNvSpPr>
            <a:spLocks noGrp="1"/>
          </p:cNvSpPr>
          <p:nvPr>
            <p:ph idx="1"/>
          </p:nvPr>
        </p:nvSpPr>
        <p:spPr/>
        <p:txBody>
          <a:bodyPr/>
          <a:lstStyle/>
          <a:p>
            <a:pPr>
              <a:defRPr sz="1200"/>
            </a:pPr>
            <a:r>
              <a:t>Applications of Watermarking in Content Protection "Watermarking LLM Techniques and Applications" Content Theme: Watermarking LLM content involves embedding hidden information into the generated text for authenticity and ownership verification Techniques for watermarking include linguistic pattern embedding, word embedding modification, and special token addition Applications of watermarking LLM content include protecting intellectual property, d...</a:t>
            </a:r>
            <a:br/>
            <a:br/>
            <a:r>
              <a:t>Sources: [24]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Embedding Watermarks in LLM Text: Techniques and Applications</a:t>
            </a:r>
          </a:p>
        </p:txBody>
      </p:sp>
      <p:sp>
        <p:nvSpPr>
          <p:cNvPr id="3" name="Content Placeholder 2"/>
          <p:cNvSpPr>
            <a:spLocks noGrp="1"/>
          </p:cNvSpPr>
          <p:nvPr>
            <p:ph idx="1"/>
          </p:nvPr>
        </p:nvSpPr>
        <p:spPr/>
        <p:txBody>
          <a:bodyPr/>
          <a:lstStyle/>
          <a:p>
            <a:pPr>
              <a:defRPr sz="1200"/>
            </a:pPr>
            <a:r>
              <a:t>Techniques for Embedding Watermarks in LLM Text Embedding Watermarks in LLM Text: Techniques and Applications Content Theme: Watermarking LLM content involves embedding hidden information into the generated text for authenticity and ownership verification Techniques for watermarking include linguistic pattern embedding, word embedding modification, and special token addition Applications of watermarking LLM content include protecting intellectual...</a:t>
            </a:r>
            <a:br/>
            <a:br/>
            <a:r>
              <a:t>Sources: [25]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Steganography Techniques for LLM Watermarking</a:t>
            </a:r>
          </a:p>
        </p:txBody>
      </p:sp>
      <p:sp>
        <p:nvSpPr>
          <p:cNvPr id="3" name="Content Placeholder 2"/>
          <p:cNvSpPr>
            <a:spLocks noGrp="1"/>
          </p:cNvSpPr>
          <p:nvPr>
            <p:ph idx="1"/>
          </p:nvPr>
        </p:nvSpPr>
        <p:spPr/>
        <p:txBody>
          <a:bodyPr/>
          <a:lstStyle/>
          <a:p>
            <a:pPr>
              <a:defRPr sz="1200"/>
            </a:pPr>
            <a:r>
              <a:t>Exploring Steganography for Watermarking Content Steganography Techniques for LLM Watermarking Content Theme: Steganography is a technique used for watermarking LLM content by hiding information within the generated text Linguistic pattern embedding, word embedding modification, and special token addition are common steganography techniques for watermarking LLM content Watermarking LLM content helps protect intellectual property, detect unauthori...</a:t>
            </a:r>
            <a:br/>
            <a:br/>
            <a:r>
              <a:t>Sources: [26]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LLM Content: Techniques and Applications"</a:t>
            </a:r>
          </a:p>
        </p:txBody>
      </p:sp>
      <p:sp>
        <p:nvSpPr>
          <p:cNvPr id="3" name="Content Placeholder 2"/>
          <p:cNvSpPr>
            <a:spLocks noGrp="1"/>
          </p:cNvSpPr>
          <p:nvPr>
            <p:ph idx="1"/>
          </p:nvPr>
        </p:nvSpPr>
        <p:spPr/>
        <p:txBody>
          <a:bodyPr/>
          <a:lstStyle/>
          <a:p>
            <a:pPr>
              <a:defRPr sz="1200"/>
            </a:pPr>
            <a:r>
              <a:t>Challenges and Considerations in Watermarking "Watermarking LLM Techniques and Applications" Content Theme: Watermarking LLM content involves embedding hidden information into the generated text for authenticity and ownership verification Techniques for watermarking include linguistic pattern embedding, word embedding modification, and special token addition Applications of watermarking LLM content include protecting intellectual property, detect...</a:t>
            </a:r>
            <a:br/>
            <a:br/>
            <a:r>
              <a:t>Sources: [27]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Watermarking Techniques for Text Authenticity</a:t>
            </a:r>
          </a:p>
        </p:txBody>
      </p:sp>
      <p:sp>
        <p:nvSpPr>
          <p:cNvPr id="3" name="Content Placeholder 2"/>
          <p:cNvSpPr>
            <a:spLocks noGrp="1"/>
          </p:cNvSpPr>
          <p:nvPr>
            <p:ph idx="1"/>
          </p:nvPr>
        </p:nvSpPr>
        <p:spPr/>
        <p:txBody>
          <a:bodyPr/>
          <a:lstStyle/>
          <a:p>
            <a:pPr>
              <a:defRPr sz="1200"/>
            </a:pPr>
            <a:r>
              <a:t>Implementing Watermarking Techniques on Text Watermarking Techniques for Text Authenticity Content Theme: Watermarking LLM content involves embedding hidden information into the generated text for authenticity and ownership verification Techniques for watermarking include linguistic pattern embedding, word embedding modification, and special token addition Applications of watermarking LLM content include protecting intellectual property, detectin...</a:t>
            </a:r>
            <a:br/>
            <a:br/>
            <a:r>
              <a:t>Sources: [28]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Watermarking on Content Integrity</a:t>
            </a:r>
          </a:p>
        </p:txBody>
      </p:sp>
      <p:sp>
        <p:nvSpPr>
          <p:cNvPr id="3" name="Content Placeholder 2"/>
          <p:cNvSpPr>
            <a:spLocks noGrp="1"/>
          </p:cNvSpPr>
          <p:nvPr>
            <p:ph idx="1"/>
          </p:nvPr>
        </p:nvSpPr>
        <p:spPr/>
        <p:txBody>
          <a:bodyPr/>
          <a:lstStyle/>
          <a:p>
            <a:pPr>
              <a:defRPr sz="1200"/>
            </a:pPr>
            <a:r>
              <a:t>Analyzing Impact of Watermarking on Content Integrity Impact of Watermarking on Content Integrity Content Theme: Watermarking LLM content involves embedding hidden information into the generated text for authenticity and ownership verification Techniques for watermarking include linguistic pattern embedding, word embedding modification, and special token addition Applications of watermarking LLM content include protecting intellectual property, d...</a:t>
            </a:r>
            <a:br/>
            <a:br/>
            <a:r>
              <a:t>Sources: [29]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Watermarking Applications for Content Protection</a:t>
            </a:r>
          </a:p>
        </p:txBody>
      </p:sp>
      <p:sp>
        <p:nvSpPr>
          <p:cNvPr id="3" name="Content Placeholder 2"/>
          <p:cNvSpPr>
            <a:spLocks noGrp="1"/>
          </p:cNvSpPr>
          <p:nvPr>
            <p:ph idx="1"/>
          </p:nvPr>
        </p:nvSpPr>
        <p:spPr/>
        <p:txBody>
          <a:bodyPr/>
          <a:lstStyle/>
          <a:p>
            <a:pPr>
              <a:defRPr sz="1200"/>
            </a:pPr>
            <a:r>
              <a:t>Real-World Watermarking Applications for Content Protection Content Theme: Watermarking LLM content involves embedding hidden information for authenticity and ownership verification Techniques for watermarking include linguistic pattern embedding, word embedding modification, and special token addition Applications of watermarking LLM content include protecting intellectual property, detecting unauthorized distribution, and ensuring data integrit...</a:t>
            </a:r>
            <a:br/>
            <a:br/>
            <a:r>
              <a:t>Sources: [30]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Improving LLM Performance with Benchmark Datasets</a:t>
            </a:r>
          </a:p>
        </p:txBody>
      </p:sp>
      <p:sp>
        <p:nvSpPr>
          <p:cNvPr id="3" name="Content Placeholder 2"/>
          <p:cNvSpPr>
            <a:spLocks noGrp="1"/>
          </p:cNvSpPr>
          <p:nvPr>
            <p:ph idx="1"/>
          </p:nvPr>
        </p:nvSpPr>
        <p:spPr/>
        <p:txBody>
          <a:bodyPr/>
          <a:lstStyle/>
          <a:p>
            <a:pPr>
              <a:defRPr sz="1200"/>
            </a:pPr>
            <a:r>
              <a:t>Fine-Tuning Large Language Models on Benchmark Datasets Improving LLM Performance with Benchmark Datasets Content Theme: Benchmark datasets are essential for evaluating the performance of Large Language Models (LLMs) in content generation tasks Common benchmark datasets include COCO for image captioning, WikiText-103 for language modeling, and BookCorpus for text generation These datasets ensure fair evaluation, reproducibility in research, and c...</a:t>
            </a:r>
            <a:br/>
            <a:br/>
            <a:r>
              <a:t>Sources: [31]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Deceptive Strategies in LLM Content Generation</a:t>
            </a:r>
          </a:p>
        </p:txBody>
      </p:sp>
      <p:sp>
        <p:nvSpPr>
          <p:cNvPr id="3" name="Content Placeholder 2"/>
          <p:cNvSpPr>
            <a:spLocks noGrp="1"/>
          </p:cNvSpPr>
          <p:nvPr>
            <p:ph idx="1"/>
          </p:nvPr>
        </p:nvSpPr>
        <p:spPr/>
        <p:txBody>
          <a:bodyPr/>
          <a:lstStyle/>
          <a:p>
            <a:pPr>
              <a:defRPr sz="1200"/>
            </a:pPr>
            <a:r>
              <a:t>Adversarial Attacks on LLM Content Generation Deceptive Strategies in LLM Content Generation Content Theme: Adversarial attacks on LLM content generation involve manipulating input data to deceive models Techniques include adding noise, crafting specific input patterns, and exploiting vulnerabilities Implications include misinformation spread, security system compromise, and biased outcomes Teaching Outline Context: Week 2: Evading LLM Detectors ...</a:t>
            </a:r>
            <a:br/>
            <a:br/>
            <a:r>
              <a:t>Sources: [32]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LLM Content Benchmark Datasets: Key Evaluation Tools</a:t>
            </a:r>
          </a:p>
        </p:txBody>
      </p:sp>
      <p:sp>
        <p:nvSpPr>
          <p:cNvPr id="3" name="Content Placeholder 2"/>
          <p:cNvSpPr>
            <a:spLocks noGrp="1"/>
          </p:cNvSpPr>
          <p:nvPr>
            <p:ph idx="1"/>
          </p:nvPr>
        </p:nvSpPr>
        <p:spPr/>
        <p:txBody>
          <a:bodyPr/>
          <a:lstStyle/>
          <a:p>
            <a:pPr>
              <a:defRPr sz="1200"/>
            </a:pPr>
            <a:r>
              <a:t>Defending Against Adversarial Attacks on LLM Content LLM Content Benchmark Datasets: Key Evaluation Tools Content Theme: Benchmark datasets are essential for evaluating the performance of Large Language Models (LLMs) in content generation tasks Common benchmark datasets include COCO for image captioning, WikiText-103 for language modeling, and BookCorpus for text generation These datasets ensure fair evaluation, reproducibility in research, and c...</a:t>
            </a:r>
            <a:br/>
            <a:br/>
            <a:r>
              <a:t>Sources: [33]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Addressing Ethical Concerns in LLM Content Creation</a:t>
            </a:r>
          </a:p>
        </p:txBody>
      </p:sp>
      <p:sp>
        <p:nvSpPr>
          <p:cNvPr id="3" name="Content Placeholder 2"/>
          <p:cNvSpPr>
            <a:spLocks noGrp="1"/>
          </p:cNvSpPr>
          <p:nvPr>
            <p:ph idx="1"/>
          </p:nvPr>
        </p:nvSpPr>
        <p:spPr/>
        <p:txBody>
          <a:bodyPr/>
          <a:lstStyle/>
          <a:p>
            <a:pPr>
              <a:defRPr sz="1200"/>
            </a:pPr>
            <a:r>
              <a:t>Ethical Considerations in LLM Content Creation Addressing Ethical Concerns in LLM Content Creation Content Theme: Ethical considerations in LLM content creation involve addressing issues such as bias, misinformation, privacy, and accountability Language models can perpetuate biases, spread misinformation, and raise privacy concerns if not properly managed Responsibility lies with creators to ensure ethical practices and consider societal impact o...</a:t>
            </a:r>
            <a:br/>
            <a:br/>
            <a:r>
              <a:t>Sources: [34]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Benchmark Datasets for LLM Performance Evaluation</a:t>
            </a:r>
          </a:p>
        </p:txBody>
      </p:sp>
      <p:sp>
        <p:nvSpPr>
          <p:cNvPr id="3" name="Content Placeholder 2"/>
          <p:cNvSpPr>
            <a:spLocks noGrp="1"/>
          </p:cNvSpPr>
          <p:nvPr>
            <p:ph idx="1"/>
          </p:nvPr>
        </p:nvSpPr>
        <p:spPr/>
        <p:txBody>
          <a:bodyPr/>
          <a:lstStyle/>
          <a:p>
            <a:pPr>
              <a:defRPr sz="1200"/>
            </a:pPr>
            <a:r>
              <a:t>Evaluation Metrics for LLM Content Generation Benchmark Datasets for LLM Performance Evaluation Content Theme: Common benchmark datasets for evaluating LLM performance in content generation tasks include COCO, WikiText-103, and BookCorpus Benchmark datasets ensure fair evaluation, reproducibility in research, and comparison of LLM model performance These datasets help researchers assess LLM capabilities and improve model training and testing effi...</a:t>
            </a:r>
            <a:br/>
            <a:br/>
            <a:r>
              <a:t>Sources: [35]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Slide Title: "Transfer Learning Benefits for LLM Content Generation"</a:t>
            </a:r>
          </a:p>
        </p:txBody>
      </p:sp>
      <p:sp>
        <p:nvSpPr>
          <p:cNvPr id="3" name="Content Placeholder 2"/>
          <p:cNvSpPr>
            <a:spLocks noGrp="1"/>
          </p:cNvSpPr>
          <p:nvPr>
            <p:ph idx="1"/>
          </p:nvPr>
        </p:nvSpPr>
        <p:spPr/>
        <p:txBody>
          <a:bodyPr/>
          <a:lstStyle/>
          <a:p>
            <a:pPr>
              <a:defRPr sz="1200"/>
            </a:pPr>
            <a:r>
              <a:t>Transfer Learning for LLM Content Generation "Transfer Learning Benefits for LLM Content Generation" Content Theme: Transfer learning for LLM content generation involves leveraging pre-trained language models for specific tasks Fine-tuning on new data allows models to adapt and produce tailored content Saves computational resources and time compared to training models from scratch Enhances efficiency and effectiveness of LLM content generation ta...</a:t>
            </a:r>
            <a:br/>
            <a:br/>
            <a:r>
              <a:t>Sources: [36]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"Multimodal Content Generation with LLMs"</a:t>
            </a:r>
          </a:p>
        </p:txBody>
      </p:sp>
      <p:sp>
        <p:nvSpPr>
          <p:cNvPr id="3" name="Content Placeholder 2"/>
          <p:cNvSpPr>
            <a:spLocks noGrp="1"/>
          </p:cNvSpPr>
          <p:nvPr>
            <p:ph idx="1"/>
          </p:nvPr>
        </p:nvSpPr>
        <p:spPr/>
        <p:txBody>
          <a:bodyPr/>
          <a:lstStyle/>
          <a:p>
            <a:pPr>
              <a:defRPr sz="1200"/>
            </a:pPr>
            <a:r>
              <a:t>Multimodal Content Generation with LLMs Multimodal Content Generation with LLMs Content Theme: Multimodal content generation with Large Language Models (LLMs) combines text and images Tasks include text-to-image generation and image-to-text generation LLMs leverage text and image data understanding for diverse content generation Applications in art, design, and entertainment benefit from realistic multimodal content Teaching Outline Context: Week...</a:t>
            </a:r>
            <a:br/>
            <a:br/>
            <a:r>
              <a:t>Sources: [37]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Training with Dynamic Data Augmentation"</a:t>
            </a:r>
          </a:p>
        </p:txBody>
      </p:sp>
      <p:sp>
        <p:nvSpPr>
          <p:cNvPr id="3" name="Content Placeholder 2"/>
          <p:cNvSpPr>
            <a:spLocks noGrp="1"/>
          </p:cNvSpPr>
          <p:nvPr>
            <p:ph idx="1"/>
          </p:nvPr>
        </p:nvSpPr>
        <p:spPr/>
        <p:txBody>
          <a:bodyPr/>
          <a:lstStyle/>
          <a:p>
            <a:pPr>
              <a:defRPr sz="1200"/>
            </a:pPr>
            <a:r>
              <a:t>Dynamic Data Augmentation Techniques for LLM Training Enhancing LLM Training with Dynamic Data Augmentation Content Theme: Dynamic data augmentation techniques modify and enhance training data for LLMs Methods include random cropping, rotation, flipping, color jittering, and noise addition Variations in training data help LLMs learn to be more robust and accurate across tasks and domains Teaching Outline Context: Week 1: Benchmarking Datasets and...</a:t>
            </a:r>
            <a:br/>
            <a:br/>
            <a:r>
              <a:t>Sources: [38]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Semantic Similarity Measures in LLM Evaluation</a:t>
            </a:r>
          </a:p>
        </p:txBody>
      </p:sp>
      <p:sp>
        <p:nvSpPr>
          <p:cNvPr id="3" name="Content Placeholder 2"/>
          <p:cNvSpPr>
            <a:spLocks noGrp="1"/>
          </p:cNvSpPr>
          <p:nvPr>
            <p:ph idx="1"/>
          </p:nvPr>
        </p:nvSpPr>
        <p:spPr/>
        <p:txBody>
          <a:bodyPr/>
          <a:lstStyle/>
          <a:p>
            <a:pPr>
              <a:defRPr sz="1200"/>
            </a:pPr>
            <a:r>
              <a:t>Semantic Similarity Measures in LLM Evaluation Content Theme: Semantic similarity measures evaluate the closeness in meaning between texts generated by Large Language Models (LLMs) Common measures include cosine similarity, Jaccard similarity, and Word Mover's Distance These metrics assess the quality and coherence of LLM-generated text by comparing it to reference texts or human-written content Teaching Outline Context: Week 1: Benchmarking Data...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Detecting and Mitigating Bias in LLM Content</a:t>
            </a:r>
          </a:p>
        </p:txBody>
      </p:sp>
      <p:sp>
        <p:nvSpPr>
          <p:cNvPr id="3" name="Content Placeholder 2"/>
          <p:cNvSpPr>
            <a:spLocks noGrp="1"/>
          </p:cNvSpPr>
          <p:nvPr>
            <p:ph idx="1"/>
          </p:nvPr>
        </p:nvSpPr>
        <p:spPr/>
        <p:txBody>
          <a:bodyPr/>
          <a:lstStyle/>
          <a:p>
            <a:pPr>
              <a:defRPr sz="1200"/>
            </a:pPr>
            <a:r>
              <a:t>Bias Detection and Mitigation in LLM-Generated Content Detecting and Mitigating Bias in LLM Content Content Theme: Bias detection and mitigation in LLM-generated content is crucial for ensuring inclusive and unbiased outputs Techniques include debiasing algorithms, fairness-aware training, and diverse dataset curation Approaches involve pre-processing to identify biased language patterns, fine-tuning on diverse datasets, and post-processing metho...</a:t>
            </a:r>
            <a:br/>
            <a:br/>
            <a:r>
              <a:t>Sources: [39]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Fine-Grained Classification with LLMs: Precision in Categorization</a:t>
            </a:r>
          </a:p>
        </p:txBody>
      </p:sp>
      <p:sp>
        <p:nvSpPr>
          <p:cNvPr id="3" name="Content Placeholder 2"/>
          <p:cNvSpPr>
            <a:spLocks noGrp="1"/>
          </p:cNvSpPr>
          <p:nvPr>
            <p:ph idx="1"/>
          </p:nvPr>
        </p:nvSpPr>
        <p:spPr/>
        <p:txBody>
          <a:bodyPr/>
          <a:lstStyle/>
          <a:p>
            <a:pPr>
              <a:defRPr sz="1200"/>
            </a:pPr>
            <a:r>
              <a:t>Fine-Grained Content Classification with LLMs Fine-Grained Classification with LLMs: Precision in Categorization Content Theme: Fine-grained content classification with LLMs involves categorizing data into very specific subcategories or classes LLMs like GPT-3 can understand context and nuances for precise classification results Techniques like transfer learning and fine-tuning adapt models for specific classification tasks Applications include s...</a:t>
            </a:r>
            <a:br/>
            <a:br/>
            <a:r>
              <a:t>Sources: [40]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User Engagement with Interactive LLM Content</a:t>
            </a:r>
          </a:p>
        </p:txBody>
      </p:sp>
      <p:sp>
        <p:nvSpPr>
          <p:cNvPr id="3" name="Content Placeholder 2"/>
          <p:cNvSpPr>
            <a:spLocks noGrp="1"/>
          </p:cNvSpPr>
          <p:nvPr>
            <p:ph idx="1"/>
          </p:nvPr>
        </p:nvSpPr>
        <p:spPr/>
        <p:txBody>
          <a:bodyPr/>
          <a:lstStyle/>
          <a:p>
            <a:pPr>
              <a:defRPr sz="1200"/>
            </a:pPr>
            <a:r>
              <a:t>Content Theme: Interactive Content Generation with LLMs involves creating content that allows users to actively engage with the AI-generated output Users can provide input or preferences to guide the content generation process Examples include interactive storytelling, chatbots, and personalized recommendations Enhances user engagement and creates a more tailored and engaging content experience Teaching Outline Context: Week 1: Benchmarking Datas...</a:t>
            </a:r>
            <a:br/>
            <a:br/>
            <a:r>
              <a:t>Sources: [41]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Data Privacy in LLM Content</a:t>
            </a:r>
          </a:p>
        </p:txBody>
      </p:sp>
      <p:sp>
        <p:nvSpPr>
          <p:cNvPr id="3" name="Content Placeholder 2"/>
          <p:cNvSpPr>
            <a:spLocks noGrp="1"/>
          </p:cNvSpPr>
          <p:nvPr>
            <p:ph idx="1"/>
          </p:nvPr>
        </p:nvSpPr>
        <p:spPr/>
        <p:txBody>
          <a:bodyPr/>
          <a:lstStyle/>
          <a:p>
            <a:pPr>
              <a:defRPr sz="1200"/>
            </a:pPr>
            <a:r>
              <a:t>Content Theme: Privacy-preserving techniques for LLM-generated content involve methods such as differential privacy, federated learning, homomorphic encryption, and secure multi-party computation These techniques aim to protect sensitive information contained in the generated content while still allowing for meaningful analysis and utilization of the data Examples of privacy-preserving techniques include differential privacy, which adds noise to ...</a:t>
            </a:r>
            <a:br/>
            <a:br/>
            <a:r>
              <a:t>Sources: [42]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Privacy in LLM-Generated Content</a:t>
            </a:r>
          </a:p>
        </p:txBody>
      </p:sp>
      <p:sp>
        <p:nvSpPr>
          <p:cNvPr id="3" name="Content Placeholder 2"/>
          <p:cNvSpPr>
            <a:spLocks noGrp="1"/>
          </p:cNvSpPr>
          <p:nvPr>
            <p:ph idx="1"/>
          </p:nvPr>
        </p:nvSpPr>
        <p:spPr/>
        <p:txBody>
          <a:bodyPr/>
          <a:lstStyle/>
          <a:p>
            <a:pPr>
              <a:defRPr sz="1200"/>
            </a:pPr>
            <a:r>
              <a:t>Content Theme: Privacy-preserving techniques for LLM-generated content aim to protect sensitive information Methods include differential privacy, federated learning, homomorphic encryption, and secure multi-party computation Differential privacy adds noise to data to protect privacy while allowing meaningful analysis Federated learning enables training models across multiple devices without sharing raw data Teaching Outline Context: Week 1: Bench...</a:t>
            </a:r>
            <a:br/>
            <a:br/>
            <a:r>
              <a:t>Sources: [43]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Privacy-Preserving Techniques in LLM Content Generation</a:t>
            </a:r>
          </a:p>
        </p:txBody>
      </p:sp>
      <p:sp>
        <p:nvSpPr>
          <p:cNvPr id="3" name="Content Placeholder 2"/>
          <p:cNvSpPr>
            <a:spLocks noGrp="1"/>
          </p:cNvSpPr>
          <p:nvPr>
            <p:ph idx="1"/>
          </p:nvPr>
        </p:nvSpPr>
        <p:spPr/>
        <p:txBody>
          <a:bodyPr/>
          <a:lstStyle/>
          <a:p>
            <a:pPr>
              <a:defRPr sz="1200"/>
            </a:pPr>
            <a:r>
              <a:t>Privacy-Preserving Techniques in LLM Content Generation Content Theme: Privacy-preserving techniques for LLM-generated content aim to protect sensitive information Methods include differential privacy, federated learning, homomorphic encryption, and secure multi-party computation Differential privacy adds noise to data to protect privacy while allowing meaningful analysis Federated learning enables training models across multiple devices without ...</a:t>
            </a:r>
            <a:br/>
            <a:br/>
            <a:r>
              <a:t>Sources: [44]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Privacy-Preserving Techniques for LLM Content: Safeguarding Sensitive Information</a:t>
            </a:r>
          </a:p>
        </p:txBody>
      </p:sp>
      <p:sp>
        <p:nvSpPr>
          <p:cNvPr id="3" name="Content Placeholder 2"/>
          <p:cNvSpPr>
            <a:spLocks noGrp="1"/>
          </p:cNvSpPr>
          <p:nvPr>
            <p:ph idx="1"/>
          </p:nvPr>
        </p:nvSpPr>
        <p:spPr/>
        <p:txBody>
          <a:bodyPr/>
          <a:lstStyle/>
          <a:p>
            <a:pPr>
              <a:defRPr sz="1200"/>
            </a:pPr>
            <a:r>
              <a:t>Privacy-Preserving Techniques for LLM Safeguarding Sensitive Information Content Theme: Privacy-preserving techniques for LLM-generated content aim to protect sensitive information Methods include differential privacy, federated learning, homomorphic encryption, and secure multi-party computation Differential privacy adds noise to data to protect privacy while allowing meaningful analysis Federated learning enables training models across multiple...</a:t>
            </a:r>
            <a:br/>
            <a:br/>
            <a:r>
              <a:t>Sources: [45]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LLM Content Privacy: Key Techniques</a:t>
            </a:r>
          </a:p>
        </p:txBody>
      </p:sp>
      <p:sp>
        <p:nvSpPr>
          <p:cNvPr id="3" name="Content Placeholder 2"/>
          <p:cNvSpPr>
            <a:spLocks noGrp="1"/>
          </p:cNvSpPr>
          <p:nvPr>
            <p:ph idx="1"/>
          </p:nvPr>
        </p:nvSpPr>
        <p:spPr/>
        <p:txBody>
          <a:bodyPr/>
          <a:lstStyle/>
          <a:p>
            <a:pPr>
              <a:defRPr sz="1200"/>
            </a:pPr>
            <a:r>
              <a:t>Privacy-Preserving Techniques for LLM-Generated Content (continued) Protecting LLM Content Privacy: Key Techniques Privacy-preserving techniques for LLM-generated content aim to protect sensitive information Methods include differential privacy, federated learning, homomorphic encryption, and secure multi-party computation Differential privacy adds noise to data to protect privacy while allowing meaningful analysis Federated learning enables trai...</a:t>
            </a:r>
            <a:br/>
            <a:br/>
            <a:r>
              <a:t>Sources: [46]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"Importance of Benchmark Datasets for LLM Performance Evaluation"</a:t>
            </a:r>
          </a:p>
        </p:txBody>
      </p:sp>
      <p:sp>
        <p:nvSpPr>
          <p:cNvPr id="3" name="Content Placeholder 2"/>
          <p:cNvSpPr>
            <a:spLocks noGrp="1"/>
          </p:cNvSpPr>
          <p:nvPr>
            <p:ph idx="1"/>
          </p:nvPr>
        </p:nvSpPr>
        <p:spPr/>
        <p:txBody>
          <a:bodyPr/>
          <a:lstStyle/>
          <a:p>
            <a:pPr>
              <a:defRPr sz="2400"/>
            </a:pPr>
            <a:r>
              <a:t>Importance of Benchmark Datasets for LLM Performance Evaluation Content Theme: • Benchmark datasets are essential for evaluating the performance of Large Language Models (LLMs) in content generation tasks. • Common benchmark datasets include COCO for image captioning, WikiText-103 for language modeling, and BookCorpus for text generation...</a:t>
            </a:r>
            <a:br/>
            <a:br/>
            <a:r>
              <a:t>Sources: [47]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Advanced Techniques for LLM-Content Detection - https://arxiv.org/abs/2106.01290</a:t>
            </a:r>
            <a:br/>
            <a:r>
              <a:t>[1] Multimodal Content Generation with Large Language Models (LLMs) - https://arxiv.org/abs/2102.07176</a:t>
            </a:r>
            <a:br/>
            <a:r>
              <a:t>[2] Transfer Learning for LLM Content Generation - https://arxiv.org/abs/2005.14165</a:t>
            </a:r>
            <a:br/>
            <a:r>
              <a:t>[3] Fine-Grained Content Classification Using Large Language Models (LLMs) - https://www.examplelink.com/fine-grained-content-classification-using-llms</a:t>
            </a:r>
            <a:br/>
            <a:r>
              <a:t>[4] Techniques for LLM-Content Detection - https://arxiv.org/abs/2104.05249</a:t>
            </a:r>
            <a:br/>
            <a:r>
              <a:t>[5] Common Benchmark Datasets for LLM-Content Generation - https://huggingface.co/datasets/penn_treebank</a:t>
            </a:r>
            <a:br/>
            <a:r>
              <a:t>[6] Interactive Content Generation with LLM Models - https://www.ibm.com/blogs/research/2021/04/ai-interactive-content-generation/</a:t>
            </a:r>
            <a:br/>
            <a:r>
              <a:t>[7] Evaluation Metrics for LLM Content Generation - https://arxiv.org/abs/2109.13611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Methods for LLM-Content Detection - https://www.researchgate.net/publication/353878450_Methods_for_LLM-Content_Detection</a:t>
            </a:r>
            <a:br/>
            <a:r>
              <a:t>[9] Fine-Grained Content Classification Using Large Language Models (LLMs) - https://arxiv.org/abs/2104.08652</a:t>
            </a:r>
            <a:br/>
            <a:r>
              <a:t>[10] Popular Benchmark Datasets for LLM-Content Generation - https://cocodataset.org/, https://www.salesforce.com/products/einstein/ai-research/the-wikitext-long-term-dependency-language-modeling-dataset/, https://yknzhu.wixsite.com/mbweb</a:t>
            </a:r>
            <a:br/>
            <a:r>
              <a:t>[11] Fine-Grained Content Classification Using Large Language Models (LLMs) - https://arxiv.org/abs/2104.08691</a:t>
            </a:r>
            <a:br/>
            <a:r>
              <a:t>[12] Multimodal Content Generation with Large Language Models (LLMs) - https://www.researchgate.net/publication/353061819_Multimodal_Content_Generation_with_Large_Language_Models</a:t>
            </a:r>
            <a:br/>
            <a:r>
              <a:t>[13] Strategies to Evade LLM Detectors - https://arxiv.org/abs/2005.14165</a:t>
            </a:r>
            <a:br/>
            <a:r>
              <a:t>[14] Multimodal Content Generation with Large Language Models (LLMs) - https://arxiv.org/abs/2108.12693</a:t>
            </a:r>
            <a:br/>
            <a:r>
              <a:t>[15] Fine-Grained Content Classification Using Large Language Models (LLMs) - https://www.examplelink.com/fine-grained-content-classification-using-llms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[16] Evaluation Metrics for LLM Content Generation - https://huggingface.co/transformers/perplexity.html</a:t>
            </a:r>
            <a:br/>
            <a:r>
              <a:t>[17] Deep Learning Approaches for LLM-Content Detection - https://arxiv.org/abs/2009.13085</a:t>
            </a:r>
            <a:br/>
            <a:r>
              <a:t>[18] Defending Against Evasion Attacks on Language Models - https://arxiv.org/abs/2102.01256</a:t>
            </a:r>
            <a:br/>
            <a:r>
              <a:t>[19] Multimodal Content Generation with Large Language Models (LLMs) - https://arxiv.org/abs/2102.02023</a:t>
            </a:r>
            <a:br/>
            <a:r>
              <a:t>[20] Enhancing User Engagement through Interactive Content Generation with LLM Models - https://www.examplelink.com/enhancing-user-engagement-interactive-content-generation-LLM-models</a:t>
            </a:r>
            <a:br/>
            <a:r>
              <a:t>[21] Interactive Content Generation with LLM Models: Enhancing User Engagement - https://www.ibm.com/cloud/learn/interactive-content-generation</a:t>
            </a:r>
            <a:br/>
            <a:r>
              <a:t>[22] Evasion Attacks on Language Models - https://arxiv.org/abs/1902.06705</a:t>
            </a:r>
            <a:br/>
            <a:r>
              <a:t>[23] Data Augmentation Techniques for LLM Training: Overview and Applications - https://towardsdatascience.com/data-augmentation-techniques-for-nlp-ff2f31bfb2a8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[24] Watermarking LLM Content: Techniques and Applications - https://www.researchgate.net/publication/343109325_Watermarking_Language_Models</a:t>
            </a:r>
            <a:br/>
            <a:r>
              <a:t>[25] Watermarking LLM Content: Techniques and Applications - https://arxiv.org/abs/2103.01934</a:t>
            </a:r>
            <a:br/>
            <a:r>
              <a:t>[26] Dynamic Data Augmentation Techniques for LLM Training - https://arxiv.org/abs/2103.05549</a:t>
            </a:r>
            <a:br/>
            <a:r>
              <a:t>[27] Transfer Learning for LLM Content Generation: Techniques and Applications - https://arxiv.org/abs/2105.00195</a:t>
            </a:r>
            <a:br/>
            <a:r>
              <a:t>[28] Watermarking LLM Content: Techniques and Applications - https://arxiv.org/abs/2109.03833</a:t>
            </a:r>
            <a:br/>
            <a:r>
              <a:t>[29] Watermarking LLM Content: Techniques and Applications - https://www.researchgate.net/publication/344334636_Watermarking_Language_Models_for_Content_Protection_and_Authentication</a:t>
            </a:r>
            <a:br/>
            <a:r>
              <a:t>[30] Dynamic Data Augmentation Techniques for LLM Training: Data Augmentation Methods for Large Language Models - https://arxiv.org/abs/2104.08691</a:t>
            </a:r>
            <a:br/>
            <a:r>
              <a:t>[31] Evaluation Metrics for LLM Content Generation - https://towardsdatascience.com/evaluating-language-models-9e3e8ae3b0b7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[32] Evaluation Metrics for LLM Content Generation - https://arxiv.org/abs/2102.01672</a:t>
            </a:r>
            <a:br/>
            <a:r>
              <a:t>[33] Adversarial Attacks on Large Language Model Content Generation - https://arxiv.org/abs/2102.12713</a:t>
            </a:r>
            <a:br/>
            <a:r>
              <a:t>[34] Ethical Considerations in Large Language Model Content Creation - https://www.technologyreview.com/2021/09/29/1036063/ai-ethics-large-language-models-gpt-3-controversy/</a:t>
            </a:r>
            <a:br/>
            <a:r>
              <a:t>[35] Measuring Semantic Similarity in Large Language Model Output Evaluation - https://arxiv.org/abs/2108.01251</a:t>
            </a:r>
            <a:br/>
            <a:r>
              <a:t>[36] Ethical Considerations in LLM Content Creation - https://www.technologyreview.com/2021/06/25/1026689/ai-text-generation-ethical-implications/</a:t>
            </a:r>
            <a:br/>
            <a:r>
              <a:t>[37] Challenges in LLM-Content Benchmarking Datasets - https://arxiv.org/abs/2102.01672</a:t>
            </a:r>
            <a:br/>
            <a:r>
              <a:t>[38] Dynamic Data Augmentation Techniques for LLM Training - https://arxiv.org/abs/2105.15074</a:t>
            </a:r>
            <a:br/>
            <a:r>
              <a:t>[39] Adversarial Attacks on Large Language Model Content Generation: Techniques and Implications - https://arxiv.org/abs/2104.14503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[40] Transfer Learning for LLM Content Generation: Techniques and Applications - https://arxiv.org/abs/2102.11476</a:t>
            </a:r>
            <a:br/>
            <a:r>
              <a:t>[41] Enhancing User Engagement through Interactive Content Generation with LLM Models - https://www.researchgate.net/publication/354221689_Enhancing_User_Engagement_through_Interactive_Content_Generation_with_LLM_Models</a:t>
            </a:r>
            <a:br/>
            <a:r>
              <a:t>[42] Privacy-Preserving Techniques for LLM-Generated Content - https://www.ibm.com/cloud/learn/federated-learning</a:t>
            </a:r>
            <a:br/>
            <a:r>
              <a:t>[43] Dynamic Data Augmentation Techniques for LLM Training: Data Augmentation Methods for Large Language Models - https://arxiv.org/abs/2104.04860</a:t>
            </a:r>
            <a:br/>
            <a:r>
              <a:t>[44] Privacy-Preserving Techniques for LLM-Generated Content - https://arxiv.org/abs/2106.10818</a:t>
            </a:r>
            <a:br/>
            <a:r>
              <a:t>[45] Privacy-Preserving Techniques for LLM-Generated Content - https://arxiv.org/abs/2106.05535</a:t>
            </a:r>
            <a:br/>
            <a:r>
              <a:t>[46] Evading LLM Content Detectors: Techniques and Strategies - https://arxiv.org/abs/2104.07560</a:t>
            </a:r>
            <a:br/>
            <a:r>
              <a:t>[47] Privacy-Preserving Techniques for LLM-Generated Content - https://arxiv.org/abs/2106.04390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