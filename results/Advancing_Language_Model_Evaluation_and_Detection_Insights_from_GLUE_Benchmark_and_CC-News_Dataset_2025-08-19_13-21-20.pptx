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Advancing Language Model Evaluation and Detection: Insights from GLUE Benchmark and CC-News Dataset</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Assessing Language Model Performance</a:t>
            </a:r>
          </a:p>
        </p:txBody>
      </p:sp>
      <p:sp>
        <p:nvSpPr>
          <p:cNvPr id="3" name="Content Placeholder 2"/>
          <p:cNvSpPr>
            <a:spLocks noGrp="1"/>
          </p:cNvSpPr>
          <p:nvPr>
            <p:ph idx="1"/>
          </p:nvPr>
        </p:nvSpPr>
        <p:spPr/>
        <p:txBody>
          <a:bodyPr/>
          <a:lstStyle/>
          <a:p>
            <a:pPr>
              <a:defRPr sz="1200"/>
            </a:pPr>
            <a:r>
              <a:t>GLUE Benchmark: Assessing Language Model Performance The General Language Understanding Evaluation (GLUE) Benchmark is a standard framework for evaluating language model performance. It consists of nine diverse tasks such as text classification, sentiment analysis, and question-answering. GLUE helps track advancements in natural language understanding and compare different language models...</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Nine Task Overview</a:t>
            </a:r>
          </a:p>
        </p:txBody>
      </p:sp>
      <p:sp>
        <p:nvSpPr>
          <p:cNvPr id="3" name="Content Placeholder 2"/>
          <p:cNvSpPr>
            <a:spLocks noGrp="1"/>
          </p:cNvSpPr>
          <p:nvPr>
            <p:ph idx="1"/>
          </p:nvPr>
        </p:nvSpPr>
        <p:spPr/>
        <p:txBody>
          <a:bodyPr/>
          <a:lstStyle/>
          <a:p>
            <a:pPr>
              <a:defRPr sz="2400"/>
            </a:pPr>
            <a:r>
              <a:t>GLUE Benchmark: Nine Task Overview GLUE Benchmark consists of nine diverse tasks such as text classification, sentiment analysis, and question-answering. Each task evaluates specific aspects of a language model's performance in understanding and processing language. Completing all tasks provides a comprehensive assessment of a language model's capabilities...</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Performance Metrics Overview</a:t>
            </a:r>
          </a:p>
        </p:txBody>
      </p:sp>
      <p:sp>
        <p:nvSpPr>
          <p:cNvPr id="3" name="Content Placeholder 2"/>
          <p:cNvSpPr>
            <a:spLocks noGrp="1"/>
          </p:cNvSpPr>
          <p:nvPr>
            <p:ph idx="1"/>
          </p:nvPr>
        </p:nvSpPr>
        <p:spPr/>
        <p:txBody>
          <a:bodyPr/>
          <a:lstStyle/>
          <a:p>
            <a:pPr>
              <a:defRPr sz="1200"/>
            </a:pPr>
            <a:r>
              <a:t>GLUE Benchmark: Performance Metrics Overview The General Language Understanding Evaluation (GLUE) Benchmark is a standard framework for evaluating language model performance. Consists of nine diverse tasks such as text classification, sentiment analysis, and question-answering. Helps track advancements in natural language understanding and compare different language models...</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GLUE Benchmark Task Performance</a:t>
            </a:r>
          </a:p>
        </p:txBody>
      </p:sp>
      <p:sp>
        <p:nvSpPr>
          <p:cNvPr id="3" name="Content Placeholder 2"/>
          <p:cNvSpPr>
            <a:spLocks noGrp="1"/>
          </p:cNvSpPr>
          <p:nvPr>
            <p:ph idx="1"/>
          </p:nvPr>
        </p:nvSpPr>
        <p:spPr/>
        <p:txBody>
          <a:bodyPr/>
          <a:lstStyle/>
          <a:p>
            <a:pPr>
              <a:defRPr sz="1200"/>
            </a:pPr>
            <a:r>
              <a:t>Analyzing GLUE Benchmark Task Performance The GLUE Benchmark is a standard framework for evaluating language model performance. Consists of nine diverse tasks such as text classification, sentiment analysis, and question-answering. Helps track advancements in natural language understanding and compare different language models. Completing all tasks provides a comprehensive assessment of a language model's capabilities...</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Evaluation Summary</a:t>
            </a:r>
          </a:p>
        </p:txBody>
      </p:sp>
      <p:sp>
        <p:nvSpPr>
          <p:cNvPr id="3" name="Content Placeholder 2"/>
          <p:cNvSpPr>
            <a:spLocks noGrp="1"/>
          </p:cNvSpPr>
          <p:nvPr>
            <p:ph idx="1"/>
          </p:nvPr>
        </p:nvSpPr>
        <p:spPr/>
        <p:txBody>
          <a:bodyPr/>
          <a:lstStyle/>
          <a:p>
            <a:pPr>
              <a:defRPr sz="2400"/>
            </a:pPr>
            <a:r>
              <a:t>GLUE Benchmark Evaluation Summary The General Language Understanding Evaluation (GLUE) Benchmark evaluates language model performance by testing them on nine diverse tasks, including text classification and sentiment analysis. The GLUE Benchmark helps in tracking advancements in natural language understanding and enables comparisons between different language models...</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Importance Overview</a:t>
            </a:r>
          </a:p>
        </p:txBody>
      </p:sp>
      <p:sp>
        <p:nvSpPr>
          <p:cNvPr id="3" name="Content Placeholder 2"/>
          <p:cNvSpPr>
            <a:spLocks noGrp="1"/>
          </p:cNvSpPr>
          <p:nvPr>
            <p:ph idx="1"/>
          </p:nvPr>
        </p:nvSpPr>
        <p:spPr/>
        <p:txBody>
          <a:bodyPr/>
          <a:lstStyle/>
          <a:p>
            <a:pPr>
              <a:defRPr sz="1200"/>
            </a:pPr>
            <a:r>
              <a:t>GLUE Benchmark Importance Overview Content Theme: The GLUE Benchmark is a standard framework for evaluating language model performance It consists of nine diverse tasks like text classification, sentiment analysis, and question-answering Completing all tasks provides a comprehensive assessment of a language model's capabilities Helps track advancements in natural language understanding and compare different models Teaching Outline Context: Week 1...</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Task Overview"</a:t>
            </a:r>
          </a:p>
        </p:txBody>
      </p:sp>
      <p:sp>
        <p:nvSpPr>
          <p:cNvPr id="3" name="Content Placeholder 2"/>
          <p:cNvSpPr>
            <a:spLocks noGrp="1"/>
          </p:cNvSpPr>
          <p:nvPr>
            <p:ph idx="1"/>
          </p:nvPr>
        </p:nvSpPr>
        <p:spPr/>
        <p:txBody>
          <a:bodyPr/>
          <a:lstStyle/>
          <a:p>
            <a:pPr>
              <a:defRPr sz="1200"/>
            </a:pPr>
            <a:r>
              <a:t>GLUE Benchmark Task Overview Content Theme: GLUE Benchmark tasks cover diverse areas like text classification, sentiment analysis, and question-answering Each task evaluates specific aspects of a language model's performance in understanding and processing language Completing all tasks provides a comprehensive assessment of a language model's capabilities Examples of tasks include determining the sentiment of a sentence or classifying text into d...</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LLMs on GLUE Tasks</a:t>
            </a:r>
          </a:p>
        </p:txBody>
      </p:sp>
      <p:sp>
        <p:nvSpPr>
          <p:cNvPr id="3" name="Content Placeholder 2"/>
          <p:cNvSpPr>
            <a:spLocks noGrp="1"/>
          </p:cNvSpPr>
          <p:nvPr>
            <p:ph idx="1"/>
          </p:nvPr>
        </p:nvSpPr>
        <p:spPr/>
        <p:txBody>
          <a:bodyPr/>
          <a:lstStyle/>
          <a:p>
            <a:pPr>
              <a:defRPr sz="1200"/>
            </a:pPr>
            <a:r>
              <a:t>Assessing LLMs on GLUE Tasks Content Theme: The GLUE Benchmark is a standard framework for evaluating language model performance Consists of nine diverse tasks such as text classification, sentiment analysis, and question-answering Helps track advancements in natural language understanding and compare different language models Completing all tasks provides a comprehensive assessment of a language model's capabilities Teaching Outline Context: Wee...</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GLUE Benchmark Applications</a:t>
            </a:r>
          </a:p>
        </p:txBody>
      </p:sp>
      <p:sp>
        <p:nvSpPr>
          <p:cNvPr id="3" name="Content Placeholder 2"/>
          <p:cNvSpPr>
            <a:spLocks noGrp="1"/>
          </p:cNvSpPr>
          <p:nvPr>
            <p:ph idx="1"/>
          </p:nvPr>
        </p:nvSpPr>
        <p:spPr/>
        <p:txBody>
          <a:bodyPr/>
          <a:lstStyle/>
          <a:p>
            <a:pPr>
              <a:defRPr sz="1200"/>
            </a:pPr>
            <a:r>
              <a:t>Real-World GLUE Benchmark Applications Content Theme: GLUE Benchmark tasks encompass diverse areas like text classification, sentiment analysis, and question-answering Each task evaluates specific aspects of a language model's performance in understanding and processing language Completing all tasks provides a comprehensive assessment of a language model's capabilities Examples of tasks include determining the sentiment of a sentence or classifyi...</a:t>
            </a:r>
            <a:br/>
            <a:br/>
            <a:r>
              <a:t>Sources: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CC-News Dataset Overview: LLM Detection Benchmark</a:t>
            </a:r>
          </a:p>
        </p:txBody>
      </p:sp>
      <p:sp>
        <p:nvSpPr>
          <p:cNvPr id="3" name="Content Placeholder 2"/>
          <p:cNvSpPr>
            <a:spLocks noGrp="1"/>
          </p:cNvSpPr>
          <p:nvPr>
            <p:ph idx="1"/>
          </p:nvPr>
        </p:nvSpPr>
        <p:spPr/>
        <p:txBody>
          <a:bodyPr/>
          <a:lstStyle/>
          <a:p>
            <a:pPr>
              <a:defRPr sz="1200"/>
            </a:pPr>
            <a:r>
              <a:t>Introduction to the CC-News Dataset Content Theme: The CC-News dataset serves as a large-scale benchmark for evaluating LLM-content detection models. It includes a diverse collection of news articles sourced from various platforms. This dataset is instrumental in testing the robustness and generalization capabilities of language models. Researchers can utilize the CC-News dataset to train and assess LLM detectors on authentic text data...</a:t>
            </a:r>
            <a:br/>
            <a:br/>
            <a:r>
              <a:t>Sources: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CC-News Dataset: LLM Detection Benchmark</a:t>
            </a:r>
          </a:p>
        </p:txBody>
      </p:sp>
      <p:sp>
        <p:nvSpPr>
          <p:cNvPr id="3" name="Content Placeholder 2"/>
          <p:cNvSpPr>
            <a:spLocks noGrp="1"/>
          </p:cNvSpPr>
          <p:nvPr>
            <p:ph idx="1"/>
          </p:nvPr>
        </p:nvSpPr>
        <p:spPr/>
        <p:txBody>
          <a:bodyPr/>
          <a:lstStyle/>
          <a:p>
            <a:pPr>
              <a:defRPr sz="1200"/>
            </a:pPr>
            <a:r>
              <a:t>Purpose of CC-News in LLM-content detection Content Theme: The CC-News dataset is a large-scale benchmark for evaluating LLM-content detection models. It contains a diverse collection of news articles from various sources. Ideal for testing robustness and generalization capabilities of language models. Researchers can train and evaluate LLM detectors on real-world text data using this dataset...</a:t>
            </a:r>
            <a:br/>
            <a:br/>
            <a:r>
              <a:t>Sources: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Diverse News Articles for LLM Detection</a:t>
            </a:r>
          </a:p>
        </p:txBody>
      </p:sp>
      <p:sp>
        <p:nvSpPr>
          <p:cNvPr id="3" name="Content Placeholder 2"/>
          <p:cNvSpPr>
            <a:spLocks noGrp="1"/>
          </p:cNvSpPr>
          <p:nvPr>
            <p:ph idx="1"/>
          </p:nvPr>
        </p:nvSpPr>
        <p:spPr/>
        <p:txBody>
          <a:bodyPr/>
          <a:lstStyle/>
          <a:p>
            <a:pPr>
              <a:defRPr sz="1200"/>
            </a:pPr>
            <a:r>
              <a:t>Diverse News Articles for LLM Detection Content Theme: The CC-News dataset comprises diverse news articles from various sources. It is ideal for testing the robustness and generalization capabilities of language models. Researchers can train and evaluate LLM detectors on real-world text data using this dataset. The CC-News dataset provides a valuable benchmark for evaluating LLM-content detection models...</a:t>
            </a:r>
            <a:br/>
            <a:br/>
            <a:r>
              <a:t>Sources: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CC-News Sources for LLM Detection</a:t>
            </a:r>
          </a:p>
        </p:txBody>
      </p:sp>
      <p:sp>
        <p:nvSpPr>
          <p:cNvPr id="3" name="Content Placeholder 2"/>
          <p:cNvSpPr>
            <a:spLocks noGrp="1"/>
          </p:cNvSpPr>
          <p:nvPr>
            <p:ph idx="1"/>
          </p:nvPr>
        </p:nvSpPr>
        <p:spPr/>
        <p:txBody>
          <a:bodyPr/>
          <a:lstStyle/>
          <a:p>
            <a:pPr>
              <a:defRPr sz="1200"/>
            </a:pPr>
            <a:r>
              <a:t>Exploring CC-News Sources for LLM Detection Content Theme: CC-News dataset provides diverse news articles from various sources for LLM-content detection. Ideal for testing robustness and generalization capabilities of language models. Researchers can train and evaluate LLM detectors on real-world text data using this dataset. Valuable benchmark for evaluating LLM-content detection models...</a:t>
            </a:r>
            <a:br/>
            <a:br/>
            <a:r>
              <a:t>Sources: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News Articles in CC-News</a:t>
            </a:r>
          </a:p>
        </p:txBody>
      </p:sp>
      <p:sp>
        <p:nvSpPr>
          <p:cNvPr id="3" name="Content Placeholder 2"/>
          <p:cNvSpPr>
            <a:spLocks noGrp="1"/>
          </p:cNvSpPr>
          <p:nvPr>
            <p:ph idx="1"/>
          </p:nvPr>
        </p:nvSpPr>
        <p:spPr/>
        <p:txBody>
          <a:bodyPr/>
          <a:lstStyle/>
          <a:p>
            <a:pPr>
              <a:defRPr sz="1200"/>
            </a:pPr>
            <a:r>
              <a:t>Analyzing News Articles in CC-News Content Theme: The CC-News dataset is a large-scale benchmark for evaluating LLM-content detection models. It contains a diverse collection of news articles from various sources. Ideal for testing the robustness and generalization capabilities of language models. Researchers can train and evaluate LLM detectors on real-world text data using this dataset...</a:t>
            </a:r>
            <a:br/>
            <a:br/>
            <a:r>
              <a:t>Sources: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CC-News Dataset: LLM Detection Benchmark Overview</a:t>
            </a:r>
          </a:p>
        </p:txBody>
      </p:sp>
      <p:sp>
        <p:nvSpPr>
          <p:cNvPr id="3" name="Content Placeholder 2"/>
          <p:cNvSpPr>
            <a:spLocks noGrp="1"/>
          </p:cNvSpPr>
          <p:nvPr>
            <p:ph idx="1"/>
          </p:nvPr>
        </p:nvSpPr>
        <p:spPr/>
        <p:txBody>
          <a:bodyPr/>
          <a:lstStyle/>
          <a:p>
            <a:pPr>
              <a:defRPr sz="1200"/>
            </a:pPr>
            <a:r>
              <a:t>CC-News Dataset: LLM Detection Benchmark Overview The CC-News dataset is a valuable benchmark for evaluating LLM-content detection models, offering a diverse collection of news articles from various sources. This dataset is ideal for testing the robustness and generalization capabilities of language models, allowing researchers to assess their performance on real-world text data...</a:t>
            </a:r>
            <a:br/>
            <a:br/>
            <a:r>
              <a:t>Sources: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CC-News for LLM Testing</a:t>
            </a:r>
          </a:p>
        </p:txBody>
      </p:sp>
      <p:sp>
        <p:nvSpPr>
          <p:cNvPr id="3" name="Content Placeholder 2"/>
          <p:cNvSpPr>
            <a:spLocks noGrp="1"/>
          </p:cNvSpPr>
          <p:nvPr>
            <p:ph idx="1"/>
          </p:nvPr>
        </p:nvSpPr>
        <p:spPr/>
        <p:txBody>
          <a:bodyPr/>
          <a:lstStyle/>
          <a:p>
            <a:pPr>
              <a:defRPr sz="1200"/>
            </a:pPr>
            <a:r>
              <a:t>Benefits of using CC-News for LLM-Content Testing Benefits of CC-News for LLM Testing Content Theme: CC-News dataset offers diverse news articles for testing LLM-content detection models Researchers can evaluate the robustness and generalization capabilities of language models Ideal for training and assessing LLM detectors on real-world text data Provides a valuable benchmark for evaluating LLM-content detection models Teaching Outline Context: W...</a:t>
            </a:r>
            <a:br/>
            <a:br/>
            <a:r>
              <a:t>Sources: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Applications of CC-News Dataset</a:t>
            </a:r>
          </a:p>
        </p:txBody>
      </p:sp>
      <p:sp>
        <p:nvSpPr>
          <p:cNvPr id="3" name="Content Placeholder 2"/>
          <p:cNvSpPr>
            <a:spLocks noGrp="1"/>
          </p:cNvSpPr>
          <p:nvPr>
            <p:ph idx="1"/>
          </p:nvPr>
        </p:nvSpPr>
        <p:spPr/>
        <p:txBody>
          <a:bodyPr/>
          <a:lstStyle/>
          <a:p>
            <a:pPr>
              <a:defRPr sz="1200"/>
            </a:pPr>
            <a:r>
              <a:t>Real-World Applications of CC-News Dataset Content Theme: The CC-News dataset offers diverse news articles for testing LLM-content detection models Researchers can assess the robustness and generalization capabilities of language models Ideal for training and evaluating LLM detectors on real-world text data Provides a valuable benchmark for evaluating LLM-content detection models Teaching Outline Context: Week 1: LLM-Content Benchmarking Datasets...</a:t>
            </a:r>
            <a:br/>
            <a:br/>
            <a:r>
              <a:t>Sources: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"Wikipedia Toxicity Dataset Overview"</a:t>
            </a:r>
          </a:p>
        </p:txBody>
      </p:sp>
      <p:sp>
        <p:nvSpPr>
          <p:cNvPr id="3" name="Content Placeholder 2"/>
          <p:cNvSpPr>
            <a:spLocks noGrp="1"/>
          </p:cNvSpPr>
          <p:nvPr>
            <p:ph idx="1"/>
          </p:nvPr>
        </p:nvSpPr>
        <p:spPr/>
        <p:txBody>
          <a:bodyPr/>
          <a:lstStyle/>
          <a:p>
            <a:pPr>
              <a:defRPr sz="1200"/>
            </a:pPr>
            <a:r>
              <a:t>Wikipedia Toxicity Dataset Overview The Wikipedia Toxicity Dataset serves as a benchmark dataset for evaluating Language Models (LLMs) in detecting toxic or harmful content. It includes Wikipedia comments labeled based on toxicity levels ranging from benign to highly offensive. Researchers use this dataset to train and test LLM-content detection models to enhance accuracy in identifying harmful language patterns...</a:t>
            </a:r>
            <a:br/>
            <a:br/>
            <a:r>
              <a:t>Sources: [17]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"Wikipedia Toxicity Dataset Impact on LLM Evaluation"</a:t>
            </a:r>
          </a:p>
        </p:txBody>
      </p:sp>
      <p:sp>
        <p:nvSpPr>
          <p:cNvPr id="3" name="Content Placeholder 2"/>
          <p:cNvSpPr>
            <a:spLocks noGrp="1"/>
          </p:cNvSpPr>
          <p:nvPr>
            <p:ph idx="1"/>
          </p:nvPr>
        </p:nvSpPr>
        <p:spPr/>
        <p:txBody>
          <a:bodyPr/>
          <a:lstStyle/>
          <a:p>
            <a:pPr>
              <a:defRPr sz="1200"/>
            </a:pPr>
            <a:r>
              <a:t>"Wikipedia Toxicity Dataset Impact on LLM Evaluation" Content Theme: The Wikipedia Toxicity Dataset is a benchmark dataset for evaluating LLMs in detecting toxic or harmful content. It consists of Wikipedia comments labeled based on toxicity levels from benign to highly offensive. Researchers use this dataset to train and test LLM-content detection models to improve accuracy in identifying harmful language patterns. Link to dataset: (https://www...</a:t>
            </a:r>
            <a:br/>
            <a:br/>
            <a:r>
              <a:t>Sources: [18]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Wikipedia Toxicity Dataset: Detecting Offensive Comments</a:t>
            </a:r>
          </a:p>
        </p:txBody>
      </p:sp>
      <p:sp>
        <p:nvSpPr>
          <p:cNvPr id="3" name="Content Placeholder 2"/>
          <p:cNvSpPr>
            <a:spLocks noGrp="1"/>
          </p:cNvSpPr>
          <p:nvPr>
            <p:ph idx="1"/>
          </p:nvPr>
        </p:nvSpPr>
        <p:spPr/>
        <p:txBody>
          <a:bodyPr/>
          <a:lstStyle/>
          <a:p>
            <a:pPr>
              <a:defRPr sz="2400"/>
            </a:pPr>
            <a:r>
              <a:t>Wikipedia Toxicity Dataset: Detecting Offensive Comments Content Theme: Toxicity levels in Wikipedia comments can vary from benign to highly offensive. The Wikipedia Toxicity Dataset is labeled based on these toxicity levels. Researchers utilize this dataset to train and test LLM-content detection models. Dataset Link: (https://www.kaggle...</a:t>
            </a:r>
            <a:br/>
            <a:br/>
            <a:r>
              <a:t>Sources: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Labeling Process in Wikipedia Toxicity Dataset</a:t>
            </a:r>
          </a:p>
        </p:txBody>
      </p:sp>
      <p:sp>
        <p:nvSpPr>
          <p:cNvPr id="3" name="Content Placeholder 2"/>
          <p:cNvSpPr>
            <a:spLocks noGrp="1"/>
          </p:cNvSpPr>
          <p:nvPr>
            <p:ph idx="1"/>
          </p:nvPr>
        </p:nvSpPr>
        <p:spPr/>
        <p:txBody>
          <a:bodyPr/>
          <a:lstStyle/>
          <a:p>
            <a:pPr>
              <a:defRPr sz="2400"/>
            </a:pPr>
            <a:r>
              <a:t>Labeling Process in Wikipedia Toxicity Dataset Content Theme: The Wikipedia Toxicity Dataset provides labeled comments based on toxicity levels, ranging from benign to highly offensive. Researchers utilize this dataset to train and test LLM-content detection models for improved accuracy. Dataset Link: (https://www.kaggle...</a:t>
            </a:r>
            <a:br/>
            <a:br/>
            <a:r>
              <a:t>Sources: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"Wikipedia Toxicity Comment Labeling for LLM Training"</a:t>
            </a:r>
          </a:p>
        </p:txBody>
      </p:sp>
      <p:sp>
        <p:nvSpPr>
          <p:cNvPr id="3" name="Content Placeholder 2"/>
          <p:cNvSpPr>
            <a:spLocks noGrp="1"/>
          </p:cNvSpPr>
          <p:nvPr>
            <p:ph idx="1"/>
          </p:nvPr>
        </p:nvSpPr>
        <p:spPr/>
        <p:txBody>
          <a:bodyPr/>
          <a:lstStyle/>
          <a:p>
            <a:pPr>
              <a:defRPr sz="2400"/>
            </a:pPr>
            <a:r>
              <a:t>"Wikipedia Toxicity Comment Labeling for LLM Training" Content Theme: Labeling Wikipedia comments for toxicity helps train LLM-content detection models Researchers use the Wikipedia Toxicity Dataset to improve accuracy in identifying harmful language patterns Dataset link: (https://www.kaggle...</a:t>
            </a:r>
            <a:br/>
            <a:br/>
            <a:r>
              <a:t>Sources: [21]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Assessing Language Model Performance Overview"</a:t>
            </a:r>
          </a:p>
        </p:txBody>
      </p:sp>
      <p:sp>
        <p:nvSpPr>
          <p:cNvPr id="3" name="Content Placeholder 2"/>
          <p:cNvSpPr>
            <a:spLocks noGrp="1"/>
          </p:cNvSpPr>
          <p:nvPr>
            <p:ph idx="1"/>
          </p:nvPr>
        </p:nvSpPr>
        <p:spPr/>
        <p:txBody>
          <a:bodyPr/>
          <a:lstStyle/>
          <a:p>
            <a:pPr>
              <a:defRPr sz="1200"/>
            </a:pPr>
            <a:r>
              <a:t>"GLUE Benchmark: Assessing Language Model Performance Overview" Content Theme: The GLUE Benchmark is a standard framework for evaluating the performance of language models It consists of nine diverse tasks such as text classification, sentiment analysis, and question-answering Researchers use the GLUE Benchmark to compare different language models and track advancements in natural language understanding Completing all tasks provides a comprehensi...</a:t>
            </a:r>
            <a:br/>
            <a:br/>
            <a:r>
              <a:t>Sources: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Toxicity Detection with Wikipedia Dataset</a:t>
            </a:r>
          </a:p>
        </p:txBody>
      </p:sp>
      <p:sp>
        <p:nvSpPr>
          <p:cNvPr id="3" name="Content Placeholder 2"/>
          <p:cNvSpPr>
            <a:spLocks noGrp="1"/>
          </p:cNvSpPr>
          <p:nvPr>
            <p:ph idx="1"/>
          </p:nvPr>
        </p:nvSpPr>
        <p:spPr/>
        <p:txBody>
          <a:bodyPr/>
          <a:lstStyle/>
          <a:p>
            <a:pPr>
              <a:defRPr sz="1200"/>
            </a:pPr>
            <a:r>
              <a:t>Real-World Toxicity Detection with Wikipedia Dataset Content Theme: The Wikipedia Toxicity Dataset is utilized for evaluating LLMs in detecting toxic or harmful content It comprises Wikipedia comments labeled based on toxicity levels from benign to highly offensive Researchers employ this dataset to enhance accuracy in identifying harmful language patterns Real-world applications include training and testing LLM-content detection models with a fo...</a:t>
            </a:r>
            <a:br/>
            <a:br/>
            <a:r>
              <a:t>Sources: [23]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Advancing Language Model Evaluation: GLUE Benchmark Insights</a:t>
            </a:r>
          </a:p>
        </p:txBody>
      </p:sp>
      <p:sp>
        <p:nvSpPr>
          <p:cNvPr id="3" name="Content Placeholder 2"/>
          <p:cNvSpPr>
            <a:spLocks noGrp="1"/>
          </p:cNvSpPr>
          <p:nvPr>
            <p:ph idx="1"/>
          </p:nvPr>
        </p:nvSpPr>
        <p:spPr/>
        <p:txBody>
          <a:bodyPr/>
          <a:lstStyle/>
          <a:p>
            <a:pPr>
              <a:defRPr sz="1200"/>
            </a:pPr>
            <a:r>
              <a:t>Understanding Adversarial Attacks on Language Models Content Theme: Adversarial attacks pose a threat to language models by exploiting vulnerabilities to deceive detectors Techniques like data poisoning and model inversion are used to manipulate language models Implications of adversarial attacks include compromised reliability and robustness of language models Developing defenses against such attacks is crucial for ensuring model integrity and s...</a:t>
            </a:r>
            <a:br/>
            <a:br/>
            <a:r>
              <a:t>Sources: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Task Performance Overview</a:t>
            </a:r>
          </a:p>
        </p:txBody>
      </p:sp>
      <p:sp>
        <p:nvSpPr>
          <p:cNvPr id="3" name="Content Placeholder 2"/>
          <p:cNvSpPr>
            <a:spLocks noGrp="1"/>
          </p:cNvSpPr>
          <p:nvPr>
            <p:ph idx="1"/>
          </p:nvPr>
        </p:nvSpPr>
        <p:spPr/>
        <p:txBody>
          <a:bodyPr/>
          <a:lstStyle/>
          <a:p>
            <a:pPr>
              <a:defRPr sz="1200"/>
            </a:pPr>
            <a:r>
              <a:t>GLUE Benchmark Task Performance Overview Content Theme: The General Language Understanding Evaluation (GLUE) Benchmark assesses language models' performance Consists of nine tasks like text classification, sentiment analysis, and question-answering Comprehensive assessment of language model capabilities through completing all tasks Enables comparison of different models and tracking advancements in natural language understanding Teaching Outline ...</a:t>
            </a:r>
            <a:br/>
            <a:br/>
            <a:r>
              <a:t>Sources: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to Evade LLM Detectors</a:t>
            </a:r>
          </a:p>
        </p:txBody>
      </p:sp>
      <p:sp>
        <p:nvSpPr>
          <p:cNvPr id="3" name="Content Placeholder 2"/>
          <p:cNvSpPr>
            <a:spLocks noGrp="1"/>
          </p:cNvSpPr>
          <p:nvPr>
            <p:ph idx="1"/>
          </p:nvPr>
        </p:nvSpPr>
        <p:spPr/>
        <p:txBody>
          <a:bodyPr/>
          <a:lstStyle/>
          <a:p>
            <a:pPr>
              <a:defRPr sz="1200"/>
            </a:pPr>
            <a:r>
              <a:t>Strategies to Evade LLM Detectors Content Theme: Adversarial attacks involve crafting inputs to deceive language models into incorrect predictions Techniques include adding noise, perturbations, or crafting input examples to confuse models Exploiting vulnerabilities in model understanding and syntax helps evade detection Domain-specific knowledge can be used to generate content less likely to be flagged by detectors Teaching Outline Context: Week...</a:t>
            </a:r>
            <a:br/>
            <a:br/>
            <a:r>
              <a:t>Sources: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Creating Adversarial Examples: Hands-On Techniques</a:t>
            </a:r>
          </a:p>
        </p:txBody>
      </p:sp>
      <p:sp>
        <p:nvSpPr>
          <p:cNvPr id="3" name="Content Placeholder 2"/>
          <p:cNvSpPr>
            <a:spLocks noGrp="1"/>
          </p:cNvSpPr>
          <p:nvPr>
            <p:ph idx="1"/>
          </p:nvPr>
        </p:nvSpPr>
        <p:spPr/>
        <p:txBody>
          <a:bodyPr/>
          <a:lstStyle/>
          <a:p>
            <a:pPr>
              <a:defRPr sz="1200"/>
            </a:pPr>
            <a:r>
              <a:t>Creating Adversarial Examples: Hands-On Techniques Content Theme: Adversarial attacks manipulate input data to deceive language models into incorrect predictions Crafted examples exploit model vulnerabilities to evade detection by LLM detectors Careful crafting of input text generates adversarial examples for bypassing detection mechanisms Attackers can evade LLM detectors by exploiting weaknesses in model understanding and syntax Teaching Outlin...</a:t>
            </a:r>
            <a:br/>
            <a:br/>
            <a:r>
              <a:t>Sources: [27]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Adversarial Attacks on LLM Reliability</a:t>
            </a:r>
          </a:p>
        </p:txBody>
      </p:sp>
      <p:sp>
        <p:nvSpPr>
          <p:cNvPr id="3" name="Content Placeholder 2"/>
          <p:cNvSpPr>
            <a:spLocks noGrp="1"/>
          </p:cNvSpPr>
          <p:nvPr>
            <p:ph idx="1"/>
          </p:nvPr>
        </p:nvSpPr>
        <p:spPr/>
        <p:txBody>
          <a:bodyPr/>
          <a:lstStyle/>
          <a:p>
            <a:pPr>
              <a:defRPr sz="1200"/>
            </a:pPr>
            <a:r>
              <a:t>Impact of Adversarial Attacks on LLM Reliability Content Theme: The GLUE Benchmark is a standard framework for evaluating the performance of language models It consists of nine diverse tasks such as text classification, sentiment analysis, and question-answering Completing all tasks provides a comprehensive assessment of a language model's capabilities Teaching Outline Context: Week 1: LLM-Content Benchmarking Datasets Topic 1: General Language U...</a:t>
            </a:r>
            <a:br/>
            <a:br/>
            <a:r>
              <a:t>Sources: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Evading LLM Detectors with Adversarial Attacks</a:t>
            </a:r>
          </a:p>
        </p:txBody>
      </p:sp>
      <p:sp>
        <p:nvSpPr>
          <p:cNvPr id="3" name="Content Placeholder 2"/>
          <p:cNvSpPr>
            <a:spLocks noGrp="1"/>
          </p:cNvSpPr>
          <p:nvPr>
            <p:ph idx="1"/>
          </p:nvPr>
        </p:nvSpPr>
        <p:spPr/>
        <p:txBody>
          <a:bodyPr/>
          <a:lstStyle/>
          <a:p>
            <a:pPr>
              <a:defRPr sz="1200"/>
            </a:pPr>
            <a:r>
              <a:t>Evading LLM Detectors with Adversarial Attacks Content Theme: Adversarial attacks manipulate input data to deceive language models into incorrect predictions Crafted examples exploit model vulnerabilities to evade detection by LLM detectors Careful crafting of input text generates adversarial examples for bypassing detection mechanisms Attackers can evade LLM detectors by exploiting weaknesses in model understanding and syntax Teaching Outline Co...</a:t>
            </a:r>
            <a:br/>
            <a:br/>
            <a:r>
              <a:t>Sources: [29]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LLM Model Inversion &amp; Adversarial Attacks</a:t>
            </a:r>
          </a:p>
        </p:txBody>
      </p:sp>
      <p:sp>
        <p:nvSpPr>
          <p:cNvPr id="3" name="Content Placeholder 2"/>
          <p:cNvSpPr>
            <a:spLocks noGrp="1"/>
          </p:cNvSpPr>
          <p:nvPr>
            <p:ph idx="1"/>
          </p:nvPr>
        </p:nvSpPr>
        <p:spPr/>
        <p:txBody>
          <a:bodyPr/>
          <a:lstStyle/>
          <a:p>
            <a:pPr>
              <a:defRPr sz="1200"/>
            </a:pPr>
            <a:r>
              <a:t>LLM Model Inversion &amp; Adversarial Attacks Content Theme: Model inversion techniques aim to reverse-engineer the LLM model to extract sensitive information or manipulate its predictions Adversarial attacks involve crafting input data that appears benign to humans but is misclassified by the LLM model Data poisoning involves injecting malicious samples into the training data to corrupt the model's learning process Strategies highlight the ongoing c...</a:t>
            </a:r>
            <a:br/>
            <a:br/>
            <a:r>
              <a:t>Sources: [30]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GLUE Benchmark Evaluation Summary</a:t>
            </a:r>
          </a:p>
        </p:txBody>
      </p:sp>
      <p:sp>
        <p:nvSpPr>
          <p:cNvPr id="3" name="Content Placeholder 2"/>
          <p:cNvSpPr>
            <a:spLocks noGrp="1"/>
          </p:cNvSpPr>
          <p:nvPr>
            <p:ph idx="1"/>
          </p:nvPr>
        </p:nvSpPr>
        <p:spPr/>
        <p:txBody>
          <a:bodyPr/>
          <a:lstStyle/>
          <a:p>
            <a:pPr>
              <a:defRPr sz="1200"/>
            </a:pPr>
            <a:r>
              <a:t>GLUE Benchmark Evaluation Summary Content Theme: The GLUE Benchmark is a standard framework for evaluating the performance of language models It consists of nine diverse tasks such as text classification, sentiment analysis, and question-answering Completing all tasks provides a comprehensive assessment of a language model's capabilities Teaching Outline Context: Week 1: LLM-Content Benchmarking Datasets Topic 1: General Language Understanding Ev...</a:t>
            </a:r>
            <a:br/>
            <a:br/>
            <a:r>
              <a:t>Sources: [31]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Input Data for Evading LLM Detectors</a:t>
            </a:r>
          </a:p>
        </p:txBody>
      </p:sp>
      <p:sp>
        <p:nvSpPr>
          <p:cNvPr id="3" name="Content Placeholder 2"/>
          <p:cNvSpPr>
            <a:spLocks noGrp="1"/>
          </p:cNvSpPr>
          <p:nvPr>
            <p:ph idx="1"/>
          </p:nvPr>
        </p:nvSpPr>
        <p:spPr/>
        <p:txBody>
          <a:bodyPr/>
          <a:lstStyle/>
          <a:p>
            <a:pPr>
              <a:defRPr sz="1200"/>
            </a:pPr>
            <a:r>
              <a:t>Crafting Input Data for Evading LLM Detectors Content Theme: The GLUE Benchmark is a standard framework for evaluating the performance of language models It consists of nine diverse tasks such as text classification, sentiment analysis, and question-answering Completing all tasks provides a comprehensive assessment of a language model's capabilities Teaching Outline Context: Week 1: LLM-Content Benchmarking Datasets Topic 1: General Language Unde...</a:t>
            </a:r>
            <a:br/>
            <a:br/>
            <a:r>
              <a:t>Sources: [32]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"Deceiving LLM Detectors: Adversarial Attack Strategies"</a:t>
            </a:r>
          </a:p>
        </p:txBody>
      </p:sp>
      <p:sp>
        <p:nvSpPr>
          <p:cNvPr id="3" name="Content Placeholder 2"/>
          <p:cNvSpPr>
            <a:spLocks noGrp="1"/>
          </p:cNvSpPr>
          <p:nvPr>
            <p:ph idx="1"/>
          </p:nvPr>
        </p:nvSpPr>
        <p:spPr/>
        <p:txBody>
          <a:bodyPr/>
          <a:lstStyle/>
          <a:p>
            <a:pPr>
              <a:defRPr sz="1200"/>
            </a:pPr>
            <a:r>
              <a:t>Deceiving LLM Detectors: Adversarial Attack Strategies Content Theme: Adversarial attacks manipulate input data to deceive language models into incorrect predictions Crafted examples exploit model vulnerabilities to evade detection by LLM detectors Careful crafting of input text generates adversarial examples for bypassing detection mechanisms Attackers can evade LLM detectors by exploiting weaknesses in model understanding and syntax Teaching Ou...</a:t>
            </a:r>
            <a:br/>
            <a:br/>
            <a:r>
              <a:t>Sources: [33]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Model Response to Adversarial Examples</a:t>
            </a:r>
          </a:p>
        </p:txBody>
      </p:sp>
      <p:sp>
        <p:nvSpPr>
          <p:cNvPr id="3" name="Content Placeholder 2"/>
          <p:cNvSpPr>
            <a:spLocks noGrp="1"/>
          </p:cNvSpPr>
          <p:nvPr>
            <p:ph idx="1"/>
          </p:nvPr>
        </p:nvSpPr>
        <p:spPr/>
        <p:txBody>
          <a:bodyPr/>
          <a:lstStyle/>
          <a:p>
            <a:pPr>
              <a:defRPr sz="1200"/>
            </a:pPr>
            <a:r>
              <a:t>Model Response to Adversarial Examples Content Theme: The GLUE Benchmark is a standard framework for evaluating the performance of language models It consists of nine diverse tasks such as text classification, sentiment analysis, and question-answering Completing all tasks provides a comprehensive assessment of a language model's capabilities Teaching Outline Context: Week 1: LLM-Content Benchmarking Datasets Topic 1: General Language Understandi...</a:t>
            </a:r>
            <a:br/>
            <a:br/>
            <a:r>
              <a:t>Sources: [34]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Manipulating Language Models</a:t>
            </a:r>
          </a:p>
        </p:txBody>
      </p:sp>
      <p:sp>
        <p:nvSpPr>
          <p:cNvPr id="3" name="Content Placeholder 2"/>
          <p:cNvSpPr>
            <a:spLocks noGrp="1"/>
          </p:cNvSpPr>
          <p:nvPr>
            <p:ph idx="1"/>
          </p:nvPr>
        </p:nvSpPr>
        <p:spPr/>
        <p:txBody>
          <a:bodyPr/>
          <a:lstStyle/>
          <a:p>
            <a:pPr>
              <a:defRPr sz="1200"/>
            </a:pPr>
            <a:r>
              <a:t>Strategies for Manipulating Language Models Content Theme: Adversarial attacks manipulate input data to deceive language models into incorrect predictions Crafted examples exploit model vulnerabilities to evade detection by LLM detectors Careful crafting of input text generates adversarial examples for bypassing detection mechanisms Attackers can evade LLM detectors by exploiting weaknesses in model understanding and syntax Teaching Outline Conte...</a:t>
            </a:r>
            <a:br/>
            <a:br/>
            <a:r>
              <a:t>Sources: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LLM Content: Watermarking Techniques"</a:t>
            </a:r>
          </a:p>
        </p:txBody>
      </p:sp>
      <p:sp>
        <p:nvSpPr>
          <p:cNvPr id="3" name="Content Placeholder 2"/>
          <p:cNvSpPr>
            <a:spLocks noGrp="1"/>
          </p:cNvSpPr>
          <p:nvPr>
            <p:ph idx="1"/>
          </p:nvPr>
        </p:nvSpPr>
        <p:spPr/>
        <p:txBody>
          <a:bodyPr/>
          <a:lstStyle/>
          <a:p>
            <a:pPr>
              <a:defRPr sz="2400"/>
            </a:pPr>
            <a:r>
              <a:t>Protecting LLM Watermarking Techniques Content Theme: Watermarking LLM content involves embedding imperceptible markers to verify authenticity and ownership Techniques like digital watermarking and steganography are used for protection Applications include copyright protection, content authentication, and forensic analysis Source: https://www.sciencedirect...</a:t>
            </a:r>
            <a:br/>
            <a:br/>
            <a:r>
              <a:t>Sources: [36]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Embedding Authenticity Markers in LLM Content</a:t>
            </a:r>
          </a:p>
        </p:txBody>
      </p:sp>
      <p:sp>
        <p:nvSpPr>
          <p:cNvPr id="3" name="Content Placeholder 2"/>
          <p:cNvSpPr>
            <a:spLocks noGrp="1"/>
          </p:cNvSpPr>
          <p:nvPr>
            <p:ph idx="1"/>
          </p:nvPr>
        </p:nvSpPr>
        <p:spPr/>
        <p:txBody>
          <a:bodyPr/>
          <a:lstStyle/>
          <a:p>
            <a:pPr>
              <a:defRPr sz="1200"/>
            </a:pPr>
            <a:r>
              <a:t>Embedding Authenticity Markers in LLM Content Content Theme: Watermarking LLM content involves embedding imperceptible markers for authenticity and ownership Techniques like digital watermarking and steganography are used for protection Applications include copyright protection, content authentication, and forensic analysis Imperceptible markers ensure content integrity and ownership verification Source: https://www.sciencedirect...</a:t>
            </a:r>
            <a:br/>
            <a:br/>
            <a:r>
              <a:t>Sources: [37]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Task Evaluation Overview</a:t>
            </a:r>
          </a:p>
        </p:txBody>
      </p:sp>
      <p:sp>
        <p:nvSpPr>
          <p:cNvPr id="3" name="Content Placeholder 2"/>
          <p:cNvSpPr>
            <a:spLocks noGrp="1"/>
          </p:cNvSpPr>
          <p:nvPr>
            <p:ph idx="1"/>
          </p:nvPr>
        </p:nvSpPr>
        <p:spPr/>
        <p:txBody>
          <a:bodyPr/>
          <a:lstStyle/>
          <a:p>
            <a:pPr>
              <a:defRPr sz="1200"/>
            </a:pPr>
            <a:r>
              <a:t>Techniques for watermarking LLM content Content Theme: Watermarking LLM content involves embedding imperceptible markers for authenticity and ownership Techniques like digital watermarking and steganography are used for protection Applications include copyright protection, content authentication, and forensic analysis Imperceptible markers ensure content integrity and ownership verification Source: https://www.sciencedirect...</a:t>
            </a:r>
            <a:br/>
            <a:br/>
            <a:r>
              <a:t>Sources: [38]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Language Model Performance with GLUE Benchmark</a:t>
            </a:r>
          </a:p>
        </p:txBody>
      </p:sp>
      <p:sp>
        <p:nvSpPr>
          <p:cNvPr id="3" name="Content Placeholder 2"/>
          <p:cNvSpPr>
            <a:spLocks noGrp="1"/>
          </p:cNvSpPr>
          <p:nvPr>
            <p:ph idx="1"/>
          </p:nvPr>
        </p:nvSpPr>
        <p:spPr/>
        <p:txBody>
          <a:bodyPr/>
          <a:lstStyle/>
          <a:p>
            <a:pPr>
              <a:defRPr sz="1200"/>
            </a:pPr>
            <a:r>
              <a:t>Digital watermarking for LLM content protection Content Theme: Digital watermarking involves embedding imperceptible information into language model-generated text for unique identification. Techniques like digital watermarking, steganography, and metadata embedding can be utilized for protecting LLM content. Applications of watermarking LLM content include safeguarding intellectual property, combating plagiarism, and verifying authenticity...</a:t>
            </a:r>
            <a:br/>
            <a:br/>
            <a:r>
              <a:t>Sources: [39]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"Imperceptible Markers for LLM Authentication"</a:t>
            </a:r>
          </a:p>
        </p:txBody>
      </p:sp>
      <p:sp>
        <p:nvSpPr>
          <p:cNvPr id="3" name="Content Placeholder 2"/>
          <p:cNvSpPr>
            <a:spLocks noGrp="1"/>
          </p:cNvSpPr>
          <p:nvPr>
            <p:ph idx="1"/>
          </p:nvPr>
        </p:nvSpPr>
        <p:spPr/>
        <p:txBody>
          <a:bodyPr/>
          <a:lstStyle/>
          <a:p>
            <a:pPr>
              <a:defRPr sz="1200"/>
            </a:pPr>
            <a:r>
              <a:t>Imperceptible Markers for LLM Authentication Content Theme: Watermarking LLM content involves embedding imperceptible markers for authenticity and ownership. Techniques like digital watermarking and steganography are used for protection. Applications include copyright protection, content authentication, and forensic analysis. Imperceptible markers ensure content integrity and ownership verification. Source: https://www.sciencedirect...</a:t>
            </a:r>
            <a:br/>
            <a:br/>
            <a:r>
              <a:t>Sources: [40]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Implementing Digital Watermarking Techniques</a:t>
            </a:r>
          </a:p>
        </p:txBody>
      </p:sp>
      <p:sp>
        <p:nvSpPr>
          <p:cNvPr id="3" name="Content Placeholder 2"/>
          <p:cNvSpPr>
            <a:spLocks noGrp="1"/>
          </p:cNvSpPr>
          <p:nvPr>
            <p:ph idx="1"/>
          </p:nvPr>
        </p:nvSpPr>
        <p:spPr/>
        <p:txBody>
          <a:bodyPr/>
          <a:lstStyle/>
          <a:p>
            <a:pPr>
              <a:defRPr sz="1200"/>
            </a:pPr>
            <a:r>
              <a:t>Implementing Digital Watermarking Techniques Content Theme: Digital watermarking embeds imperceptible markers into digital content for authenticity and protection. Techniques like spatial domain, frequency domain, and spread spectrum are used for embedding watermarks. Imperceptible watermarks are invisible to users but detectable by specific algorithms. Watermarking LLM content helps ensure content integrity and ownership verification...</a:t>
            </a:r>
            <a:br/>
            <a:br/>
            <a:r>
              <a:t>Sources: [41]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Fine-Tuning for Domain-Specific Performance</a:t>
            </a:r>
          </a:p>
        </p:txBody>
      </p:sp>
      <p:sp>
        <p:nvSpPr>
          <p:cNvPr id="3" name="Content Placeholder 2"/>
          <p:cNvSpPr>
            <a:spLocks noGrp="1"/>
          </p:cNvSpPr>
          <p:nvPr>
            <p:ph idx="1"/>
          </p:nvPr>
        </p:nvSpPr>
        <p:spPr/>
        <p:txBody>
          <a:bodyPr/>
          <a:lstStyle/>
          <a:p>
            <a:pPr>
              <a:defRPr sz="2400"/>
            </a:pPr>
            <a:r>
              <a:t>Understanding Fine-Tuning of Language Models Content Theme: Fine-Tuning for Domain-Specific Performance - Domain adaptation for Large Language Models (LLMs) involves adapting pre-trained models to perform well on specific domains or tasks different from their original training data...</a:t>
            </a:r>
            <a:br/>
            <a:br/>
            <a:r>
              <a:t>Sources: [42]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Multimodal LLMs: Diverse Content Generation</a:t>
            </a:r>
          </a:p>
        </p:txBody>
      </p:sp>
      <p:sp>
        <p:nvSpPr>
          <p:cNvPr id="3" name="Content Placeholder 2"/>
          <p:cNvSpPr>
            <a:spLocks noGrp="1"/>
          </p:cNvSpPr>
          <p:nvPr>
            <p:ph idx="1"/>
          </p:nvPr>
        </p:nvSpPr>
        <p:spPr/>
        <p:txBody>
          <a:bodyPr/>
          <a:lstStyle/>
          <a:p>
            <a:pPr>
              <a:defRPr sz="1200"/>
            </a:pPr>
            <a:r>
              <a:t>Multimodal LLMs: Diverse Content Generation Content Theme: Multimodal LLMs process and generate content using text, images, and audio These models provide more diverse and rich outputs by combining different data modalities Enhance content generation tasks with a comprehensive understanding of input data Applications include generating captions for images, video descriptions, and composing music Teaching Outline Context: Week 1: LLM-Content Bench...</a:t>
            </a:r>
            <a:br/>
            <a:br/>
            <a:r>
              <a:t>Sources: [43]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Fine-Tuning Language Models: Best Practices and Techniques</a:t>
            </a:r>
          </a:p>
        </p:txBody>
      </p:sp>
      <p:sp>
        <p:nvSpPr>
          <p:cNvPr id="3" name="Content Placeholder 2"/>
          <p:cNvSpPr>
            <a:spLocks noGrp="1"/>
          </p:cNvSpPr>
          <p:nvPr>
            <p:ph idx="1"/>
          </p:nvPr>
        </p:nvSpPr>
        <p:spPr/>
        <p:txBody>
          <a:bodyPr/>
          <a:lstStyle/>
          <a:p>
            <a:pPr>
              <a:defRPr sz="1200"/>
            </a:pPr>
            <a:r>
              <a:t>Fine-Tuning Language Models: Best Practices and Techniques Content Theme: Fine-tuning language models on benchmark datasets involves training pre-trained models on specific data to improve task performance Best practices include selecting appropriate pre-trained models, choosing right hyperparameters, and monitoring performance Techniques like gradual unfreezing and data augmentation enhance fine-tuning outcomes Link: https://arxiv.org/abs/2003...</a:t>
            </a:r>
            <a:br/>
            <a:br/>
            <a:r>
              <a:t>Sources: [44]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 Fine-Tuning for Improved Task Performance"</a:t>
            </a:r>
          </a:p>
        </p:txBody>
      </p:sp>
      <p:sp>
        <p:nvSpPr>
          <p:cNvPr id="3" name="Content Placeholder 2"/>
          <p:cNvSpPr>
            <a:spLocks noGrp="1"/>
          </p:cNvSpPr>
          <p:nvPr>
            <p:ph idx="1"/>
          </p:nvPr>
        </p:nvSpPr>
        <p:spPr/>
        <p:txBody>
          <a:bodyPr/>
          <a:lstStyle/>
          <a:p>
            <a:pPr>
              <a:defRPr sz="1200"/>
            </a:pPr>
            <a:r>
              <a:t>BERT Fine-Tuning for Improved Task Performance Content Theme: Fine-tuning BERT on benchmark datasets like GLUE improves task performance Adapting pre-trained models to specific data enhances accuracy and efficiency Adjusting model weights during training optimizes performance for target tasks Comprehensive guide for fine-tuning BERT on GLUE available for better NLP outcomes Teaching Outline Context: Week 1: LLM-Content Benchmarking Datasets Topic...</a:t>
            </a:r>
            <a:br/>
            <a:br/>
            <a:r>
              <a:t>Sources: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"Transfer Learning for LLM-Content Detection"</a:t>
            </a:r>
          </a:p>
        </p:txBody>
      </p:sp>
      <p:sp>
        <p:nvSpPr>
          <p:cNvPr id="3" name="Content Placeholder 2"/>
          <p:cNvSpPr>
            <a:spLocks noGrp="1"/>
          </p:cNvSpPr>
          <p:nvPr>
            <p:ph idx="1"/>
          </p:nvPr>
        </p:nvSpPr>
        <p:spPr/>
        <p:txBody>
          <a:bodyPr/>
          <a:lstStyle/>
          <a:p>
            <a:pPr>
              <a:defRPr sz="1200"/>
            </a:pPr>
            <a:r>
              <a:t>Transfer Learning for LLM-Content Detection Content Theme: Transfer learning leverages knowledge from one task to improve performance on another related task Fine-tuning pre-trained language models on specific benchmark datasets enhances content detection Addressing issues like data scarcity and domain adaptation improves accuracy in identifying misleading content Knowledge transfer from general datasets to task-specific datasets enhances LLM-con...</a:t>
            </a:r>
            <a:br/>
            <a:br/>
            <a:r>
              <a:t>Sources: [46]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Tasks with Pre-Trained Models</a:t>
            </a:r>
          </a:p>
        </p:txBody>
      </p:sp>
      <p:sp>
        <p:nvSpPr>
          <p:cNvPr id="3" name="Content Placeholder 2"/>
          <p:cNvSpPr>
            <a:spLocks noGrp="1"/>
          </p:cNvSpPr>
          <p:nvPr>
            <p:ph idx="1"/>
          </p:nvPr>
        </p:nvSpPr>
        <p:spPr/>
        <p:txBody>
          <a:bodyPr/>
          <a:lstStyle/>
          <a:p>
            <a:pPr>
              <a:defRPr sz="1200"/>
            </a:pPr>
            <a:r>
              <a:t>Leveraging Pre-Trained Models for Specific Tasks Content Theme: Leveraging pre-trained models for specific tasks enhances performance and efficiency Transfer learning allows knowledge transfer from one task to improve performance on another related task Fine-tuning pre-trained language models on benchmark datasets enhances content detection accuracy Addressing issues like data scarcity and domain adaptation improves accuracy in identifying mislea...</a:t>
            </a:r>
            <a:br/>
            <a:br/>
            <a:r>
              <a:t>Sources: [47]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LLM Detection with Transfer Learning</a:t>
            </a:r>
          </a:p>
        </p:txBody>
      </p:sp>
      <p:sp>
        <p:nvSpPr>
          <p:cNvPr id="3" name="Content Placeholder 2"/>
          <p:cNvSpPr>
            <a:spLocks noGrp="1"/>
          </p:cNvSpPr>
          <p:nvPr>
            <p:ph idx="1"/>
          </p:nvPr>
        </p:nvSpPr>
        <p:spPr/>
        <p:txBody>
          <a:bodyPr/>
          <a:lstStyle/>
          <a:p>
            <a:pPr>
              <a:defRPr sz="1200"/>
            </a:pPr>
            <a:r>
              <a:t>Best practices for transfer learning in LLM detection Optimizing LLM Detection with Transfer Learning Content Theme: Leveraging pre-trained models for specific tasks enhances performance and efficiency Transfer learning allows knowledge transfer from one task to improve performance on another related task Fine-tuning pre-trained language models on benchmark datasets enhances content detection accuracy Addressing issues like data scarcity and doma...</a:t>
            </a:r>
            <a:br/>
            <a:br/>
            <a:r>
              <a:t>Sources: [48]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Model Performance with Transfer Learning</a:t>
            </a:r>
          </a:p>
        </p:txBody>
      </p:sp>
      <p:sp>
        <p:nvSpPr>
          <p:cNvPr id="3" name="Content Placeholder 2"/>
          <p:cNvSpPr>
            <a:spLocks noGrp="1"/>
          </p:cNvSpPr>
          <p:nvPr>
            <p:ph idx="1"/>
          </p:nvPr>
        </p:nvSpPr>
        <p:spPr/>
        <p:txBody>
          <a:bodyPr/>
          <a:lstStyle/>
          <a:p>
            <a:pPr>
              <a:defRPr sz="1200"/>
            </a:pPr>
            <a:r>
              <a:t>Enhancing Model Performance with Transfer Learning Content Theme: The General Language Understanding Evaluation (GLUE) Benchmark is a standard framework for evaluating language model performance GLUE consists of nine diverse tasks such as text classification, sentiment analysis, and question-answering Completing all tasks provides a comprehensive assessment of a language model's capabilities GLUE helps track advancements in natural language under...</a:t>
            </a:r>
            <a:br/>
            <a:br/>
            <a:r>
              <a:t>Sources: [49]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Evaluating the Robustness of Language Models Against Adversarial Attacks - https://arxiv.org/abs/2002.08949</a:t>
            </a:r>
            <a:br/>
            <a:r>
              <a:t>[1] Semi-Supervised Learning for Large Language Models (LLMs) - https://arxiv.org/abs/2104.08813</a:t>
            </a:r>
            <a:br/>
            <a:r>
              <a:t>[2] Domain Adaptation for Large Language Models (LLMs) - https://arxiv.org/abs/2106.07994</a:t>
            </a:r>
            <a:br/>
            <a:r>
              <a:t>[3] Multimodal LLMs for Content Generation - https://arxiv.org/abs/2102.02779</a:t>
            </a:r>
            <a:br/>
            <a:r>
              <a:t>[4] Fine-Tuning Language Models on Benchmark Datasets: Best Practices and Techniques - https://arxiv.org/abs/2003.01902</a:t>
            </a:r>
            <a:br/>
            <a:r>
              <a:t>[5] Evaluating the Robustness of Language Models Against Adversarial Attacks - https://arxiv.org/abs/2104.01596</a:t>
            </a:r>
            <a:br/>
            <a:r>
              <a:t>[6] Fine-Tuning Language Models on Benchmark Datasets: Best Practices and Techniques - https://towardsdatascience.com/a-comprehensive-guide-to-fine-tuning-lm-features-on-benchmark-datasets-9e9b66b7f1e5</a:t>
            </a:r>
            <a:br/>
            <a:r>
              <a:t>[7] GLUE Benchmark - https://gluebenchmark.com/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Evaluating the Robustness of Large Language Models (LLMs) - https://arxiv.org/abs/2104.08663</a:t>
            </a:r>
            <a:br/>
            <a:r>
              <a:t>[9] CC-News Dataset: A Large-Scale Benchmark for LLM-Content Detection - https://github.com/uber-research/cc_news_dataset</a:t>
            </a:r>
            <a:br/>
            <a:r>
              <a:t>[10] Continual Learning for Large Language Models (LLMs) - https://arxiv.org/abs/2109.10361</a:t>
            </a:r>
            <a:br/>
            <a:r>
              <a:t>[11] FakeNewsNet: A Data Repository with News Content, Social Context, and Dynamic Information for LLM-Content Benchmarking - https://github.com/KaiDMML/FakeNewsNet</a:t>
            </a:r>
            <a:br/>
            <a:r>
              <a:t>[12] Domain Adaptation for Large Language Models (LLMs) - https://www.aclweb.org/anthology/2020.acl-tutorials.5/</a:t>
            </a:r>
            <a:br/>
            <a:r>
              <a:t>[13] Common Crawl - https://commoncrawl.org/</a:t>
            </a:r>
            <a:br/>
            <a:r>
              <a:t>[14] Continual Learning for Large Language Models (LLMs) - https://arxiv.org/abs/1910.10683</a:t>
            </a:r>
            <a:br/>
            <a:r>
              <a:t>[15] Evaluating the Robustness of Large Language Models (LLMs) - https://arxiv.org/abs/2104.08663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Digital Watermarking Techniques for LLM Content Protection - https://www.sciencedirect.com/science/article/abs/pii/S0957417419300189</a:t>
            </a:r>
            <a:br/>
            <a:r>
              <a:t>[17] Multimodal LLMs for Content Generation: A Comprehensive Overview - https://arxiv.org/abs/2107.13586</a:t>
            </a:r>
            <a:br/>
            <a:r>
              <a:t>[18] Continual Learning for Large Language Models (LLMs) - https://www.ibm.com/cloud/blog/what-is-continual-learning</a:t>
            </a:r>
            <a:br/>
            <a:r>
              <a:t>[19] Domain Adaptation for Large Language Models (LLMs) - https://arxiv.org/abs/2104.07595</a:t>
            </a:r>
            <a:br/>
            <a:r>
              <a:t>[20] Wikipedia Toxicity Dataset: A Benchmark Dataset for LLM-Content Benchmarking - https://www.kaggle.com/c/jigsaw-toxic-comment-classification-challenge</a:t>
            </a:r>
            <a:br/>
            <a:r>
              <a:t>[21] Using Transformers for LLM-Content Detection - https://arxiv.org/pdf/2101.00027.pdf</a:t>
            </a:r>
            <a:br/>
            <a:r>
              <a:t>[22] Secure and Privacy-Preserving Training of Large Language Models - https://arxiv.org/abs/2105.05006</a:t>
            </a:r>
            <a:br/>
            <a:r>
              <a:t>[23] Adversarial Attacks on Language Models for Evading Detection - https://arxiv.org/abs/1902.06705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Secure and Privacy-Preserving Training of Large Language Models - https://arxiv.org/abs/2109.03244</a:t>
            </a:r>
            <a:br/>
            <a:r>
              <a:t>[25] Ethical Considerations in Large Language Model Research: Safeguarding Privacy and Bias Mitigation - https://arxiv.org/abs/2103.12063</a:t>
            </a:r>
            <a:br/>
            <a:r>
              <a:t>[26] Adversarial Attacks on Language Models for Evading Detection - https://arxiv.org/abs/1902.07228</a:t>
            </a:r>
            <a:br/>
            <a:r>
              <a:t>[27] Adversarial Attacks on Language Models for Evading Detection - https://arxiv.org/abs/1902.06705</a:t>
            </a:r>
            <a:br/>
            <a:r>
              <a:t>[28] Strategies for Evading LLM Detectors - https://arxiv.org/abs/2003.10359</a:t>
            </a:r>
            <a:br/>
            <a:r>
              <a:t>[29] Domain Adaptation for Large Language Models (LLMs) - https://arxiv.org/abs/2004.10964</a:t>
            </a:r>
            <a:br/>
            <a:r>
              <a:t>[30] Improving Large Language Models with Semi-Supervised Learning Techniques - https://arxiv.org/abs/2104.08691</a:t>
            </a:r>
            <a:br/>
            <a:r>
              <a:t>[31] BERT for LLM-Content Detection: An Overview - https://arxiv.org/abs/1907.07355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Fine-Tuning Language Models on Benchmark Datasets: Best Practices and Techniques - https://huggingface.co/transformers/training.html</a:t>
            </a:r>
            <a:br/>
            <a:r>
              <a:t>[33] Advantages of Continual Learning for Large Language Models (LLMs) - https://www.example.com/advantages-continual-learning-LLMs</a:t>
            </a:r>
            <a:br/>
            <a:r>
              <a:t>[34] Challenges in Interpreting Language Models - https://arxiv.org/abs/2102.01432</a:t>
            </a:r>
            <a:br/>
            <a:r>
              <a:t>[35] Defense Strategies Against Adversarial Attacks on Language Models - https://arxiv.org/abs/2003.09937</a:t>
            </a:r>
            <a:br/>
            <a:r>
              <a:t>[36] Digital Watermarking Techniques for LLM Content Protection - https://link.springer.com/article/10.1007/s11042-019-8044-3</a:t>
            </a:r>
            <a:br/>
            <a:r>
              <a:t>[37] Improving Large Language Models with Semi-Supervised Learning Techniques - https://arxiv.org/abs/2104.08786</a:t>
            </a:r>
            <a:br/>
            <a:r>
              <a:t>[38] Self-Training for Semi-Supervised Learning of Large Language Models - https://arxiv.org/abs/2006.06882</a:t>
            </a:r>
            <a:br/>
            <a:r>
              <a:t>[39] Watermarking LLM Content: Techniques and Applications - https://www.researchgate.net/publication/352106423_Watermarking_LLM_Content_Techniques_and_Applications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Watermarking LLM Content: Techniques and Applications - https://www.sciencedirect.com/science/article/pii/S0165168417301011</a:t>
            </a:r>
            <a:br/>
            <a:r>
              <a:t>[41] Digital Watermarking Techniques for LLM Content Protection - https://www.sciencedirect.com/science/article/abs/pii/S0164121219300202</a:t>
            </a:r>
            <a:br/>
            <a:r>
              <a:t>[42] Fine-Tuning LLMs on Benchmark Datasets: Best Practices and Techniques - https://arxiv.org/abs/2104.06967</a:t>
            </a:r>
            <a:br/>
            <a:r>
              <a:t>[43] Evaluating the Robustness of Large Language Models (LLMs) - https://arxiv.org/abs/2104.06967</a:t>
            </a:r>
            <a:br/>
            <a:r>
              <a:t>[44] Privacy-Preserving Techniques for LLM Training - https://arxiv.org/abs/2007.11464</a:t>
            </a:r>
            <a:br/>
            <a:r>
              <a:t>[45] Fine-Tuning BERT on GLUE Benchmark Dataset: A Comprehensive Guide - https://medium.com/@jalammar/some-what-recent-papers-on-fine-tuning-bert-and-transformerxl-3d5996bb6b46</a:t>
            </a:r>
            <a:br/>
            <a:r>
              <a:t>[46] Transfer Learning for LLM-Content Detection: A Comprehensive Guide - https://arxiv.org/pdf/2104.07693.pdf</a:t>
            </a:r>
            <a:br/>
            <a:r>
              <a:t>[47] Semi-Supervised Learning for Large Language Models (LLMs) - https://arxiv.org/abs/2104.08821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Domain Adaptation for Large Language Models (LLMs) - https://arxiv.org/abs/2104.07483</a:t>
            </a:r>
            <a:br/>
            <a:r>
              <a:t>[49] Challenges in Continual Learning for Large Language Models (LLMs) - https://arxiv.org/abs/2104.07233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